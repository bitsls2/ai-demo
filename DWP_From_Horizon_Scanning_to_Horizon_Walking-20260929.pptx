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From Horizon Scanning to Horizon Walking
Presenter: Nick
Suggested time: 1 minutes
Open with the title: “I have been horizon scanning; Chris has been horizon walking.” Introduce the session as a joint exploration, with Nick leading and Chris supporting the demonstration. The talk is about public guidance and inspectable workflows, not a deployed DWP service. Presenter titles and affiliations are exactly as supplied; no security classification, official logo, office address or telephone number is included.
Title and framing: presentation-structure.md. Presenter details: explicit user instructions in this conversation. Nick’s background text is a supplied biography, not independently revalidated employment history.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Life is messy. Guidance has to meet that reality.
Presenter: Nick
Suggested time: 2 minutes
Use the human context in the original outline without introducing personal claimant stories. Complicated circumstances make guidance difficult to navigate. The question for the session is whether AI-assisted workflows can help people see the relevant material and its qualifications more clearly. Keep the focus on how decision-makers apply guidance and how business analysts understand a service. Nick can briefly draw on his supplied background in commercial software, architecture and work across engineering, policy and legal colleagues; do not treat the older “About” section as a new claim about his current portfolio.
Source: presentation-structure.md, especially ethos/pathos/logos and the non-coding focus; Nick’s background supplied in the conversation. This is the presenters’ framing, not an empirical claim that every reader has the same experience.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Three ways to make the work inspectable
Presenter: Nick
Suggested time: 2 minutes
Explain the three presentation acts. They organise the supplied captures; they do not rename historical repository “Demo 1” or “Demo 2”. The separate CASA/application concept is not demonstrated here. The session uses public material, and the screenshots are the complete fallback if a live page cannot be reached. Take questions at the end, with short clarification during the demonstrations as needed.
Sources: presentation-structure.md and supplied screenshot pack README/captions. Public-only and no award-calculation boundaries are preserved.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ARC asks: can a system adapt to unfamiliar tasks?
Presenter: Nick
Suggested time: 1.25 minutes
ARC was introduced in 2019 to probe efficient generalisation, not to target a particular OpenAI model. These dated milestones use different tests and configurations. ARC-AGI-2 was already under development before the o3 announcement; ARC-AGI-3 expanded the task into interaction. Avoid narrating the sequence as “they kept moving the goalposts”. The o3 cost qualification is in the appendix. These benchmarks do not validate benefits advice.
SOURCES
ARC1: François Chollet, On the Measure of Intelligence (2019)
https://arxiv.org/abs/1911.01547
O1: ARC Prize: OpenAI o1 results, 13 September 2024
https://arcprize.org/blog/openai-o1-results-arc-prize
O3: ARC Prize: o3-preview, 20 December 2024; costs repriced 10 December 2025
https://arcprize.org/blog/oai-o3-pub-breakthrough
ARC2: ARC Prize: ARC-AGI-2 launch, 24 March 2025
https://arcprize.org/blog/announcing-arc-agi-2-and-arc-prize-2025
ARC3: ARC Prize: ARC-AGI-3 launch, 25 March 2026
https://arcprize.org/blog/arc-agi-3-launch
PRE2: ARC Prize: 2024 winners and technical report, 6 December 2024
https://arcprize.org/blog/arc-prize-2024-winners-technical-report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The surrounding system changes the result
Presenter: Nick
Suggested time: 0.75 minutes
A harness is the software around the model. ARC Prize reports 54.8% with its Standard harness and 99.9% with its Provider Adapter at the same “high” effort setting. The adapter preserves opaque reasoning state and uses compaction. This is a dated, bounded evaluation, not proof of AGI. Our presentation inference is that application design deserves evaluation too. Do not equate the hidden state retained here with the public source evidence in OKF-DWP.
SOURCES
ASTRA: ARC Prize: GPT-6 Astra on ARC-AGI-3, 3 September 2026
https://arcprize.org/blog/astra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New ways to retain understanding and control
Presenter: Nick
Suggested time: 1 minutes
Chollet is describing his own working practice, not a controlled productivity experiment or a guarantee of correct code. He explicitly acknowledges imperfect outputs and imperfect instruction-following. Transfer the workflow idea to guidance: reading help, source navigation, review and challenge. Checking by the same model is not automatically independent assurance. The quotation is taken from the full text supplied by Chris; X retrieval failed during this build. The curly apostrophe on the slide is typographic, not a change of wording.
SOURCES
CHOLLET: François Chollet: post text supplied by Chris; X retrieval unavailable
https://x.com/fchollet/status/2104598248501699067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From documents to evidence people can inspect
Presenter: Nick
Suggested time: 1 minutes
DMG means Decision makers’ guide; ADM means Advice for decision making. The counts describe the captured corpus in the release, not the number of reviewed rules. No usable extracted text is not evidence that the PDF page is blank. Explain the separation between preserved source, extraction, proposed structure and the bounded package supplied for inspection. OKF is a portable knowledge format; the project’s OKF+ profiles and workbench add source-linked requirements, review status and explicit gaps. Do not attribute every project extension to the base OKF specification.
SOURCES
RELEASE: Frozen DWP reading-help release record, 27 September 2026
https://github.com/chris-page-gov/okf-dwp/blob/77ef16047415ee48dcb93b80adf1ba057ea00d9b/docs/reading-help-release-2026-09-27.md
OKF: Open Knowledge Format: official project README and v0.2 specification
https://github.com/GoogleCloudPlatform/open-knowledge-format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Permission-aware AI: architecture and access
Presenter: Nick
Suggested time: 2 minutes
Read the stack bottom to top only briefly. OKF’s conceptual home is layer 2; it supports source selection and provenance at layer 4 and discovery/trust evidence at layer 5. Enforcement remains separate. The bracket spans layers 2–4 and authorisation must be checked at relevant transitions. Discovery metadata can itself be restricted. Output disclosure and actions are separate checks, not substitutes for controlling earlier exposure. Our DWP material is public: the demonstration does not establish that this entire architecture is implemented.
Source: user-supplied 6-layer-okf-20260929.md and metadata JSON. This is a new editable interpretation of the supplied concept, not the original image. Its claimed original-image hash did not match the uploaded PNG; that discrepancy remains recorded in the build notes. No diagram element claims official policy, endorsement or implemented permissions.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Trust meets execution
Presenter: Nick
Suggested time: 1 minutes
This redraw replaces the old assertion that OKF itself restricts what agents are permitted to execute. OKF carries knowledge and provenance; services and runtimes enforce policy. MCP also supports capability and tool discovery, so discovery is not exclusively an OKF function. WebMCP exposes page functionality to agents; it is not evidence that every sidebar can call those tools. The horizontal control band is conceptual, not a claim that one gateway product is installed. Authorisation applies before retrieval and again where needed, not just in a final answer filter.
SOURCES
OKF: Open Knowledge Format: official project README and v0.2 specification
https://github.com/GoogleCloudPlatform/open-knowledge-format
MCP: MCP architecture overview, version 2026-07-28
https://modelcontextprotocol.io/docs/2026-07-28/learn/architecture
WEBMCP: WebMCP: Draft Community Group Report, 28 September 2026
https://webmachinelearning.github.io/webmcp/
Derived from the user-supplied “The Synthesis: Trust meets Execution” image and the newer six-layer notes. Old text about governance, stateless routing and authorisation has been replaced by scoped wording; these are editable native shapes and text. WebMCP source is a Draft Community Group Report, not a W3C Standard.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Start with the source, not the assistant’s answer
Presenter: Nick narrates; Chris may drive the reader
Suggested time: 1.5 minutes
Show the whole six-condition passage for orientation; do not try to read every word from the projection. The source uses abbreviations, numbered conditions, paragraph pointers and raised reference markers, and the notes continue onto page 4. This is the original preserved PDF, not an AI-generated mock-up or evidence that every reader finds it difficult. Move to the enlarged just-in-time help next. The full pages are in the appendix.
CAPTURE EVIDENCE — genuine source pixels, not a new live test
S01-conditions: Actual PDF crop, page 3. Read with the notes and printed references on page 4.
Capture: 2026-09-28T22:24:54.956Z; classification: human inspection of retained original PDF; outcome: captured.
Original: raw/S01-p3.png; original SHA-256: fc6fa8017e8fda02db464002d03418f1d93e1a377e8a847f4cca955c3a3c90af.
Crop: {"x":0,"y":1390,"width":1654,"height":820}.
Source/launch URL: https://assets.publishing.service.gov.uk/media/69e0fdcbb5e95ca5017ed9da/dmg-Chap-60.pdf#page=3
Receipt in supplied pack: receipts/S01.json
S01-notes: Actual PDF crop, page 4. No substantive text has been changed.
Capture: 2026-09-28T22:24:55.280Z; classification: human inspection of retained original PDF; outcome: captured.
Original: raw/S01-p4.png; original SHA-256: a33f7d83d5f013d26f18e3597ce99b7eecb9d807c69be5ce6b7fc50d370eeb05.
Crop: {"x":0,"y":40,"width":1654,"height":300}.
Source/launch URL: https://assets.publishing.service.gov.uk/media/69e0fdcbb5e95ca5017ed9da/dmg-Chap-60.pdf#page=4
Receipt in supplied pack: receipts/S01.json
Live cue: open the source from its link only if useful. Screenshot fallback is complete. No fresh PDF acquisition was performed for this deck.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Help beside the passage — not a substitute for it
Presenter: Nick narrates; Chris supports the demonstration
Suggested time: 1.5 minutes
Point to FTE in the unchanged extracted passage and then the separate card. The card offers “Full-Time Education” with its source scope and candidate status. The selected occurrence can be traced, but the proposed meaning is not thereby a reviewed definition. The visible crop is an excerpt of the passage, not all six conditions. Ask the audience what evidence they would need to accept the expansion in this particular scope.
CAPTURE EVIDENCE — genuine source pixels, not a new live test
S02-condition-focus: Enlarged excerpt of the unchanged passage. Full six-condition passage remains in the raw master.
Capture: 2026-09-28T22:24:57.289Z; classification: source-bound candidate reading help; outcome: captured.
Original: raw/S02.png; original SHA-256: fc961957123dac7eee684f029cbbb2e02f95a62a6458ce6b3a9fb84fcb134eb5.
Crop: {"x":768,"y":4395,"width":2304,"height":305}.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Receipt in supplied pack: receipts/S02.json
S02-help-expansion-focus: Exact help-card excerpt: proposed expansion, scope and unreviewed status preserved.
Capture: 2026-09-28T22:24:57.289Z; classification: source-bound candidate reading help; outcome: captured.
Original: raw/S02.png; original SHA-256: fc961957123dac7eee684f029cbbb2e02f95a62a6458ce6b3a9fb84fcb134eb5.
Crop: {"x":768,"y":6310,"width":2304,"height":420}.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Receipt in supplied pack: receipts/S02.json
S02-occurrence: Enlarged excerpt of the unchanged passage. Full six-condition passage remains in the raw master.
Capture: 2026-09-28T22:24:57.289Z; classification: source-bound candidate reading help; outcome: captured.
Original: raw/S02.png; original SHA-256: fc961957123dac7eee684f029cbbb2e02f95a62a6458ce6b3a9fb84fcb134eb5.
Crop: {"x":768,"y":4350,"width":2304,"height":1240}.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Receipt in supplied pack: receipts/S02.json
S02-help: The native help card says proposed and not reviewed guidance. This is a candidate, not an official interpretation.
Capture: 2026-09-28T22:24:57.289Z; classification: source-bound candidate reading help; outcome: captured.
Original: raw/S02.png; original SHA-256: fc961957123dac7eee684f029cbbb2e02f95a62a6458ce6b3a9fb84fcb134eb5.
Crop: {"x":768,"y":5910,"width":2304,"height":868}.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Receipt in supplied pack: receipts/S02.json
Live cue: select the FTE occurrence in paragraph 60025. Fallback: advance between the paired source and help images already on this slide. Do not remove the candidate warning.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Follow this reference — not just this number
Presenter: Nick narrates; Chris supports the demonstration
Suggested time: 2 minutes
Distinguish the numbered condition, the raised source marker and the printed reference. The system binds the marker to its particular footer occurrence instead of matching every “5”. The separate help card offers a dated navigation target, 20 September 2026. It remains unreviewed navigation. Linking a provision does not itself include its body in the selected evidence or resolve territory, dates, exceptions and applicability. The complete candidate card is retained in the supplied pack; it is not rewritten as official guidance.
CAPTURE EVIDENCE — genuine source pixels, not a new live test
S03-marker-focus: Actual passage crop: condition 5 is not the same thing as source marker 5.
Capture: 2026-09-28T22:29:58.002Z; classification: occurrence-bound citation navigation; outcome: captured.
Original: raw/S03-r1.png; original SHA-256: 752c3435186be58c54ef1bd80ea7a2ae5beca74cb05c96e4a1e854274aeacd75.
Crop: {"x":1030,"y":2070,"width":1510,"height":160}.
Source/launch URL: https://chris-page-gov.github.io/okf-explorer/reading-help/?manifest=https%3A%2F%2Fraw.githubusercontent.com%2Fchris-page-gov%2Fokf-dwp%2F2ad33add6d8660fec98bf34fb98480a9d0de9e27%2Freading-help-ch60-law.json&amp;passage=dmg-60025
Receipt in supplied pack: receipts/S03.json
S03-footer-focus: Actual passage crop: condition 5 is not the same thing as source marker 5.
Capture: 2026-09-28T22:29:58.002Z; classification: occurrence-bound citation navigation; outcome: captured.
Original: raw/S03-r1.png; original SHA-256: 752c3435186be58c54ef1bd80ea7a2ae5beca74cb05c96e4a1e854274aeacd75.
Crop: {"x":1030,"y":3220,"width":1510,"height":180}.
Source/launch URL: https://chris-page-gov.github.io/okf-explorer/reading-help/?manifest=https%3A%2F%2Fraw.githubusercontent.com%2Fchris-page-gov%2Fokf-dwp%2F2ad33add6d8660fec98bf34fb98480a9d0de9e27%2Freading-help-ch60-law.json&amp;passage=dmg-60025
Receipt in supplied pack: receipts/S03.json
S03-paired-reference: Actual passage crop: condition 5 is not the same thing as source marker 5.
Capture: 2026-09-28T22:29:58.002Z; classification: occurrence-bound citation navigation; outcome: captured.
Original: raw/S03-r1.png; original SHA-256: 752c3435186be58c54ef1bd80ea7a2ae5beca74cb05c96e4a1e854274aeacd75.
Crop: {"x":1030,"y":2070,"width":1510,"height":1460}.
Source/launch URL: https://chris-page-gov.github.io/okf-explorer/reading-help/?manifest=https%3A%2F%2Fraw.githubusercontent.com%2Fchris-page-gov%2Fokf-dwp%2F2ad33add6d8660fec98bf34fb98480a9d0de9e27%2Freading-help-ch60-law.json&amp;passage=dmg-60025
Receipt in supplied pack: receipts/S03.json
S03-reference-card: Unreviewed project help. The dated link does not put the statutory text into the evidence package.
Capture: 2026-09-28T22:29:58.002Z; classification: occurrence-bound citation navigation; outcome: captured.
Original: raw/S03-r1.png; original SHA-256: 752c3435186be58c54ef1bd80ea7a2ae5beca74cb05c96e4a1e854274aeacd75.
Crop: {"x":2565,"y":1750,"width":707,"height":1580}.
Source/launch URL: https://chris-page-gov.github.io/okf-explorer/reading-help/?manifest=https%3A%2F%2Fraw.githubusercontent.com%2Fchris-page-gov%2Fokf-dwp%2F2ad33add6d8660fec98bf34fb98480a9d0de9e27%2Freading-help-ch60-law.json&amp;passage=dmg-60025
Receipt in supplied pack: receipts/S03.json
Live cue: follow raised marker 5 and return to its source occurrence. The visible slide is the saved capture of that interaction, not proof of present browser availability.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Two dates. One important missing boundary.
Presenter: Nick
Suggested time: 0.75 minutes
Read the question as supplied, with the two dates unchanged. DLA means Disability Living Allowance; UC means Universal Credit. An assessment period is the monthly window used for UC. Do not fill “Answer 1” with a final award decision. The case does not provide the assessment-period boundaries or establish all the circumstances needed for a legal applicability decision.
SOURCES
UC: Frozen UC out-of-sample follow-up and retained diagnostic
https://github.com/chris-page-gov/okf-dwp/blob/77ef16047415ee48dcb93b80adf1ba057ea00d9b/docs/uc-disabled-child-supersession-follow-up.md
The question is from presentation-structure.md and the retained out-of-sample case. The text is editable. Original-question screenshot: S05-question in the supplied pack, not used as an answer.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The retained retrieval missed the relevant branch
Presenter: Nick narrates; Chris supports the evidence inspection
Suggested time: 1.5 minutes
This screen records what the unchanged source and engine selected in the historical replay. It selected F1123, missed A4361/A4352/F1120 and attached an unrelated Staff 008 requirement. That is a retrieval and task-routing failure, not a measurement of what a reasoning model knows. It is outside the frozen forty cases and was not rerun for these screenshots. The next slide is a deliberate source lookup, not a continuation that magically repairs this result.
CAPTURE EVIDENCE — genuine source pixels, not a new live test
S05b: F1123 selected; A4361/A4352/F1120 missed; unrelated Staff 008 requirement; insufficient.
Capture: 2026-09-28T22:25:01.388Z; classification: fresh capture of retained historical diagnostic; outcome: captured.
Original: raw/S05b.png; original SHA-256: 45611f9876c3e53d519b75046536b82b510239036975f1aefc9facd95b1fea52.
Crop: {"x":1229,"y":2070,"width":2024,"height":1740}.
Source/launch URL: https://github.com/chris-page-gov/okf-dwp/blob/77ef16047415ee48dcb93b80adf1ba057ea00d9b/docs/uc-disabled-child-supersession-follow-up.md
Receipt in supplied pack: receipts/S05.json
SOURCES
UC: Frozen UC out-of-sample follow-up and retained diagnostic
https://github.com/chris-page-gov/okf-dwp/blob/77ef16047415ee48dcb93b80adf1ba057ea00d9b/docs/uc-disabled-child-supersession-follow-up.md
Preserve the failed baseline. Do not present source availability somewhere in the corpus as proof that the needed source reached the model.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Open the missing source — and keep the exception
Presenter: Nick, with Chris supporting source navigation
Suggested time: 2.25 minutes
We are now separately opening the retained source. A4361 describes a UC branch involving entitlement to another relevant benefit or a change in its rate. A4352 explicitly points to A4360–A4361 as an exception to the ordinary late-notification route. Keep the printed citations attached. The repository offers only a conditional reading; the legal bodies and facts were not all verified. The A4361 DLA example is about the carer element, not a determination of this addition. Do not invent assessment-period dates or calculate a payment. Ask: would our evidence package have preserved this exception?
CAPTURE EVIDENCE — genuine source pixels, not a new live test
S06-A4361: Human inspection of retained ADM A4 page 36; historical retrieval did not select this branch.
Capture: 2026-09-28T22:25:01.882Z; classification: human inspection of retained original PDF; outcome: captured.
Original: raw/S06-p36.png; original SHA-256: c2cba838473a83ad6c24de3821c5fe7bbda576a36b9d71ff8c9d05bfcd282ad2.
Crop: {"x":0,"y":675,"width":1654,"height":480}.
Source/launch URL: https://assets.publishing.service.gov.uk/media/6a2172db56e988a798b38645/adm-ch-a4.pdf#page=36
Receipt in supplied pack: receipts/S06.json
S06-A4352: Retained ADM A4 page 34, including “but see A4360 - A4361”. No assessment-period dates are invented.
Capture: 2026-09-28T22:25:02.485Z; classification: human inspection of retained original PDF; outcome: captured.
Original: raw/S06-p34.png; original SHA-256: 074ef150e90484bb28ecb721f967945e5e826a2f06e1cfa64389adab7bb5cb0b.
Crop: {"x":0,"y":1250,"width":1654,"height":705}.
Source/launch URL: https://assets.publishing.service.gov.uk/media/6a2172db56e988a798b38645/adm-ch-a4.pdf#page=34
Receipt in supplied pack: receipts/S06.json
SOURCES
UC: Frozen UC out-of-sample follow-up and retained diagnostic
https://github.com/chris-page-gov/okf-dwp/blob/77ef16047415ee48dcb93b80adf1ba057ea00d9b/docs/uc-disabled-child-supersession-follow-up.md
No new legal conclusion or statutory acquisition was undertaken in deck assembly. The screenshots are of the retained PDFs supplied through the capture pack.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A fresh question can expose a useful evidence path
Presenter: Nick narrates; Chris may operate Ask OKF
Suggested time: 1.5 minutes
Unlike the preceding historical UC diagnostic, this was a fresh deterministic assembly during the capture run. The exact question selected U07 and DMG 84861. The returned package contained 44 records and 68 relationships, used 522,995 bytes and remained insufficient and truncated. This is evidence assembly, not a generated benefits answer. Requested limits were 64 records, 128 relationships, depth six and 524,288 bytes; reached depth was three. The technical capture retry preserved identical package bytes. Do not interpret relevance or record count as completeness.
CAPTURE EVIDENCE — genuine source pixels, not a new live test
S07a-r1: Fresh assembly, not an AI answer. Insufficient and bounded; no claim of legal completeness.
Capture: 2026-09-28T22:30:01.456Z; classification: fresh deterministic evidence assembly; no AI answer; outcome: captured.
Original: raw/S07a-r1.png; original SHA-256: 927634838824911b5b41c5f46d00baea8e528dcbcd21ba7f06c64791431b06bc.
Crop: {"x":1082,"y":314,"width":2227,"height":1640}.
Source/launch URL: https://chris-page-gov.github.io/okf-explorer/explore/?bundle=https%3A%2F%2Fraw.githubusercontent.com%2Fchris-page-gov%2Fokf-dwp%2F7eeded763042ddd0070f4fed834c6074149e8e2f%2Fstructured-context%2Fevidence-connect-explorer.json#overview
Receipt in supplied pack: receipts/S07.json
S07b-r1: DMG 84861 selection is observed now; it does not establish that every exception was retrieved.
Capture: 2026-09-28T22:30:01.754Z; classification: fresh deterministic evidence assembly; no AI answer; outcome: captured.
Original: raw/S07b-r1.png; original SHA-256: d14f2ee56df649203a17404bb3f2feb6da3ccb97e18d3f071cd1756f91c248ee.
Crop: {"x":1082,"y":313,"width":2227,"height":1358}.
Source/launch URL: https://chris-page-gov.github.io/okf-explorer/explore/?bundle=https%3A%2F%2Fraw.githubusercontent.com%2Fchris-page-gov%2Fokf-dwp%2F7eeded763042ddd0070f4fed834c6074149e8e2f%2Fstructured-context%2Fevidence-connect-explorer.json#overview
Receipt in supplied pack: receipts/S07.json
S07c-r1: 32,768-byte delivery parts are separate from the 524,288-byte assembly budget.
Capture: 2026-09-28T22:30:02.036Z; classification: fresh deterministic evidence assembly; no AI answer; outcome: captured.
Original: raw/S07c-r1.png; original SHA-256: 1d4e01f6c7a324a3d813aef9e164d2d4a9682d1e6415e66e0d026d80bdacdf9d.
Crop: {"x":1082,"y":635,"width":2227,"height":1400}.
Source/launch URL: https://chris-page-gov.github.io/okf-explorer/explore/?bundle=https%3A%2F%2Fraw.githubusercontent.com%2Fchris-page-gov%2Fokf-dwp%2F7eeded763042ddd0070f4fed834c6074149e8e2f%2Fstructured-context%2Fevidence-connect-explorer.json#overview
Receipt in supplied pack: receipts/S07.json
Fresh means fresh at the timestamp in the capture receipt, not newly executed while building these slides. Next slide explicitly switches to a different saved package.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Switch to a saved package to inspect provenance
Presenter: Nick narrates; Chris supports workbench inspection
Suggested time: 2 minutes
Announce the change of evidence identity. We are now using a saved forty-question manifest and its staff-006 package. It does not expose the U07/84861 path from the fresh result, so the capture uses DMG 84001 as a capital-related fallback. Show the source URL, PDF locator and source hash. A hash identifies a specific set of bytes; it does not certify interpretation or current legal applicability. The saved package has 30 records and 47 relationships and is still insufficient and truncated. The following relationship and requirement views belong to this saved package.
CAPTURE EVIDENCE — genuine source pixels, not a new live test
S08a: Saved capital-related package; U07/84861 absent here. This is not the fresh S07 result.
Capture: 2026-09-28T22:25:23.899Z; classification: inspection of saved package, not S07 fresh assembly; outcome: fallback.
Original: raw/S08a.png; original SHA-256: 6144bd9ddcb88b1eafd085f169a6a4eaa84179eeceddf86fbb663335bf400747.
Crop: {"x":1290,"y":1772,"width":2509,"height":1556}.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passage
Receipt in supplied pack: receipts/S08.json
S08b: Source PDF locator and recorded capture hash; hashes establish identity, not interpretation.
Capture: 2026-09-28T22:25:24.290Z; classification: inspection of saved package, not S07 fresh assembly; outcome: fallback.
Original: raw/S08b.png; original SHA-256: 95c556c7768d099990213786fb6b78fac7628ffce3da3a7ec99ba0c5a672a5c8.
Crop: {"x":1290,"y":1772,"width":2509,"height":1900}.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source
Receipt in supplied pack: receipts/S08.json
Do not present S07–S09 as one continuous inspection of the same assembled package. That distinction is visible in the slide and in the capture records.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A relationship is not an approved rule
Presenter: Nick
Suggested time: 2 minutes
The displayed row runs from State Pension Credit to Capital, with valuation and disregards still dependencies. It is model-derived. The Requirements view does not make those dependencies disappear: it shows a partial range, unknown dates and missing source references in the returned requirements data. A graph edge is not automatically an approved legal rule. Distinguish the bounded 37 graph rows from all 47 package relationships. The important review question is what evidence would close each gap, not whether a connected graph looks convincing.
CAPTURE EVIDENCE — genuine source pixels, not a new live test
S09-connection: Model-derived connection; valuation and disregards remain dependencies. Saved staff-006 is insufficient.
Capture: 2026-09-28T22:34:57.210Z; classification: inspection of saved package, not S07 fresh assembly; outcome: fallback.
Original: raw/S09-connection.png; original SHA-256: d1ae31e1121b361307e06b2cb29fab64f5ee52fdbec4c56feca7a3ef60ea7c71.
Crop: {"x":1325,"y":14395,"width":2439,"height":229}.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graph
Receipt in supplied pack: receipts/S09.json
S09-requirement: Single native row excerpt. Insufficient; dates unknown; table rows 1–3 of 7 only. See S09b for warnings.
Capture: 2026-09-28T22:48:06.010Z; classification: inspection of saved package, not S07 fresh assembly; outcome: fallback.
Original: raw/S09-requirement.png; original SHA-256: f99983a9ff806a190546b05f2e52fd66022e940543be77e07fcc5e58c522adc9.
Crop: {"x":1325,"y":3811,"width":2439,"height":1189}.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requirements
Receipt in supplied pack: receipts/S09.json
S09b: Missing requirements and omissions remain explicit; read together with the directed connections.
Capture: 2026-09-28T22:25:57.663Z; classification: inspection of saved package, not S07 fresh assembly; outcome: fallback.
Original: raw/S09b.png; original SHA-256: f99983a9ff806a190546b05f2e52fd66022e940543be77e07fcc5e58c522adc9.
Crop: {"x":1290,"y":1772,"width":2509,"height":2040}.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requirements
Receipt in supplied pack: receipts/S09.json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A useful calculation model can still be blocked
Presenter: Nick narrates; Chris supports the saved model inspection
Suggested time: 2 minutes
This screen exposes proposed stages and the evidence requirements that block execution. It is not a calculator. The first three of eighteen rows are shown; fields, applicability and effective dates remain unresolved. The proposal is authored and unreviewed. There are no approved executable rates or an individual award result. This is useful business analysis: the missing contract can be examined before anyone claims the system is ready to calculate. Keep unknown separate from zero, false or an assumed default.
CAPTURE EVIDENCE — genuine source pixels, not a new live test
S10-stages: Enlarged native table. Authored and unreviewed; insufficient; partial. Read with the complete limitations in S10.
Capture: 2026-09-28T22:26:01.910Z; classification: saved package; blocked unreviewed calculation model; outcome: captured.
Original: raw/S10.png; original SHA-256: 179ae352bfc23a1c7e7c8c5b856187605cae1ec86959b3a6bc7bedd98a436e59.
Crop: {"x":1323,"y":3625,"width":2440,"height":880}.
Source/launch URL: 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calculation
Receipt in supplied pack: receipts/S10.json
S10: Unknown scope, inputs and dates do not become zero or false. No award arithmetic.
Capture: 2026-09-28T22:26:01.910Z; classification: saved package; blocked unreviewed calculation model; outcome: captured.
Original: raw/S10.png; original SHA-256: 179ae352bfc23a1c7e7c8c5b856187605cae1ec86959b3a6bc7bedd98a436e59.
Crop: {"x":1290,"y":1772,"width":2509,"height":3129}.
Source/launch URL: 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calculation
Receipt in supplied pack: receipts/S10.json
SOURCES
MODEL: Frozen blocked calculation inspection model
https://github.com/chris-page-gov/okf-dwp/blob/77ef16047415ee48dcb93b80adf1ba057ea00d9b/docs/workbench-model-inspection.md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Whose benefit affects whose?
Presenter: Nick
Suggested time: 2 minutes
Ask “whose benefit affects whose?” before reading the details. The table distinguishes the carer’s own income assessment and additional amount from a possible effect on the cared-for person’s severe-disability amount. Entitlement and payment are not interchangeable. These are directional, qualified and unreviewed source-led proposals; they do not form a symmetric interaction rule. We show three of four rows, with unresolved conditions and dates. Do not reverse an arrow or infer an actual change to someone’s award.
CAPTURE EVIDENCE — genuine source pixels, not a new live test
S11-directions: Enlarged native table; partial and unreviewed. Each row retains its direction and unresolved conditions.
Capture: 2026-09-28T22:26:05.825Z; classification: saved package; source-led directional interaction proposals; outcome: captured.
Original: raw/S11.png; original SHA-256: bcddb784e40e57297fa412c9ffaef0bbdf4b919c0c35906b42ab1f85554b59c3.
Crop: {"x":1323,"y":3210,"width":2440,"height":835}.
Source/launch URL: https://chris-page-gov.github.io/okf-explorer/evidence/?manifest=https%3A%2F%2Fraw.githubusercontent.com%2Fchris-page-gov%2Fokf-dwp%2Fd31f16fb7143d04b9de73e14cd493cfb832ae83e%2Fevaluation%2Fevidence-workbench%2Ftools-manifest.json&amp;case=staff-039&amp;record=https%3A%2F%2Fchris-page-gov.github.io%2Fokf-dwp%2Fid%2Funit%2Fdmg%2Fdmg-vol3-ch15%2Fmanual-structure-v1%2Fsource-0000210821-000-cd55afa87a13&amp;tab=interactions
Receipt in supplied pack: receipts/S11.json
S11: Carer and cared-for person are different. These are unreviewed directional proposals with gaps.
Capture: 2026-09-28T22:26:05.825Z; classification: saved package; source-led directional interaction proposals; outcome: captured.
Original: raw/S11.png; original SHA-256: bcddb784e40e57297fa412c9ffaef0bbdf4b919c0c35906b42ab1f85554b59c3.
Crop: {"x":1290,"y":1834,"width":2509,"height":2665}.
Source/launch URL: https://chris-page-gov.github.io/okf-explorer/evidence/?manifest=https%3A%2F%2Fraw.githubusercontent.com%2Fchris-page-gov%2Fokf-dwp%2Fd31f16fb7143d04b9de73e14cd493cfb832ae83e%2Fevaluation%2Fevidence-workbench%2Ftools-manifest.json&amp;case=staff-039&amp;record=https%3A%2F%2Fchris-page-gov.github.io%2Fokf-dwp%2Fid%2Funit%2Fdmg%2Fdmg-vol3-ch15%2Fmanual-structure-v1%2Fsource-0000210821-000-cd55afa87a13&amp;tab=interactions
Receipt in supplied pack: receipts/S11.json
SOURCES
MODEL: Frozen blocked calculation inspection model
https://github.com/chris-page-gov/okf-dwp/blob/77ef16047415ee48dcb93b80adf1ba057ea00d9b/docs/workbench-model-inspection.md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What is established — and what remains open
Presenter: Nick
Suggested time: 2 minutes
Separate evidence coverage, delivery identity, retrieval quality, interpretation and operational safety. The 27 September release records sixteen public browser checks and forty byte-identical replay packages; the screenshot pack does not rerun those checks. All forty packages remain insufficient. Our newest sidebar follow-up failed twice at the developer connection and did not return staff-039 rows. Earlier reported page-tool use is not a retained raw invocation transcript. Voice is untested. These limitations do not erase the useful manual inspection, but they limit the claims.
SOURCES
RELEASE: Frozen DWP reading-help release record, 27 September 2026
https://github.com/chris-page-gov/okf-dwp/blob/77ef16047415ee48dcb93b80adf1ba057ea00d9b/docs/reading-help-release-2026-09-27.md
Source: supplied archive README, captions, receipts/S12.json and the release record. Detailed sidebar evidence is in appendix slide 28.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Try the public learning route
Presenter: Nick
Suggested time: 2 minutes
Offer one clear next step: open the learning route and inspect a passage, the evidence selected for a question and an unresolved requirement. The page was successfully captured in the supplied run; the link is not a promise of real-time health. The QR code encodes this exact public URL and is also clickable. Close with the central claim: we can make evidence and system behaviour more inspectable while keeping professional judgement and accountability visible. Do not present this as an official DWP service.
CAPTURE EVIDENCE — genuine source pixels, not a new live test
S16: Independent experiment, not an official DWP service or entitlement calculator.
Capture: 2026-09-28T22:26:06.846Z; classification: fresh capture of public learning entry point; outcome: captured.
Original: raw/S16.png; original SHA-256: 822b544b4ca10a10cd350cb49a43e19c33f6e204aded925a4ce23cc6db3c7269.
Crop: {"x":16,"y":156,"width":3808,"height":2120}.
Source/launch URL: https://chris-page-gov.github.io/okf-dwp/docs/learning-path.html
Receipt in supplied pack: receipts/S16.json
SOURCES
DEMO: Public learning route
https://chris-page-gov.github.io/okf-dwp/docs/learning-path.html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Questions — what would you need to trust the next step?
Presenter: Nick leads questions; Chris supports technical detail
Suggested time: 10 minutes
Use this contact slide during discussion. Ask the audience what evidence they would need before a next-stage trial: coverage, exception handling, independent source review, reproducibility or a tested host interaction. Nick remains the lead presenter. Chris’s exact supplied affiliation and role are preserved, with the BDUK email. Phone numbers and office address are intentionally omitted. LinkedIn URLs and all contact lines are editable text and hyperlinks; the QR modules are native editable PowerPoint shapes.
SOURCES
CHRIS: Chris Page on LinkedIn
https://uk.linkedin.com/in/covpages
NICK: Nick Briggs on LinkedIn
https://www.linkedin.com/in/nickbriggsuk/
Nick’s title and email: explicitly supplied by the user. Chris’s display line and email: confirmed in the final brief. Chris’s LinkedIn URL was recovered from prior supplied context and checked via public search on 29 September 2026: https://uk.linkedin.com/in/covpages . No guessed contact information is used.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ARC: keep dataset, configuration and cost together
Presenter: Nick leads; Chris supports the demonstration
Suggested time: Appendix — on request
Use only for benchmark questions. ARC Prize’s o3 page was repriced on 10 December 2025; older official estimates therefore differ. The preview was not the subsequently released production o3. ARC-AGI-2 was discussed publicly on 6 December 2024, before the o3 announcement. The generations address different test designs, so avoid one continuous percentage chart. Source footnotes and the date/configuration labels are part of the claim.
SOURCES
O1: ARC Prize: OpenAI o1 results, 13 September 2024
https://arcprize.org/blog/openai-o1-results-arc-prize
O3: ARC Prize: o3-preview, 20 December 2024; costs repriced 10 December 2025
https://arcprize.org/blog/oai-o3-pub-breakthrough
ARC2: ARC Prize: ARC-AGI-2 launch, 24 March 2025
https://arcprize.org/blog/announcing-arc-agi-2-and-arc-prize-2025
ARC3: ARC Prize: ARC-AGI-3 launch, 25 March 2026
https://arcprize.org/blog/arc-agi-3-launch
PRE2: ARC Prize: 2024 winners and technical report, 6 December 2024
https://arcprize.org/blog/arc-prize-2024-winners-technical-report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Retained source context: DMG 60025
Presenter: Nick leads; Chris supports the demonstration
Suggested time: Appendix — on request
These full-page images are for source context, not for reading every line from the room. Return to slides 10–12 for enlarged details. The original PDF bytes and hash were preserved in the capture process. The links can be used to inspect the corresponding published source, but a current web response is a separate observation.
CAPTURE EVIDENCE — genuine source pixels, not a new live test
S01-p3: Original source typography, conditions and notes — before reading assistance.
Capture: 2026-09-28T22:24:54.956Z; classification: human inspection of retained original PDF; outcome: captured.
Original: raw/S01-p3.png; original SHA-256: fc6fa8017e8fda02db464002d03418f1d93e1a377e8a847f4cca955c3a3c90af.
Crop: {"x":0,"y":0,"width":1654,"height":2339}.
Source/launch URL: https://assets.publishing.service.gov.uk/media/69e0fdcbb5e95ca5017ed9da/dmg-Chap-60.pdf#page=3
Receipt in supplied pack: receipts/S01.json
S01-p4: Original source typography, conditions and notes — before reading assistance.
Capture: 2026-09-28T22:24:55.280Z; classification: human inspection of retained original PDF; outcome: captured.
Original: raw/S01-p4.png; original SHA-256: a33f7d83d5f013d26f18e3597ce99b7eecb9d807c69be5ce6b7fc50d370eeb05.
Crop: {"x":0,"y":0,"width":1654,"height":2339}.
Source/launch URL: https://assets.publishing.service.gov.uk/media/69e0fdcbb5e95ca5017ed9da/dmg-Chap-60.pdf#page=4
Receipt in supplied pack: receipts/S01.json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Fresh assembly and saved inspection are different packages
Presenter: Nick leads; Chris supports the demonstration
Suggested time: Appendix — on request
This comparison is about package identity, not which result is more correct. Fresh S07 was assembled during the capture run and is not byte-identical to the saved staff-006 package. The workbench fallback was explicitly selected because the saved manifest lacked the desired U07/84861 route. The 32 KiB transport part is separate from the 512 KiB assembly budget. Technical delivery cannot recover source text that retrieval never selected.
CAPTURE EVIDENCE — genuine source pixels, not a new live test
S07c-r1: 32,768-byte delivery parts are separate from the 524,288-byte assembly budget.
Capture: 2026-09-28T22:30:02.036Z; classification: fresh deterministic evidence assembly; no AI answer; outcome: captured.
Original: raw/S07c-r1.png; original SHA-256: 1d4e01f6c7a324a3d813aef9e164d2d4a9682d1e6415e66e0d026d80bdacdf9d.
Crop: {"x":1082,"y":635,"width":2227,"height":1400}.
Source/launch URL: https://chris-page-gov.github.io/okf-explorer/explore/?bundle=https%3A%2F%2Fraw.githubusercontent.com%2Fchris-page-gov%2Fokf-dwp%2F7eeded763042ddd0070f4fed834c6074149e8e2f%2Fstructured-context%2Fevidence-connect-explorer.json#overview
Receipt in supplied pack: receipts/S07.json
S08a: Saved capital-related package; U07/84861 absent here. This is not the fresh S07 result.
Capture: 2026-09-28T22:25:23.899Z; classification: inspection of saved package, not S07 fresh assembly; outcome: fallback.
Original: raw/S08a.png; original SHA-256: 6144bd9ddcb88b1eafd085f169a6a4eaa84179eeceddf86fbb663335bf400747.
Crop: {"x":1290,"y":1772,"width":2509,"height":1556}.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passage
Receipt in supplied pack: receipts/S08.json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An extraction gap must remain a visible gap
Presenter: Nick leads; Chris supports the demonstration
Suggested time: Appendix — on request
Use this reserve when discussing completeness. The page has a recorded lack of usable extraction, not a blank-page finding. Do not infer what was on the page from a missing text record. Source fidelity and extraction quality require their own checks; neither the number of documents processed nor the presence of a hash makes the text complete.
CAPTURE EVIDENCE — genuine source pixels, not a new live test
S04: No usable extracted text is not proof that the original page is blank.
Capture: 2026-09-28T22:26:08.409Z; classification: actual machine-extraction gap; outcome: captured.
Original: raw/S04.png; original SHA-256: 1eb23d92d5fdaaedfea8ce5c241846d962a93982ee80528c598e92889718bd32.
Crop: {"x":768,"y":1424,"width":2304,"height":1600}.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adm&amp;document=adm-chapter-a2
Receipt in supplied pack: receipts/S04.json
SOURCES
RELEASE: Frozen DWP reading-help release record, 27 September 2026
https://github.com/chris-page-gov/okf-dwp/blob/77ef16047415ee48dcb93b80adf1ba057ea00d9b/docs/reading-help-release-2026-09-27.md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The sidebar boundary: preserve the failed transition
Presenter: Nick leads; Chris supports the demonstration
Suggested time: Appendix — on request
The newer observation is a failed follow-up, not a success. The owner-approved public-origin access cleared the screenshot controller’s gate, but the sidebar’s developer connection failed twice. Requirements remained displayed and no staff-039 rows returned. An earlier response reports CDP page-tool use; its raw invocation transcript is not retained here. Native registration, CDP access, dedicated WebMCP discovery and actual host invocation are different observations. Do not assert that a single browser setting resolves every failure. All visible privacy redactions were already in the supplied master; no private browser bytes are included.
CAPTURE EVIDENCE — genuine source pixels, not a new live test
S12-failure-2: Real sidebar excerpt: requested transition unverified, no returned Interactions entries, no award calculated.
Capture: 2026-09-28T23:59:14.556Z; classification: real sidebar before/failure evidence; requested tool-led transition blocked; outcome: blocked.
Original: raw/S12-follow-up-2-failure-privacy-redacted.png; original SHA-256: add15d1112f18153826d8e771ef0868129e9e834fb4e44b5250c671f38cc0401.
Crop: {"x":2260,"y":1190,"width":745,"height":445}.
Source/launch URL: 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requirements
Receipt in supplied pack: receipts/S12.json
S12-before-qualifications: Actual Requirements and real sidebar: rows 1–3 of 6, dates unknown, retained projection, insufficient. Not legal assurance.
Capture: 2026-09-28T23:50:26.395Z; classification: real sidebar before/failure evidence; requested tool-led transition blocked; outcome: blocked.
Original: raw/S12-before-qualifications-privacy-redacted.png; original SHA-256: f1c13dcdf95f108e45d2b07ab859737cf4a013ef04d4fb57113e2e7c3084ce12.
Crop: {"x":1428,"y":321,"width":1596,"height":1355}.
Source/launch URL: 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requirements
Receipt in supplied pack: receipts/S12.json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A local review proposal is not specialist acceptance
Presenter: Nick leads; Chris supports the demonstration
Suggested time: Appendix — on request
A review workflow needs somewhere to put suggested changes without silently changing the authoritative source or promoting a proposal to approval. This local export was actually created in the capture run and is marked a non-specialist rehearsal. Nothing was adopted or published. The JSON is in the source screenshot pack; the deck is not a new review decision.
CAPTURE EVIDENCE — genuine source pixels, not a new live test
S13-r1: A rehearsal proposal was exported locally. Nothing was adopted or published.
Capture: 2026-09-28T22:30:03.475Z; classification: inspection of saved package, not S07 fresh assembly; outcome: captured.
Original: raw/S13-r1.png; original SHA-256: 48eb00225865b7c8726dfdec26b29dce2dc0b193b136c3ec97c17f0361729cd8.
Crop: {"x":1290,"y":1772,"width":2509,"height":1556}.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review
Receipt in supplied pack: receipts/S13.json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The reported checks measure technical properties
Presenter: Nick leads; Chris supports the demonstration
Suggested time: Appendix — on request
The figures are the results reported by the release record. They are not fresh browser tests performed during deck assembly. The equal-budget replays preserved all forty packages, which remained insufficient. The claims are technical non-regression and delivery/navigation checks, not answer-quality gains. Earlier failures and unresolved source-review cases remain part of the underlying release evidence. A freshly captured screenshot of a report does not turn the report’s tests into new tests.
CAPTURE EVIDENCE — genuine source pixels, not a new live test
S15a-r1: Dated delivery/navigation/non-regression evidence; not measured improvement in answer accuracy.
Capture: 2026-09-28T22:30:04.949Z; classification: fresh capture of historical release report; outcome: captured.
Original: raw/S15a-r1.png; original SHA-256: 9363036db252e7910e8b02cb86cfb309b0370694ff6ead8a5525393ec765beb8.
Crop: {"x":1229,"y":772,"width":2024,"height":2000}.
Source/launch URL: https://github.com/chris-page-gov/okf-dwp/blob/77ef16047415ee48dcb93b80adf1ba057ea00d9b/docs/reading-help-release-2026-09-27.md
Receipt in supplied pack: receipts/S15.json
S15b-r1: 40/40 identical retained packages; all insufficient. Zero new answer-model calls for that increment.
Capture: 2026-09-28T22:30:05.504Z; classification: fresh capture of historical release report; outcome: captured.
Original: raw/S15b-r1.png; original SHA-256: 84861b636aa0d556cd198a321d4b9a2b298bd187b2bbe8cda0c14daf0134f821.
Crop: {"x":1229,"y":1950,"width":2024,"height":2300}.
Source/launch URL: https://github.com/chris-page-gov/okf-dwp/blob/77ef16047415ee48dcb93b80adf1ba057ea00d9b/docs/reading-help-release-2026-09-27.md
Receipt in supplied pack: receipts/S15.json
SOURCES
RELEASE: Frozen DWP reading-help release record, 27 September 2026
https://github.com/chris-page-gov/okf-dwp/blob/77ef16047415ee48dcb93b80adf1ba057ea00d9b/docs/reading-help-release-2026-09-27.md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A4352: the ordinary rule contains an exception pointer
Presenter: Nick leads; Chris supports the demonstration
Suggested time: Appendix — on request
Full source context for the exception pointer highlighted in the main presentation. The UC line points to A4360–A4361. Keep the conditions and printed citations together. This is separate source inspection, not proof that the historical UC retrieval selected this passage. Return to slide 15; no assessment-period dates or award calculation have been supplied.
CAPTURE EVIDENCE — genuine source pixels, not a new live test
S06-A4352: Retained ADM A4 page 34, including “but see A4360 - A4361”. No assessment-period dates are invented.
Capture: 2026-09-28T22:25:02.485Z; classification: human inspection of retained original PDF; outcome: captured.
Original: raw/S06-p34.png; original SHA-256: 074ef150e90484bb28ecb721f967945e5e826a2f06e1cfa64389adab7bb5cb0b.
Crop: {"x":0,"y":1250,"width":1654,"height":705}.
Source/launch URL: https://assets.publishing.service.gov.uk/media/6a2172db56e988a798b38645/adm-ch-a4.pdf#page=34
Receipt in supplied pack: receipts/S06.json
S06-p34: Separate source inspection: this was not selected by the historical UC retrieval. No award decision.
Capture: 2026-09-28T22:25:02.485Z; classification: human inspection of retained original PDF; outcome: captured.
Original: raw/S06-p34.png; original SHA-256: 074ef150e90484bb28ecb721f967945e5e826a2f06e1cfa64389adab7bb5cb0b.
Crop: {"x":0,"y":0,"width":1654,"height":2339}.
Source/launch URL: https://assets.publishing.service.gov.uk/media/6a2172db56e988a798b38645/adm-ch-a4.pdf#page=34
Receipt in supplied pack: receipts/S06.json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Source map and routes for further inspection
Presenter: Nick leads; Chris supports the demonstration
Suggested time: Appendix — on request
This is a navigation index, not an assertion that every link is live forever or that all evidence is legally complete. DWP links are pinned where available. A pinned data URL does not pin a live Pages application. The original X post was not independently retrievable; its quotation is attributed to Chris’s supplied text. For each screenshot, use the exact capture receipt and raw-image hash in its slide notes. The older synthesis graphic has been substantively redrawn to match the supplied access-enforcement distinction.
SOURCES
ARC1: François Chollet, On the Measure of Intelligence (2019)
https://arxiv.org/abs/1911.01547
O1: ARC Prize: OpenAI o1 results, 13 September 2024
https://arcprize.org/blog/openai-o1-results-arc-prize
O3: ARC Prize: o3-preview, 20 December 2024; costs repriced 10 December 2025
https://arcprize.org/blog/oai-o3-pub-breakthrough
ARC2: ARC Prize: ARC-AGI-2 launch, 24 March 2025
https://arcprize.org/blog/announcing-arc-agi-2-and-arc-prize-2025
PRE2: ARC Prize: 2024 winners and technical report, 6 December 2024
https://arcprize.org/blog/arc-prize-2024-winners-technical-report
ARC3: ARC Prize: ARC-AGI-3 launch, 25 March 2026
https://arcprize.org/blog/arc-agi-3-launch
ASTRA: ARC Prize: GPT-6 Astra on ARC-AGI-3, 3 September 2026
https://arcprize.org/blog/astra
CHOLLET: François Chollet: post text supplied by Chris; X retrieval unavailable
https://x.com/fchollet/status/2104598248501699067
OKF: Open Knowledge Format: official project README and v0.2 specification
https://github.com/GoogleCloudPlatform/open-knowledge-format
MCP: MCP architecture overview, version 2026-07-28
https://modelcontextprotocol.io/docs/2026-07-28/learn/architecture
WEBMCP: WebMCP: Draft Community Group Report, 28 September 2026
https://webmachinelearning.github.io/webmcp/
RELEASE: Frozen DWP reading-help release record, 27 September 2026
https://github.com/chris-page-gov/okf-dwp/blob/77ef16047415ee48dcb93b80adf1ba057ea00d9b/docs/reading-help-release-2026-09-27.md
UC: Frozen UC out-of-sample follow-up and retained diagnostic
https://github.com/chris-page-gov/okf-dwp/blob/77ef16047415ee48dcb93b80adf1ba057ea00d9b/docs/uc-disabled-child-supersession-follow-up.md
WORKBENCH: Frozen workbench handover, 24 September 2026
https://github.com/chris-page-gov/okf-dwp/blob/77ef16047415ee48dcb93b80adf1ba057ea00d9b/docs/evidence-workbench-handover.md
MODEL: Frozen blocked calculation inspection model
https://github.com/chris-page-gov/okf-dwp/blob/77ef16047415ee48dcb93b80adf1ba057ea00d9b/docs/workbench-model-inspection.md
Editable text and shapes. Source screenshots are intentionally images; their content has not been rewritten. Research checks: 29 September 2026. Presentation date: 30 September 2026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911.01547"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cprize.org/blog/astra"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x.com/fchollet/status/2104598248501699067"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chris-page-gov/okf-dwp/blob/77ef16047415ee48dcb93b80adf1ba057ea00d9b/docs/reading-help-release-2026-09-27.md"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modelcontextprotocol.io/docs/2026-07-28/learn/architecture"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assets.publishing.service.gov.uk/media/69e0fdcbb5e95ca5017ed9da/dmg-Chap-60.pdf#page=3"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chris-page-gov.github.io/okf-explorer/reading-help/?manifest=https%3A%2F%2Fraw.githubusercontent.com%2Fchris-page-gov%2Fokf-dwp%2F2ad33add6d8660fec98bf34fb98480a9d0de9e27%2Freading-help-ch60-law.json&amp;passage=dmg-60025"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chris-page-gov/okf-dwp/blob/77ef16047415ee48dcb93b80adf1ba057ea00d9b/docs/uc-disabled-child-supersession-follow-up.md"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chris-page-gov/okf-dwp/blob/77ef16047415ee48dcb93b80adf1ba057ea00d9b/docs/uc-disabled-child-supersession-follow-up.md" TargetMode="Externa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31.xml"/><Relationship Id="rId3" Type="http://schemas.openxmlformats.org/officeDocument/2006/relationships/hyperlink" Target="https://assets.publishing.service.gov.uk/media/6a2172db56e988a798b38645/adm-ch-a4.pdf#page=36" TargetMode="External"/><Relationship Id="rId1" Type="http://schemas.openxmlformats.org/officeDocument/2006/relationships/image" Target="../media/image-15-1.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chris-page-gov.github.io/okf-explorer/explore/?bundle=https%3A%2F%2Fraw.githubusercontent.com%2Fchris-page-gov%2Fokf-dwp%2F7eeded763042ddd0070f4fed834c6074149e8e2f%2Fstructured-context%2Fevidence-connect-explorer.json#overview" TargetMode="Externa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source" TargetMode="External"/><Relationship Id="rId1" Type="http://schemas.openxmlformats.org/officeDocument/2006/relationships/image" Target="../media/image-17-1.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graph" TargetMode="External"/><Relationship Id="rId1" Type="http://schemas.openxmlformats.org/officeDocument/2006/relationships/image" Target="../media/image-18-1.png"/><Relationship Id="rId2" Type="http://schemas.openxmlformats.org/officeDocument/2006/relationships/image" Target="../media/image-18-2.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calculation" TargetMode="External"/><Relationship Id="rId1" Type="http://schemas.openxmlformats.org/officeDocument/2006/relationships/image" Target="../media/image-19-1.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39&amp;record=https%3A%2F%2Fchris-page-gov.github.io%2Fokf-dwp%2Fid%2Funit%2Fdmg%2Fdmg-vol3-ch15%2Fmanual-structure-v1%2Fsource-0000210821-000-cd55afa87a13&amp;tab=interactions" TargetMode="External"/><Relationship Id="rId1"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github.com/chris-page-gov/okf-dwp/blob/77ef16047415ee48dcb93b80adf1ba057ea00d9b/docs/reading-help-release-2026-09-27.md"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chris-page-gov.github.io/okf-dwp/docs/learning-path.html" TargetMode="External"/><Relationship Id="rId3" Type="http://schemas.openxmlformats.org/officeDocument/2006/relationships/hyperlink" Target="https://chris-page-gov.github.io/okf-dwp/docs/learning-path.html" TargetMode="External"/><Relationship Id="rId4" Type="http://schemas.openxmlformats.org/officeDocument/2006/relationships/hyperlink" Target="https://chris-page-gov.github.io/okf-dwp/docs/learning-path.html" TargetMode="External"/><Relationship Id="rId1" Type="http://schemas.openxmlformats.org/officeDocument/2006/relationships/image" Target="../media/image-22-1.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mailto:nick.briggs@engineering.digital.dwp.gov.uk" TargetMode="External"/><Relationship Id="rId2" Type="http://schemas.openxmlformats.org/officeDocument/2006/relationships/hyperlink" Target="https://www.linkedin.com/in/nickbriggsuk/" TargetMode="External"/><Relationship Id="rId3" Type="http://schemas.openxmlformats.org/officeDocument/2006/relationships/hyperlink" Target="https://www.linkedin.com/in/nickbriggsuk/" TargetMode="External"/><Relationship Id="rId4" Type="http://schemas.openxmlformats.org/officeDocument/2006/relationships/hyperlink" Target="mailto:chris.page@bduk.gov.uk" TargetMode="External"/><Relationship Id="rId5" Type="http://schemas.openxmlformats.org/officeDocument/2006/relationships/hyperlink" Target="https://uk.linkedin.com/in/covpages" TargetMode="External"/><Relationship Id="rId6" Type="http://schemas.openxmlformats.org/officeDocument/2006/relationships/hyperlink" Target="https://uk.linkedin.com/in/covpages" TargetMode="External"/><Relationship Id="rId7" Type="http://schemas.openxmlformats.org/officeDocument/2006/relationships/hyperlink" Target="https://uk.linkedin.com/in/covpages" TargetMode="External"/><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rcprize.org/blog/oai-o3-pub-breakthrough" TargetMode="Externa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assets.publishing.service.gov.uk/media/69e0fdcbb5e95ca5017ed9da/dmg-Chap-60.pdf#page=3" TargetMode="External"/><Relationship Id="rId1" Type="http://schemas.openxmlformats.org/officeDocument/2006/relationships/image" Target="../media/image-25-1.png"/><Relationship Id="rId2" Type="http://schemas.openxmlformats.org/officeDocument/2006/relationships/image" Target="../media/image-25-2.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adm&amp;document=adm-chapter-a2" TargetMode="External"/><Relationship Id="rId1" Type="http://schemas.openxmlformats.org/officeDocument/2006/relationships/image" Target="../media/image-27-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review" TargetMode="External"/><Relationship Id="rId1" Type="http://schemas.openxmlformats.org/officeDocument/2006/relationships/image" Target="../media/image-29-1.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github.com/chris-page-gov/okf-dwp/blob/77ef16047415ee48dcb93b80adf1ba057ea00d9b/docs/reading-help-release-2026-09-27.md"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hyperlink" Target="https://assets.publishing.service.gov.uk/media/6a2172db56e988a798b38645/adm-ch-a4.pdf#page=34" TargetMode="External"/><Relationship Id="rId1" Type="http://schemas.openxmlformats.org/officeDocument/2006/relationships/image" Target="../media/image-31-1.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arxiv.org/abs/1911.01547" TargetMode="External"/><Relationship Id="rId2" Type="http://schemas.openxmlformats.org/officeDocument/2006/relationships/hyperlink" Target="https://arcprize.org/blog/oai-o3-pub-breakthrough" TargetMode="External"/><Relationship Id="rId3" Type="http://schemas.openxmlformats.org/officeDocument/2006/relationships/hyperlink" Target="https://arcprize.org/blog/announcing-arc-agi-2-and-arc-prize-2025" TargetMode="External"/><Relationship Id="rId4" Type="http://schemas.openxmlformats.org/officeDocument/2006/relationships/hyperlink" Target="https://arcprize.org/blog/arc-agi-3-launch" TargetMode="External"/><Relationship Id="rId5" Type="http://schemas.openxmlformats.org/officeDocument/2006/relationships/hyperlink" Target="https://arcprize.org/blog/astra" TargetMode="External"/><Relationship Id="rId6" Type="http://schemas.openxmlformats.org/officeDocument/2006/relationships/hyperlink" Target="https://x.com/fchollet/status/2104598248501699067" TargetMode="External"/><Relationship Id="rId7" Type="http://schemas.openxmlformats.org/officeDocument/2006/relationships/hyperlink" Target="https://github.com/GoogleCloudPlatform/open-knowledge-format" TargetMode="External"/><Relationship Id="rId8" Type="http://schemas.openxmlformats.org/officeDocument/2006/relationships/hyperlink" Target="https://modelcontextprotocol.io/docs/2026-07-28/learn/architecture" TargetMode="External"/><Relationship Id="rId9" Type="http://schemas.openxmlformats.org/officeDocument/2006/relationships/hyperlink" Target="https://webmachinelearning.github.io/webmcp/" TargetMode="External"/><Relationship Id="rId10" Type="http://schemas.openxmlformats.org/officeDocument/2006/relationships/hyperlink" Target="https://github.com/chris-page-gov/okf-dwp/blob/77ef16047415ee48dcb93b80adf1ba057ea00d9b/docs/reading-help-release-2026-09-27.md" TargetMode="External"/><Relationship Id="rId11" Type="http://schemas.openxmlformats.org/officeDocument/2006/relationships/hyperlink" Target="https://github.com/chris-page-gov/okf-dwp/blob/77ef16047415ee48dcb93b80adf1ba057ea00d9b/docs/uc-disabled-child-supersession-follow-up.md" TargetMode="External"/><Relationship Id="rId12" Type="http://schemas.openxmlformats.org/officeDocument/2006/relationships/hyperlink" Target="https://github.com/chris-page-gov/okf-dwp/blob/77ef16047415ee48dcb93b80adf1ba057ea00d9b/docs/evidence-workbench-handover.md" TargetMode="External"/><Relationship Id="rId13" Type="http://schemas.openxmlformats.org/officeDocument/2006/relationships/slideLayout" Target="../slideLayouts/slideLayout1.xml"/><Relationship Id="rId1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B46"/>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7ED0D0"/>
                </a:solidFill>
                <a:latin typeface="Arial" pitchFamily="34" charset="0"/>
                <a:ea typeface="Arial" pitchFamily="34" charset="-122"/>
                <a:cs typeface="Arial" pitchFamily="34" charset="-120"/>
              </a:rPr>
              <a:t>NICK BRIGGS  /  DWP</a:t>
            </a:r>
            <a:endParaRPr lang="en-US" sz="1150" dirty="0"/>
          </a:p>
        </p:txBody>
      </p:sp>
      <p:sp>
        <p:nvSpPr>
          <p:cNvPr id="4" name="Shape 2"/>
          <p:cNvSpPr/>
          <p:nvPr/>
        </p:nvSpPr>
        <p:spPr>
          <a:xfrm>
            <a:off x="621792" y="7845552"/>
            <a:ext cx="13368528" cy="0"/>
          </a:xfrm>
          <a:prstGeom prst="line">
            <a:avLst/>
          </a:prstGeom>
          <a:noFill/>
          <a:ln w="8890">
            <a:solidFill>
              <a:srgbClr val="416078"/>
            </a:solidFill>
            <a:prstDash val="solid"/>
          </a:ln>
        </p:spPr>
      </p:sp>
      <p:sp>
        <p:nvSpPr>
          <p:cNvPr id="5" name="Text 3"/>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B7CCD9"/>
                </a:solidFill>
                <a:latin typeface="Arial" pitchFamily="34" charset="0"/>
                <a:ea typeface="Arial" pitchFamily="34" charset="-122"/>
                <a:cs typeface="Arial" pitchFamily="34" charset="-120"/>
              </a:rPr>
              <a:t>Independent experimental demonstration  •  Public sources</a:t>
            </a:r>
            <a:endParaRPr lang="en-US" sz="980" dirty="0"/>
          </a:p>
        </p:txBody>
      </p:sp>
      <p:sp>
        <p:nvSpPr>
          <p:cNvPr id="6" name="Text 4"/>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B7CCD9"/>
                </a:solidFill>
                <a:latin typeface="Arial" pitchFamily="34" charset="0"/>
                <a:ea typeface="Arial" pitchFamily="34" charset="-122"/>
                <a:cs typeface="Arial" pitchFamily="34" charset="-120"/>
              </a:rPr>
              <a:t>Nick Briggs  /  DWP</a:t>
            </a:r>
            <a:endParaRPr lang="en-US" sz="980" dirty="0"/>
          </a:p>
        </p:txBody>
      </p:sp>
      <p:sp>
        <p:nvSpPr>
          <p:cNvPr id="7" name="Text 5"/>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21792" y="941832"/>
            <a:ext cx="12710160" cy="1572768"/>
          </a:xfrm>
          <a:prstGeom prst="rect">
            <a:avLst/>
          </a:prstGeom>
          <a:noFill/>
          <a:ln/>
        </p:spPr>
        <p:txBody>
          <a:bodyPr wrap="square" lIns="0" tIns="0" rIns="0" bIns="0" rtlCol="0" anchor="ctr"/>
          <a:lstStyle/>
          <a:p>
            <a:pPr indent="0" marL="0">
              <a:buNone/>
            </a:pPr>
            <a:r>
              <a:rPr lang="en-US" sz="4900" b="1" dirty="0">
                <a:solidFill>
                  <a:srgbClr val="FFFFFF"/>
                </a:solidFill>
                <a:latin typeface="Arial" pitchFamily="34" charset="0"/>
                <a:ea typeface="Arial" pitchFamily="34" charset="-122"/>
                <a:cs typeface="Arial" pitchFamily="34" charset="-120"/>
              </a:rPr>
              <a:t>From Horizon Scanning</a:t>
            </a:r>
            <a:endParaRPr lang="en-US" sz="4900" dirty="0"/>
          </a:p>
          <a:p>
            <a:pPr indent="0" marL="0">
              <a:buNone/>
            </a:pPr>
            <a:r>
              <a:rPr lang="en-US" sz="4900" b="1" dirty="0">
                <a:solidFill>
                  <a:srgbClr val="FFFFFF"/>
                </a:solidFill>
                <a:latin typeface="Arial" pitchFamily="34" charset="0"/>
                <a:ea typeface="Arial" pitchFamily="34" charset="-122"/>
                <a:cs typeface="Arial" pitchFamily="34" charset="-120"/>
              </a:rPr>
              <a:t>to Horizon Walking</a:t>
            </a:r>
            <a:endParaRPr lang="en-US" sz="4900" dirty="0"/>
          </a:p>
        </p:txBody>
      </p:sp>
      <p:sp>
        <p:nvSpPr>
          <p:cNvPr id="9" name="Text 7"/>
          <p:cNvSpPr/>
          <p:nvPr/>
        </p:nvSpPr>
        <p:spPr>
          <a:xfrm>
            <a:off x="621792" y="2834640"/>
            <a:ext cx="12527280" cy="932688"/>
          </a:xfrm>
          <a:prstGeom prst="rect">
            <a:avLst/>
          </a:prstGeom>
          <a:noFill/>
          <a:ln/>
        </p:spPr>
        <p:txBody>
          <a:bodyPr wrap="square" lIns="0" tIns="0" rIns="0" bIns="0" rtlCol="0" anchor="ctr"/>
          <a:lstStyle/>
          <a:p>
            <a:pPr indent="0" marL="0">
              <a:buNone/>
            </a:pPr>
            <a:r>
              <a:rPr lang="en-US" sz="2800" dirty="0">
                <a:solidFill>
                  <a:srgbClr val="C3D8E4"/>
                </a:solidFill>
                <a:latin typeface="Arial" pitchFamily="34" charset="0"/>
                <a:ea typeface="Arial" pitchFamily="34" charset="-122"/>
                <a:cs typeface="Arial" pitchFamily="34" charset="-120"/>
              </a:rPr>
              <a:t>Making public DWP guidance easier to read,</a:t>
            </a:r>
            <a:endParaRPr lang="en-US" sz="2800" dirty="0"/>
          </a:p>
          <a:p>
            <a:pPr indent="0" marL="0">
              <a:buNone/>
            </a:pPr>
            <a:r>
              <a:rPr lang="en-US" sz="2800" dirty="0">
                <a:solidFill>
                  <a:srgbClr val="C3D8E4"/>
                </a:solidFill>
                <a:latin typeface="Arial" pitchFamily="34" charset="0"/>
                <a:ea typeface="Arial" pitchFamily="34" charset="-122"/>
                <a:cs typeface="Arial" pitchFamily="34" charset="-120"/>
              </a:rPr>
              <a:t>investigate and challenge</a:t>
            </a:r>
            <a:endParaRPr lang="en-US" sz="2800" dirty="0"/>
          </a:p>
        </p:txBody>
      </p:sp>
      <p:sp>
        <p:nvSpPr>
          <p:cNvPr id="10" name="Shape 8"/>
          <p:cNvSpPr/>
          <p:nvPr/>
        </p:nvSpPr>
        <p:spPr>
          <a:xfrm>
            <a:off x="621792" y="4233672"/>
            <a:ext cx="13322808" cy="0"/>
          </a:xfrm>
          <a:prstGeom prst="line">
            <a:avLst/>
          </a:prstGeom>
          <a:noFill/>
          <a:ln w="12700">
            <a:solidFill>
              <a:srgbClr val="416078"/>
            </a:solidFill>
            <a:prstDash val="solid"/>
          </a:ln>
        </p:spPr>
      </p:sp>
      <p:sp>
        <p:nvSpPr>
          <p:cNvPr id="11" name="Text 9"/>
          <p:cNvSpPr/>
          <p:nvPr/>
        </p:nvSpPr>
        <p:spPr>
          <a:xfrm>
            <a:off x="621792" y="4608576"/>
            <a:ext cx="8595360" cy="576072"/>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Nick Briggs</a:t>
            </a:r>
            <a:endParaRPr lang="en-US" sz="3400" dirty="0"/>
          </a:p>
        </p:txBody>
      </p:sp>
      <p:sp>
        <p:nvSpPr>
          <p:cNvPr id="12" name="Text 10"/>
          <p:cNvSpPr/>
          <p:nvPr/>
        </p:nvSpPr>
        <p:spPr>
          <a:xfrm>
            <a:off x="621792" y="5340096"/>
            <a:ext cx="8595360" cy="347472"/>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Lead Technical Architect (Citizen Information)</a:t>
            </a:r>
            <a:endParaRPr lang="en-US" sz="2200" dirty="0"/>
          </a:p>
        </p:txBody>
      </p:sp>
      <p:sp>
        <p:nvSpPr>
          <p:cNvPr id="13" name="Text 11"/>
          <p:cNvSpPr/>
          <p:nvPr/>
        </p:nvSpPr>
        <p:spPr>
          <a:xfrm>
            <a:off x="621792" y="5806440"/>
            <a:ext cx="8595360" cy="301752"/>
          </a:xfrm>
          <a:prstGeom prst="rect">
            <a:avLst/>
          </a:prstGeom>
          <a:noFill/>
          <a:ln/>
        </p:spPr>
        <p:txBody>
          <a:bodyPr wrap="square" lIns="0" tIns="0" rIns="0" bIns="0" rtlCol="0" anchor="ctr"/>
          <a:lstStyle/>
          <a:p>
            <a:pPr indent="0" marL="0">
              <a:buNone/>
            </a:pPr>
            <a:r>
              <a:rPr lang="en-US" sz="2100" dirty="0">
                <a:solidFill>
                  <a:srgbClr val="C3D8E4"/>
                </a:solidFill>
                <a:latin typeface="Arial" pitchFamily="34" charset="0"/>
                <a:ea typeface="Arial" pitchFamily="34" charset="-122"/>
                <a:cs typeface="Arial" pitchFamily="34" charset="-120"/>
              </a:rPr>
              <a:t>Department for Work and Pensions (DWP)</a:t>
            </a:r>
            <a:endParaRPr lang="en-US" sz="2100" dirty="0"/>
          </a:p>
        </p:txBody>
      </p:sp>
      <p:sp>
        <p:nvSpPr>
          <p:cNvPr id="14" name="Text 12"/>
          <p:cNvSpPr/>
          <p:nvPr/>
        </p:nvSpPr>
        <p:spPr>
          <a:xfrm>
            <a:off x="621792" y="6208776"/>
            <a:ext cx="8595360" cy="283464"/>
          </a:xfrm>
          <a:prstGeom prst="rect">
            <a:avLst/>
          </a:prstGeom>
          <a:noFill/>
          <a:ln/>
        </p:spPr>
        <p:txBody>
          <a:bodyPr wrap="square" lIns="0" tIns="0" rIns="0" bIns="0" rtlCol="0" anchor="ctr"/>
          <a:lstStyle/>
          <a:p>
            <a:pPr indent="0" marL="0">
              <a:buNone/>
            </a:pPr>
            <a:r>
              <a:rPr lang="en-US" sz="1900" dirty="0">
                <a:solidFill>
                  <a:srgbClr val="C3D8E4"/>
                </a:solidFill>
                <a:latin typeface="Arial" pitchFamily="34" charset="0"/>
                <a:ea typeface="Arial" pitchFamily="34" charset="-122"/>
                <a:cs typeface="Arial" pitchFamily="34" charset="-120"/>
              </a:rPr>
              <a:t>Digital and Transformation Group</a:t>
            </a:r>
            <a:endParaRPr lang="en-US" sz="1900" dirty="0"/>
          </a:p>
        </p:txBody>
      </p:sp>
      <p:sp>
        <p:nvSpPr>
          <p:cNvPr id="15" name="Text 13"/>
          <p:cNvSpPr/>
          <p:nvPr/>
        </p:nvSpPr>
        <p:spPr>
          <a:xfrm>
            <a:off x="10195560" y="4590288"/>
            <a:ext cx="3749040" cy="246888"/>
          </a:xfrm>
          <a:prstGeom prst="rect">
            <a:avLst/>
          </a:prstGeom>
          <a:noFill/>
          <a:ln/>
        </p:spPr>
        <p:txBody>
          <a:bodyPr wrap="square" lIns="0" tIns="0" rIns="0" bIns="0" rtlCol="0" anchor="ctr"/>
          <a:lstStyle/>
          <a:p>
            <a:pPr indent="0" marL="0">
              <a:buNone/>
            </a:pPr>
            <a:r>
              <a:rPr lang="en-US" sz="1200" b="1" dirty="0">
                <a:solidFill>
                  <a:srgbClr val="7ED0D0"/>
                </a:solidFill>
                <a:latin typeface="Arial" pitchFamily="34" charset="0"/>
                <a:ea typeface="Arial" pitchFamily="34" charset="-122"/>
                <a:cs typeface="Arial" pitchFamily="34" charset="-120"/>
              </a:rPr>
              <a:t>Supporting</a:t>
            </a:r>
            <a:endParaRPr lang="en-US" sz="1200" dirty="0"/>
          </a:p>
        </p:txBody>
      </p:sp>
      <p:sp>
        <p:nvSpPr>
          <p:cNvPr id="16" name="Text 14"/>
          <p:cNvSpPr/>
          <p:nvPr/>
        </p:nvSpPr>
        <p:spPr>
          <a:xfrm>
            <a:off x="10195560" y="4992624"/>
            <a:ext cx="3749040" cy="374904"/>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Chris Page</a:t>
            </a:r>
            <a:endParaRPr lang="en-US" sz="2300" dirty="0"/>
          </a:p>
        </p:txBody>
      </p:sp>
      <p:sp>
        <p:nvSpPr>
          <p:cNvPr id="17" name="Text 15"/>
          <p:cNvSpPr/>
          <p:nvPr/>
        </p:nvSpPr>
        <p:spPr>
          <a:xfrm>
            <a:off x="10195560" y="5522976"/>
            <a:ext cx="3749040" cy="566928"/>
          </a:xfrm>
          <a:prstGeom prst="rect">
            <a:avLst/>
          </a:prstGeom>
          <a:noFill/>
          <a:ln/>
        </p:spPr>
        <p:txBody>
          <a:bodyPr wrap="square" lIns="0" tIns="0" rIns="0" bIns="0" rtlCol="0" anchor="ctr"/>
          <a:lstStyle/>
          <a:p>
            <a:pPr indent="0" marL="0">
              <a:buNone/>
            </a:pPr>
            <a:r>
              <a:rPr lang="en-US" sz="1700" dirty="0">
                <a:solidFill>
                  <a:srgbClr val="C3D8E4"/>
                </a:solidFill>
                <a:latin typeface="Arial" pitchFamily="34" charset="0"/>
                <a:ea typeface="Arial" pitchFamily="34" charset="-122"/>
                <a:cs typeface="Arial" pitchFamily="34" charset="-120"/>
              </a:rPr>
              <a:t>DCMS (BDUK) + Warwickshire CC</a:t>
            </a:r>
            <a:endParaRPr lang="en-US" sz="1700" dirty="0"/>
          </a:p>
        </p:txBody>
      </p:sp>
      <p:sp>
        <p:nvSpPr>
          <p:cNvPr id="18" name="Text 16"/>
          <p:cNvSpPr/>
          <p:nvPr/>
        </p:nvSpPr>
        <p:spPr>
          <a:xfrm>
            <a:off x="10195560" y="6245352"/>
            <a:ext cx="3749040" cy="310896"/>
          </a:xfrm>
          <a:prstGeom prst="rect">
            <a:avLst/>
          </a:prstGeom>
          <a:noFill/>
          <a:ln/>
        </p:spPr>
        <p:txBody>
          <a:bodyPr wrap="square" lIns="0" tIns="0" rIns="0" bIns="0" rtlCol="0" anchor="ctr"/>
          <a:lstStyle/>
          <a:p>
            <a:pPr indent="0" marL="0">
              <a:buNone/>
            </a:pPr>
            <a:r>
              <a:rPr lang="en-US" sz="1800" dirty="0">
                <a:solidFill>
                  <a:srgbClr val="C3D8E4"/>
                </a:solidFill>
                <a:latin typeface="Arial" pitchFamily="34" charset="0"/>
                <a:ea typeface="Arial" pitchFamily="34" charset="-122"/>
                <a:cs typeface="Arial" pitchFamily="34" charset="-120"/>
              </a:rPr>
              <a:t>AI Research Engineer</a:t>
            </a:r>
            <a:endParaRPr lang="en-US" sz="1800" dirty="0"/>
          </a:p>
        </p:txBody>
      </p:sp>
      <p:sp>
        <p:nvSpPr>
          <p:cNvPr id="19" name="Text 17"/>
          <p:cNvSpPr/>
          <p:nvPr/>
        </p:nvSpPr>
        <p:spPr>
          <a:xfrm>
            <a:off x="621792" y="7040880"/>
            <a:ext cx="5486400" cy="274320"/>
          </a:xfrm>
          <a:prstGeom prst="rect">
            <a:avLst/>
          </a:prstGeom>
          <a:noFill/>
          <a:ln/>
        </p:spPr>
        <p:txBody>
          <a:bodyPr wrap="square" lIns="0" tIns="0" rIns="0" bIns="0" rtlCol="0" anchor="ctr"/>
          <a:lstStyle/>
          <a:p>
            <a:pPr indent="0" marL="0">
              <a:buNone/>
            </a:pPr>
            <a:r>
              <a:rPr lang="en-US" sz="1500" dirty="0">
                <a:solidFill>
                  <a:srgbClr val="B7CCD9"/>
                </a:solidFill>
                <a:latin typeface="Arial" pitchFamily="34" charset="0"/>
                <a:ea typeface="Arial" pitchFamily="34" charset="-122"/>
                <a:cs typeface="Arial" pitchFamily="34" charset="-120"/>
              </a:rPr>
              <a:t>30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WHY THIS MATTERS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Life is messy. Guidance has to meet that reality.</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Why this matters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02</a:t>
            </a:r>
            <a:endParaRPr lang="en-US" sz="1100" dirty="0"/>
          </a:p>
        </p:txBody>
      </p:sp>
      <p:sp>
        <p:nvSpPr>
          <p:cNvPr id="9" name="Text 7"/>
          <p:cNvSpPr/>
          <p:nvPr/>
        </p:nvSpPr>
        <p:spPr>
          <a:xfrm>
            <a:off x="621792" y="1737360"/>
            <a:ext cx="13258800" cy="640080"/>
          </a:xfrm>
          <a:prstGeom prst="rect">
            <a:avLst/>
          </a:prstGeom>
          <a:noFill/>
          <a:ln/>
        </p:spPr>
        <p:txBody>
          <a:bodyPr wrap="square" lIns="0" tIns="0" rIns="0" bIns="0" rtlCol="0" anchor="ctr"/>
          <a:lstStyle/>
          <a:p>
            <a:pPr indent="0" marL="0">
              <a:buNone/>
            </a:pPr>
            <a:r>
              <a:rPr lang="en-US" sz="3400" b="1" dirty="0">
                <a:solidFill>
                  <a:srgbClr val="102B46"/>
                </a:solidFill>
                <a:latin typeface="Arial" pitchFamily="34" charset="0"/>
                <a:ea typeface="Arial" pitchFamily="34" charset="-122"/>
                <a:cs typeface="Arial" pitchFamily="34" charset="-120"/>
              </a:rPr>
              <a:t>Health. Income. Home. Relationships.</a:t>
            </a:r>
            <a:endParaRPr lang="en-US" sz="3400" dirty="0"/>
          </a:p>
        </p:txBody>
      </p:sp>
      <p:sp>
        <p:nvSpPr>
          <p:cNvPr id="10" name="Shape 8"/>
          <p:cNvSpPr/>
          <p:nvPr/>
        </p:nvSpPr>
        <p:spPr>
          <a:xfrm>
            <a:off x="621792" y="2743200"/>
            <a:ext cx="3182112" cy="1124712"/>
          </a:xfrm>
          <a:prstGeom prst="rect">
            <a:avLst>
              <a:gd name="adj" fmla="val 9756"/>
            </a:avLst>
          </a:prstGeom>
          <a:solidFill>
            <a:srgbClr val="E5F4F2"/>
          </a:solidFill>
          <a:ln w="12700">
            <a:solidFill>
              <a:srgbClr val="E5F4F2"/>
            </a:solidFill>
            <a:prstDash val="solid"/>
          </a:ln>
        </p:spPr>
      </p:sp>
      <p:sp>
        <p:nvSpPr>
          <p:cNvPr id="11" name="Text 9"/>
          <p:cNvSpPr/>
          <p:nvPr/>
        </p:nvSpPr>
        <p:spPr>
          <a:xfrm>
            <a:off x="822960" y="3072384"/>
            <a:ext cx="2761488" cy="411480"/>
          </a:xfrm>
          <a:prstGeom prst="rect">
            <a:avLst/>
          </a:prstGeom>
          <a:noFill/>
          <a:ln/>
        </p:spPr>
        <p:txBody>
          <a:bodyPr wrap="square" lIns="0" tIns="0" rIns="0" bIns="0" rtlCol="0" anchor="ctr"/>
          <a:lstStyle/>
          <a:p>
            <a:pPr indent="0" marL="0">
              <a:buNone/>
            </a:pPr>
            <a:r>
              <a:rPr lang="en-US" sz="2500" b="1" dirty="0">
                <a:solidFill>
                  <a:srgbClr val="087E87"/>
                </a:solidFill>
                <a:latin typeface="Arial" pitchFamily="34" charset="0"/>
                <a:ea typeface="Arial" pitchFamily="34" charset="-122"/>
                <a:cs typeface="Arial" pitchFamily="34" charset="-120"/>
              </a:rPr>
              <a:t>Health</a:t>
            </a:r>
            <a:endParaRPr lang="en-US" sz="2500" dirty="0"/>
          </a:p>
        </p:txBody>
      </p:sp>
      <p:sp>
        <p:nvSpPr>
          <p:cNvPr id="12" name="Shape 10"/>
          <p:cNvSpPr/>
          <p:nvPr/>
        </p:nvSpPr>
        <p:spPr>
          <a:xfrm>
            <a:off x="4041648" y="2743200"/>
            <a:ext cx="3182112" cy="1124712"/>
          </a:xfrm>
          <a:prstGeom prst="rect">
            <a:avLst>
              <a:gd name="adj" fmla="val 9756"/>
            </a:avLst>
          </a:prstGeom>
          <a:solidFill>
            <a:srgbClr val="E7F2FA"/>
          </a:solidFill>
          <a:ln w="12700">
            <a:solidFill>
              <a:srgbClr val="E7F2FA"/>
            </a:solidFill>
            <a:prstDash val="solid"/>
          </a:ln>
        </p:spPr>
      </p:sp>
      <p:sp>
        <p:nvSpPr>
          <p:cNvPr id="13" name="Text 11"/>
          <p:cNvSpPr/>
          <p:nvPr/>
        </p:nvSpPr>
        <p:spPr>
          <a:xfrm>
            <a:off x="4242816" y="3072384"/>
            <a:ext cx="2761488" cy="411480"/>
          </a:xfrm>
          <a:prstGeom prst="rect">
            <a:avLst/>
          </a:prstGeom>
          <a:noFill/>
          <a:ln/>
        </p:spPr>
        <p:txBody>
          <a:bodyPr wrap="square" lIns="0" tIns="0" rIns="0" bIns="0" rtlCol="0" anchor="ctr"/>
          <a:lstStyle/>
          <a:p>
            <a:pPr indent="0" marL="0">
              <a:buNone/>
            </a:pPr>
            <a:r>
              <a:rPr lang="en-US" sz="2500" b="1" dirty="0">
                <a:solidFill>
                  <a:srgbClr val="145F96"/>
                </a:solidFill>
                <a:latin typeface="Arial" pitchFamily="34" charset="0"/>
                <a:ea typeface="Arial" pitchFamily="34" charset="-122"/>
                <a:cs typeface="Arial" pitchFamily="34" charset="-120"/>
              </a:rPr>
              <a:t>Income</a:t>
            </a:r>
            <a:endParaRPr lang="en-US" sz="2500" dirty="0"/>
          </a:p>
        </p:txBody>
      </p:sp>
      <p:sp>
        <p:nvSpPr>
          <p:cNvPr id="14" name="Shape 12"/>
          <p:cNvSpPr/>
          <p:nvPr/>
        </p:nvSpPr>
        <p:spPr>
          <a:xfrm>
            <a:off x="7461504" y="2743200"/>
            <a:ext cx="3182112" cy="1124712"/>
          </a:xfrm>
          <a:prstGeom prst="rect">
            <a:avLst>
              <a:gd name="adj" fmla="val 9756"/>
            </a:avLst>
          </a:prstGeom>
          <a:solidFill>
            <a:srgbClr val="EDF3F7"/>
          </a:solidFill>
          <a:ln w="12700">
            <a:solidFill>
              <a:srgbClr val="EDF3F7"/>
            </a:solidFill>
            <a:prstDash val="solid"/>
          </a:ln>
        </p:spPr>
      </p:sp>
      <p:sp>
        <p:nvSpPr>
          <p:cNvPr id="15" name="Text 13"/>
          <p:cNvSpPr/>
          <p:nvPr/>
        </p:nvSpPr>
        <p:spPr>
          <a:xfrm>
            <a:off x="7662672" y="3072384"/>
            <a:ext cx="2761488" cy="411480"/>
          </a:xfrm>
          <a:prstGeom prst="rect">
            <a:avLst/>
          </a:prstGeom>
          <a:noFill/>
          <a:ln/>
        </p:spPr>
        <p:txBody>
          <a:bodyPr wrap="square" lIns="0" tIns="0" rIns="0" bIns="0" rtlCol="0" anchor="ctr"/>
          <a:lstStyle/>
          <a:p>
            <a:pPr indent="0" marL="0">
              <a:buNone/>
            </a:pPr>
            <a:r>
              <a:rPr lang="en-US" sz="2500" b="1" dirty="0">
                <a:solidFill>
                  <a:srgbClr val="536C83"/>
                </a:solidFill>
                <a:latin typeface="Arial" pitchFamily="34" charset="0"/>
                <a:ea typeface="Arial" pitchFamily="34" charset="-122"/>
                <a:cs typeface="Arial" pitchFamily="34" charset="-120"/>
              </a:rPr>
              <a:t>Home</a:t>
            </a:r>
            <a:endParaRPr lang="en-US" sz="2500" dirty="0"/>
          </a:p>
        </p:txBody>
      </p:sp>
      <p:sp>
        <p:nvSpPr>
          <p:cNvPr id="16" name="Shape 14"/>
          <p:cNvSpPr/>
          <p:nvPr/>
        </p:nvSpPr>
        <p:spPr>
          <a:xfrm>
            <a:off x="10881360" y="2743200"/>
            <a:ext cx="3182112" cy="1124712"/>
          </a:xfrm>
          <a:prstGeom prst="rect">
            <a:avLst>
              <a:gd name="adj" fmla="val 9756"/>
            </a:avLst>
          </a:prstGeom>
          <a:solidFill>
            <a:srgbClr val="E5F4F2"/>
          </a:solidFill>
          <a:ln w="12700">
            <a:solidFill>
              <a:srgbClr val="E5F4F2"/>
            </a:solidFill>
            <a:prstDash val="solid"/>
          </a:ln>
        </p:spPr>
      </p:sp>
      <p:sp>
        <p:nvSpPr>
          <p:cNvPr id="17" name="Text 15"/>
          <p:cNvSpPr/>
          <p:nvPr/>
        </p:nvSpPr>
        <p:spPr>
          <a:xfrm>
            <a:off x="11082528" y="3072384"/>
            <a:ext cx="2761488" cy="411480"/>
          </a:xfrm>
          <a:prstGeom prst="rect">
            <a:avLst/>
          </a:prstGeom>
          <a:noFill/>
          <a:ln/>
        </p:spPr>
        <p:txBody>
          <a:bodyPr wrap="square" lIns="0" tIns="0" rIns="0" bIns="0" rtlCol="0" anchor="ctr"/>
          <a:lstStyle/>
          <a:p>
            <a:pPr indent="0" marL="0">
              <a:buNone/>
            </a:pPr>
            <a:r>
              <a:rPr lang="en-US" sz="2500" b="1" dirty="0">
                <a:solidFill>
                  <a:srgbClr val="087E87"/>
                </a:solidFill>
                <a:latin typeface="Arial" pitchFamily="34" charset="0"/>
                <a:ea typeface="Arial" pitchFamily="34" charset="-122"/>
                <a:cs typeface="Arial" pitchFamily="34" charset="-120"/>
              </a:rPr>
              <a:t>Relationships</a:t>
            </a:r>
            <a:endParaRPr lang="en-US" sz="2500" dirty="0"/>
          </a:p>
        </p:txBody>
      </p:sp>
      <p:sp>
        <p:nvSpPr>
          <p:cNvPr id="18" name="Text 16"/>
          <p:cNvSpPr/>
          <p:nvPr/>
        </p:nvSpPr>
        <p:spPr>
          <a:xfrm>
            <a:off x="621792" y="4443984"/>
            <a:ext cx="13258800" cy="310896"/>
          </a:xfrm>
          <a:prstGeom prst="rect">
            <a:avLst/>
          </a:prstGeom>
          <a:noFill/>
          <a:ln/>
        </p:spPr>
        <p:txBody>
          <a:bodyPr wrap="square" lIns="0" tIns="0" rIns="0" bIns="0" rtlCol="0" anchor="ctr"/>
          <a:lstStyle/>
          <a:p>
            <a:pPr indent="0" marL="0">
              <a:buNone/>
            </a:pPr>
            <a:r>
              <a:rPr lang="en-US" sz="1400" b="1" dirty="0">
                <a:solidFill>
                  <a:srgbClr val="087E87"/>
                </a:solidFill>
                <a:latin typeface="Arial" pitchFamily="34" charset="0"/>
                <a:ea typeface="Arial" pitchFamily="34" charset="-122"/>
                <a:cs typeface="Arial" pitchFamily="34" charset="-120"/>
              </a:rPr>
              <a:t>The practical question</a:t>
            </a:r>
            <a:endParaRPr lang="en-US" sz="1400" dirty="0"/>
          </a:p>
        </p:txBody>
      </p:sp>
      <p:sp>
        <p:nvSpPr>
          <p:cNvPr id="19" name="Text 17"/>
          <p:cNvSpPr/>
          <p:nvPr/>
        </p:nvSpPr>
        <p:spPr>
          <a:xfrm>
            <a:off x="621792" y="4956048"/>
            <a:ext cx="13213080" cy="1280160"/>
          </a:xfrm>
          <a:prstGeom prst="rect">
            <a:avLst/>
          </a:prstGeom>
          <a:noFill/>
          <a:ln/>
        </p:spPr>
        <p:txBody>
          <a:bodyPr wrap="square" lIns="0" tIns="0" rIns="0" bIns="0" rtlCol="0" anchor="ctr"/>
          <a:lstStyle/>
          <a:p>
            <a:pPr indent="0" marL="0">
              <a:buNone/>
            </a:pPr>
            <a:r>
              <a:rPr lang="en-US" sz="3500" b="1" dirty="0">
                <a:solidFill>
                  <a:srgbClr val="102B46"/>
                </a:solidFill>
                <a:latin typeface="Arial" pitchFamily="34" charset="0"/>
                <a:ea typeface="Arial" pitchFamily="34" charset="-122"/>
                <a:cs typeface="Arial" pitchFamily="34" charset="-120"/>
              </a:rPr>
              <a:t>Can we make the guidance easier to inspect</a:t>
            </a:r>
            <a:endParaRPr lang="en-US" sz="3500" dirty="0"/>
          </a:p>
          <a:p>
            <a:pPr indent="0" marL="0">
              <a:buNone/>
            </a:pPr>
            <a:r>
              <a:rPr lang="en-US" sz="3500" b="1" dirty="0">
                <a:solidFill>
                  <a:srgbClr val="102B46"/>
                </a:solidFill>
                <a:latin typeface="Arial" pitchFamily="34" charset="0"/>
                <a:ea typeface="Arial" pitchFamily="34" charset="-122"/>
                <a:cs typeface="Arial" pitchFamily="34" charset="-120"/>
              </a:rPr>
              <a:t>without hiding its conditions and exceptions?</a:t>
            </a:r>
            <a:endParaRPr lang="en-US" sz="3500" dirty="0"/>
          </a:p>
        </p:txBody>
      </p:sp>
      <p:sp>
        <p:nvSpPr>
          <p:cNvPr id="20" name="Text 18"/>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dirty="0">
                <a:solidFill>
                  <a:srgbClr val="536777"/>
                </a:solidFill>
                <a:latin typeface="Arial" pitchFamily="34" charset="0"/>
                <a:ea typeface="Arial" pitchFamily="34" charset="-122"/>
                <a:cs typeface="Arial" pitchFamily="34" charset="-120"/>
              </a:rPr>
              <a:t>Framing from Nick’s presentation outline and supplied background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TODAY’S EXPERIMENT</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Three ways to make the work inspectable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Today’s experiment</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03</a:t>
            </a:r>
            <a:endParaRPr lang="en-US" sz="1100" dirty="0"/>
          </a:p>
        </p:txBody>
      </p:sp>
      <p:sp>
        <p:nvSpPr>
          <p:cNvPr id="9" name="Shape 7"/>
          <p:cNvSpPr/>
          <p:nvPr/>
        </p:nvSpPr>
        <p:spPr>
          <a:xfrm>
            <a:off x="621792" y="1911096"/>
            <a:ext cx="4251960" cy="2404872"/>
          </a:xfrm>
          <a:prstGeom prst="roundRect">
            <a:avLst>
              <a:gd name="adj" fmla="val 4563"/>
            </a:avLst>
          </a:prstGeom>
          <a:solidFill>
            <a:srgbClr val="EDF3F7"/>
          </a:solidFill>
          <a:ln w="12700">
            <a:solidFill>
              <a:srgbClr val="EDF3F7"/>
            </a:solidFill>
            <a:prstDash val="solid"/>
          </a:ln>
        </p:spPr>
      </p:sp>
      <p:sp>
        <p:nvSpPr>
          <p:cNvPr id="10" name="Text 8"/>
          <p:cNvSpPr/>
          <p:nvPr/>
        </p:nvSpPr>
        <p:spPr>
          <a:xfrm>
            <a:off x="850392" y="2121408"/>
            <a:ext cx="914400" cy="384048"/>
          </a:xfrm>
          <a:prstGeom prst="rect">
            <a:avLst/>
          </a:prstGeom>
          <a:noFill/>
          <a:ln/>
        </p:spPr>
        <p:txBody>
          <a:bodyPr wrap="square" lIns="0" tIns="0" rIns="0" bIns="0" rtlCol="0" anchor="ctr"/>
          <a:lstStyle/>
          <a:p>
            <a:pPr indent="0" marL="0">
              <a:buNone/>
            </a:pPr>
            <a:r>
              <a:rPr lang="en-US" sz="1600" b="1" dirty="0">
                <a:solidFill>
                  <a:srgbClr val="087E87"/>
                </a:solidFill>
                <a:latin typeface="Arial" pitchFamily="34" charset="0"/>
                <a:ea typeface="Arial" pitchFamily="34" charset="-122"/>
                <a:cs typeface="Arial" pitchFamily="34" charset="-120"/>
              </a:rPr>
              <a:t>01</a:t>
            </a:r>
            <a:endParaRPr lang="en-US" sz="1600" dirty="0"/>
          </a:p>
        </p:txBody>
      </p:sp>
      <p:sp>
        <p:nvSpPr>
          <p:cNvPr id="11" name="Text 9"/>
          <p:cNvSpPr/>
          <p:nvPr/>
        </p:nvSpPr>
        <p:spPr>
          <a:xfrm>
            <a:off x="850392" y="2715768"/>
            <a:ext cx="3794760" cy="475488"/>
          </a:xfrm>
          <a:prstGeom prst="rect">
            <a:avLst/>
          </a:prstGeom>
          <a:noFill/>
          <a:ln/>
        </p:spPr>
        <p:txBody>
          <a:bodyPr wrap="square" lIns="0" tIns="0" rIns="0" bIns="0" rtlCol="0" anchor="ctr"/>
          <a:lstStyle/>
          <a:p>
            <a:pPr indent="0" marL="0">
              <a:buNone/>
            </a:pPr>
            <a:r>
              <a:rPr lang="en-US" sz="2600" b="1" dirty="0">
                <a:solidFill>
                  <a:srgbClr val="087E87"/>
                </a:solidFill>
                <a:latin typeface="Arial" pitchFamily="34" charset="0"/>
                <a:ea typeface="Arial" pitchFamily="34" charset="-122"/>
                <a:cs typeface="Arial" pitchFamily="34" charset="-120"/>
              </a:rPr>
              <a:t>Help me read</a:t>
            </a:r>
            <a:endParaRPr lang="en-US" sz="2600" dirty="0"/>
          </a:p>
        </p:txBody>
      </p:sp>
      <p:sp>
        <p:nvSpPr>
          <p:cNvPr id="12" name="Text 10"/>
          <p:cNvSpPr/>
          <p:nvPr/>
        </p:nvSpPr>
        <p:spPr>
          <a:xfrm>
            <a:off x="850392" y="3383280"/>
            <a:ext cx="3794760" cy="685800"/>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Keep explanations beside</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the source.</a:t>
            </a:r>
            <a:endParaRPr lang="en-US" sz="2000" dirty="0"/>
          </a:p>
        </p:txBody>
      </p:sp>
      <p:sp>
        <p:nvSpPr>
          <p:cNvPr id="13" name="Shape 11"/>
          <p:cNvSpPr/>
          <p:nvPr/>
        </p:nvSpPr>
        <p:spPr>
          <a:xfrm>
            <a:off x="5193792" y="1911096"/>
            <a:ext cx="4251960" cy="2404872"/>
          </a:xfrm>
          <a:prstGeom prst="roundRect">
            <a:avLst>
              <a:gd name="adj" fmla="val 4563"/>
            </a:avLst>
          </a:prstGeom>
          <a:solidFill>
            <a:srgbClr val="EDF3F7"/>
          </a:solidFill>
          <a:ln w="12700">
            <a:solidFill>
              <a:srgbClr val="EDF3F7"/>
            </a:solidFill>
            <a:prstDash val="solid"/>
          </a:ln>
        </p:spPr>
      </p:sp>
      <p:sp>
        <p:nvSpPr>
          <p:cNvPr id="14" name="Text 12"/>
          <p:cNvSpPr/>
          <p:nvPr/>
        </p:nvSpPr>
        <p:spPr>
          <a:xfrm>
            <a:off x="5422392" y="2121408"/>
            <a:ext cx="914400" cy="384048"/>
          </a:xfrm>
          <a:prstGeom prst="rect">
            <a:avLst/>
          </a:prstGeom>
          <a:noFill/>
          <a:ln/>
        </p:spPr>
        <p:txBody>
          <a:bodyPr wrap="square" lIns="0" tIns="0" rIns="0" bIns="0" rtlCol="0" anchor="ctr"/>
          <a:lstStyle/>
          <a:p>
            <a:pPr indent="0" marL="0">
              <a:buNone/>
            </a:pPr>
            <a:r>
              <a:rPr lang="en-US" sz="1600" b="1" dirty="0">
                <a:solidFill>
                  <a:srgbClr val="145F96"/>
                </a:solidFill>
                <a:latin typeface="Arial" pitchFamily="34" charset="0"/>
                <a:ea typeface="Arial" pitchFamily="34" charset="-122"/>
                <a:cs typeface="Arial" pitchFamily="34" charset="-120"/>
              </a:rPr>
              <a:t>02</a:t>
            </a:r>
            <a:endParaRPr lang="en-US" sz="1600" dirty="0"/>
          </a:p>
        </p:txBody>
      </p:sp>
      <p:sp>
        <p:nvSpPr>
          <p:cNvPr id="15" name="Text 13"/>
          <p:cNvSpPr/>
          <p:nvPr/>
        </p:nvSpPr>
        <p:spPr>
          <a:xfrm>
            <a:off x="5422392" y="2715768"/>
            <a:ext cx="3794760" cy="475488"/>
          </a:xfrm>
          <a:prstGeom prst="rect">
            <a:avLst/>
          </a:prstGeom>
          <a:noFill/>
          <a:ln/>
        </p:spPr>
        <p:txBody>
          <a:bodyPr wrap="square" lIns="0" tIns="0" rIns="0" bIns="0" rtlCol="0" anchor="ctr"/>
          <a:lstStyle/>
          <a:p>
            <a:pPr indent="0" marL="0">
              <a:buNone/>
            </a:pPr>
            <a:r>
              <a:rPr lang="en-US" sz="2600" b="1" dirty="0">
                <a:solidFill>
                  <a:srgbClr val="145F96"/>
                </a:solidFill>
                <a:latin typeface="Arial" pitchFamily="34" charset="0"/>
                <a:ea typeface="Arial" pitchFamily="34" charset="-122"/>
                <a:cs typeface="Arial" pitchFamily="34" charset="-120"/>
              </a:rPr>
              <a:t>Help me investigate</a:t>
            </a:r>
            <a:endParaRPr lang="en-US" sz="2600" dirty="0"/>
          </a:p>
        </p:txBody>
      </p:sp>
      <p:sp>
        <p:nvSpPr>
          <p:cNvPr id="16" name="Text 14"/>
          <p:cNvSpPr/>
          <p:nvPr/>
        </p:nvSpPr>
        <p:spPr>
          <a:xfrm>
            <a:off x="5422392" y="3383280"/>
            <a:ext cx="3794760" cy="685800"/>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See selected evidence —</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and the missing branch.</a:t>
            </a:r>
            <a:endParaRPr lang="en-US" sz="2000" dirty="0"/>
          </a:p>
        </p:txBody>
      </p:sp>
      <p:sp>
        <p:nvSpPr>
          <p:cNvPr id="17" name="Shape 15"/>
          <p:cNvSpPr/>
          <p:nvPr/>
        </p:nvSpPr>
        <p:spPr>
          <a:xfrm>
            <a:off x="9765792" y="1911096"/>
            <a:ext cx="4251960" cy="2404872"/>
          </a:xfrm>
          <a:prstGeom prst="roundRect">
            <a:avLst>
              <a:gd name="adj" fmla="val 4563"/>
            </a:avLst>
          </a:prstGeom>
          <a:solidFill>
            <a:srgbClr val="EDF3F7"/>
          </a:solidFill>
          <a:ln w="12700">
            <a:solidFill>
              <a:srgbClr val="EDF3F7"/>
            </a:solidFill>
            <a:prstDash val="solid"/>
          </a:ln>
        </p:spPr>
      </p:sp>
      <p:sp>
        <p:nvSpPr>
          <p:cNvPr id="18" name="Text 16"/>
          <p:cNvSpPr/>
          <p:nvPr/>
        </p:nvSpPr>
        <p:spPr>
          <a:xfrm>
            <a:off x="9994392" y="2121408"/>
            <a:ext cx="914400" cy="384048"/>
          </a:xfrm>
          <a:prstGeom prst="rect">
            <a:avLst/>
          </a:prstGeom>
          <a:noFill/>
          <a:ln/>
        </p:spPr>
        <p:txBody>
          <a:bodyPr wrap="square" lIns="0" tIns="0" rIns="0" bIns="0" rtlCol="0" anchor="ctr"/>
          <a:lstStyle/>
          <a:p>
            <a:pPr indent="0" marL="0">
              <a:buNone/>
            </a:pPr>
            <a:r>
              <a:rPr lang="en-US" sz="1600" b="1" dirty="0">
                <a:solidFill>
                  <a:srgbClr val="43813B"/>
                </a:solidFill>
                <a:latin typeface="Arial" pitchFamily="34" charset="0"/>
                <a:ea typeface="Arial" pitchFamily="34" charset="-122"/>
                <a:cs typeface="Arial" pitchFamily="34" charset="-120"/>
              </a:rPr>
              <a:t>03</a:t>
            </a:r>
            <a:endParaRPr lang="en-US" sz="1600" dirty="0"/>
          </a:p>
        </p:txBody>
      </p:sp>
      <p:sp>
        <p:nvSpPr>
          <p:cNvPr id="19" name="Text 17"/>
          <p:cNvSpPr/>
          <p:nvPr/>
        </p:nvSpPr>
        <p:spPr>
          <a:xfrm>
            <a:off x="9994392" y="2715768"/>
            <a:ext cx="3794760" cy="475488"/>
          </a:xfrm>
          <a:prstGeom prst="rect">
            <a:avLst/>
          </a:prstGeom>
          <a:noFill/>
          <a:ln/>
        </p:spPr>
        <p:txBody>
          <a:bodyPr wrap="square" lIns="0" tIns="0" rIns="0" bIns="0" rtlCol="0" anchor="ctr"/>
          <a:lstStyle/>
          <a:p>
            <a:pPr indent="0" marL="0">
              <a:buNone/>
            </a:pPr>
            <a:r>
              <a:rPr lang="en-US" sz="2600" b="1" dirty="0">
                <a:solidFill>
                  <a:srgbClr val="43813B"/>
                </a:solidFill>
                <a:latin typeface="Arial" pitchFamily="34" charset="0"/>
                <a:ea typeface="Arial" pitchFamily="34" charset="-122"/>
                <a:cs typeface="Arial" pitchFamily="34" charset="-120"/>
              </a:rPr>
              <a:t>Help me challenge</a:t>
            </a:r>
            <a:endParaRPr lang="en-US" sz="2600" dirty="0"/>
          </a:p>
        </p:txBody>
      </p:sp>
      <p:sp>
        <p:nvSpPr>
          <p:cNvPr id="20" name="Text 18"/>
          <p:cNvSpPr/>
          <p:nvPr/>
        </p:nvSpPr>
        <p:spPr>
          <a:xfrm>
            <a:off x="9994392" y="3383280"/>
            <a:ext cx="3794760" cy="685800"/>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Inspect relationships,</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requirements and limits.</a:t>
            </a:r>
            <a:endParaRPr lang="en-US" sz="2000" dirty="0"/>
          </a:p>
        </p:txBody>
      </p:sp>
      <p:sp>
        <p:nvSpPr>
          <p:cNvPr id="21" name="Shape 19"/>
          <p:cNvSpPr/>
          <p:nvPr/>
        </p:nvSpPr>
        <p:spPr>
          <a:xfrm>
            <a:off x="621792" y="4873752"/>
            <a:ext cx="13395960" cy="1170432"/>
          </a:xfrm>
          <a:prstGeom prst="rect">
            <a:avLst>
              <a:gd name="adj" fmla="val 9375"/>
            </a:avLst>
          </a:prstGeom>
          <a:solidFill>
            <a:srgbClr val="102B46"/>
          </a:solidFill>
          <a:ln w="12700">
            <a:solidFill>
              <a:srgbClr val="102B46"/>
            </a:solidFill>
            <a:prstDash val="solid"/>
          </a:ln>
        </p:spPr>
      </p:sp>
      <p:sp>
        <p:nvSpPr>
          <p:cNvPr id="22" name="Text 20"/>
          <p:cNvSpPr/>
          <p:nvPr/>
        </p:nvSpPr>
        <p:spPr>
          <a:xfrm>
            <a:off x="886968" y="5084064"/>
            <a:ext cx="4663440" cy="420624"/>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Public information only</a:t>
            </a:r>
            <a:endParaRPr lang="en-US" sz="2700" dirty="0"/>
          </a:p>
        </p:txBody>
      </p:sp>
      <p:sp>
        <p:nvSpPr>
          <p:cNvPr id="23" name="Text 21"/>
          <p:cNvSpPr/>
          <p:nvPr/>
        </p:nvSpPr>
        <p:spPr>
          <a:xfrm>
            <a:off x="5669280" y="5074920"/>
            <a:ext cx="7909560" cy="704088"/>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No claimant data. No individual award decision.</a:t>
            </a:r>
            <a:endParaRPr lang="en-US" sz="2200" dirty="0"/>
          </a:p>
          <a:p>
            <a:pPr indent="0" marL="0">
              <a:buNone/>
            </a:pPr>
            <a:r>
              <a:rPr lang="en-US" sz="2200" dirty="0">
                <a:solidFill>
                  <a:srgbClr val="FFFFFF"/>
                </a:solidFill>
                <a:latin typeface="Arial" pitchFamily="34" charset="0"/>
                <a:ea typeface="Arial" pitchFamily="34" charset="-122"/>
                <a:cs typeface="Arial" pitchFamily="34" charset="-120"/>
              </a:rPr>
              <a:t>No operational benefits calculator.</a:t>
            </a:r>
            <a:endParaRPr lang="en-US" sz="2200" dirty="0"/>
          </a:p>
        </p:txBody>
      </p:sp>
      <p:sp>
        <p:nvSpPr>
          <p:cNvPr id="24" name="Text 22"/>
          <p:cNvSpPr/>
          <p:nvPr/>
        </p:nvSpPr>
        <p:spPr>
          <a:xfrm>
            <a:off x="621792" y="6647688"/>
            <a:ext cx="13258800" cy="402336"/>
          </a:xfrm>
          <a:prstGeom prst="rect">
            <a:avLst/>
          </a:prstGeom>
          <a:noFill/>
          <a:ln/>
        </p:spPr>
        <p:txBody>
          <a:bodyPr wrap="square" lIns="0" tIns="0" rIns="0" bIns="0" rtlCol="0" anchor="ctr"/>
          <a:lstStyle/>
          <a:p>
            <a:pPr indent="0" marL="0">
              <a:buNone/>
            </a:pPr>
            <a:r>
              <a:rPr lang="en-US" sz="1800" dirty="0">
                <a:solidFill>
                  <a:srgbClr val="536777"/>
                </a:solidFill>
                <a:latin typeface="Arial" pitchFamily="34" charset="0"/>
                <a:ea typeface="Arial" pitchFamily="34" charset="-122"/>
                <a:cs typeface="Arial" pitchFamily="34" charset="-120"/>
              </a:rPr>
              <a:t>5 minutes of context   •   30 minutes of technology and demonstrations   •   10 minutes of questions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CAPABILITY IS NOT ASSURANCE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ARC asks: can a system adapt to unfamiliar tasks?</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Capability is not assurance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04</a:t>
            </a:r>
            <a:endParaRPr lang="en-US" sz="1100" dirty="0"/>
          </a:p>
        </p:txBody>
      </p:sp>
      <p:sp>
        <p:nvSpPr>
          <p:cNvPr id="9" name="Shape 7"/>
          <p:cNvSpPr/>
          <p:nvPr/>
        </p:nvSpPr>
        <p:spPr>
          <a:xfrm>
            <a:off x="621792" y="1847088"/>
            <a:ext cx="3145536" cy="3246120"/>
          </a:xfrm>
          <a:prstGeom prst="rect">
            <a:avLst>
              <a:gd name="adj" fmla="val 3488"/>
            </a:avLst>
          </a:prstGeom>
          <a:solidFill>
            <a:srgbClr val="EDF3F7"/>
          </a:solidFill>
          <a:ln w="12700">
            <a:solidFill>
              <a:srgbClr val="EDF3F7"/>
            </a:solidFill>
            <a:prstDash val="solid"/>
          </a:ln>
        </p:spPr>
      </p:sp>
      <p:sp>
        <p:nvSpPr>
          <p:cNvPr id="10" name="Text 8"/>
          <p:cNvSpPr/>
          <p:nvPr/>
        </p:nvSpPr>
        <p:spPr>
          <a:xfrm>
            <a:off x="841248" y="2066544"/>
            <a:ext cx="2706624" cy="484632"/>
          </a:xfrm>
          <a:prstGeom prst="rect">
            <a:avLst/>
          </a:prstGeom>
          <a:noFill/>
          <a:ln/>
        </p:spPr>
        <p:txBody>
          <a:bodyPr wrap="square" lIns="0" tIns="0" rIns="0" bIns="0" rtlCol="0" anchor="ctr"/>
          <a:lstStyle/>
          <a:p>
            <a:pPr indent="0" marL="0">
              <a:buNone/>
            </a:pPr>
            <a:r>
              <a:rPr lang="en-US" sz="3500" b="1" dirty="0">
                <a:solidFill>
                  <a:srgbClr val="145F96"/>
                </a:solidFill>
                <a:latin typeface="Arial" pitchFamily="34" charset="0"/>
                <a:ea typeface="Arial" pitchFamily="34" charset="-122"/>
                <a:cs typeface="Arial" pitchFamily="34" charset="-120"/>
              </a:rPr>
              <a:t>2019</a:t>
            </a:r>
            <a:endParaRPr lang="en-US" sz="3500" dirty="0"/>
          </a:p>
        </p:txBody>
      </p:sp>
      <p:sp>
        <p:nvSpPr>
          <p:cNvPr id="11" name="Text 9"/>
          <p:cNvSpPr/>
          <p:nvPr/>
        </p:nvSpPr>
        <p:spPr>
          <a:xfrm>
            <a:off x="841248" y="2852928"/>
            <a:ext cx="2706624" cy="713232"/>
          </a:xfrm>
          <a:prstGeom prst="rect">
            <a:avLst/>
          </a:prstGeom>
          <a:noFill/>
          <a:ln/>
        </p:spPr>
        <p:txBody>
          <a:bodyPr wrap="square" lIns="0" tIns="0" rIns="0" bIns="0" rtlCol="0" anchor="ctr"/>
          <a:lstStyle/>
          <a:p>
            <a:pPr indent="0" marL="0">
              <a:buNone/>
            </a:pPr>
            <a:r>
              <a:rPr lang="en-US" sz="2400" b="1" dirty="0">
                <a:solidFill>
                  <a:srgbClr val="102B46"/>
                </a:solidFill>
                <a:latin typeface="Arial" pitchFamily="34" charset="0"/>
                <a:ea typeface="Arial" pitchFamily="34" charset="-122"/>
                <a:cs typeface="Arial" pitchFamily="34" charset="-120"/>
              </a:rPr>
              <a:t>ARC introduced</a:t>
            </a:r>
            <a:endParaRPr lang="en-US" sz="2400" dirty="0"/>
          </a:p>
        </p:txBody>
      </p:sp>
      <p:sp>
        <p:nvSpPr>
          <p:cNvPr id="12" name="Text 10"/>
          <p:cNvSpPr/>
          <p:nvPr/>
        </p:nvSpPr>
        <p:spPr>
          <a:xfrm>
            <a:off x="841248" y="3794760"/>
            <a:ext cx="2706624" cy="960120"/>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Infer a new rule from</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a few examples.</a:t>
            </a:r>
            <a:endParaRPr lang="en-US" sz="2000" dirty="0"/>
          </a:p>
        </p:txBody>
      </p:sp>
      <p:sp>
        <p:nvSpPr>
          <p:cNvPr id="13" name="Shape 11"/>
          <p:cNvSpPr/>
          <p:nvPr/>
        </p:nvSpPr>
        <p:spPr>
          <a:xfrm>
            <a:off x="4041648" y="1847088"/>
            <a:ext cx="3145536" cy="3246120"/>
          </a:xfrm>
          <a:prstGeom prst="rect">
            <a:avLst>
              <a:gd name="adj" fmla="val 3488"/>
            </a:avLst>
          </a:prstGeom>
          <a:solidFill>
            <a:srgbClr val="EDF3F7"/>
          </a:solidFill>
          <a:ln w="12700">
            <a:solidFill>
              <a:srgbClr val="EDF3F7"/>
            </a:solidFill>
            <a:prstDash val="solid"/>
          </a:ln>
        </p:spPr>
      </p:sp>
      <p:sp>
        <p:nvSpPr>
          <p:cNvPr id="14" name="Text 12"/>
          <p:cNvSpPr/>
          <p:nvPr/>
        </p:nvSpPr>
        <p:spPr>
          <a:xfrm>
            <a:off x="4261104" y="2066544"/>
            <a:ext cx="2706624" cy="484632"/>
          </a:xfrm>
          <a:prstGeom prst="rect">
            <a:avLst/>
          </a:prstGeom>
          <a:noFill/>
          <a:ln/>
        </p:spPr>
        <p:txBody>
          <a:bodyPr wrap="square" lIns="0" tIns="0" rIns="0" bIns="0" rtlCol="0" anchor="ctr"/>
          <a:lstStyle/>
          <a:p>
            <a:pPr indent="0" marL="0">
              <a:buNone/>
            </a:pPr>
            <a:r>
              <a:rPr lang="en-US" sz="3500" b="1" dirty="0">
                <a:solidFill>
                  <a:srgbClr val="145F96"/>
                </a:solidFill>
                <a:latin typeface="Arial" pitchFamily="34" charset="0"/>
                <a:ea typeface="Arial" pitchFamily="34" charset="-122"/>
                <a:cs typeface="Arial" pitchFamily="34" charset="-120"/>
              </a:rPr>
              <a:t>2024</a:t>
            </a:r>
            <a:endParaRPr lang="en-US" sz="3500" dirty="0"/>
          </a:p>
        </p:txBody>
      </p:sp>
      <p:sp>
        <p:nvSpPr>
          <p:cNvPr id="15" name="Text 13"/>
          <p:cNvSpPr/>
          <p:nvPr/>
        </p:nvSpPr>
        <p:spPr>
          <a:xfrm>
            <a:off x="4261104" y="2852928"/>
            <a:ext cx="2706624" cy="713232"/>
          </a:xfrm>
          <a:prstGeom prst="rect">
            <a:avLst/>
          </a:prstGeom>
          <a:noFill/>
          <a:ln/>
        </p:spPr>
        <p:txBody>
          <a:bodyPr wrap="square" lIns="0" tIns="0" rIns="0" bIns="0" rtlCol="0" anchor="ctr"/>
          <a:lstStyle/>
          <a:p>
            <a:pPr indent="0" marL="0">
              <a:buNone/>
            </a:pPr>
            <a:r>
              <a:rPr lang="en-US" sz="2400" b="1" dirty="0">
                <a:solidFill>
                  <a:srgbClr val="102B46"/>
                </a:solidFill>
                <a:latin typeface="Arial" pitchFamily="34" charset="0"/>
                <a:ea typeface="Arial" pitchFamily="34" charset="-122"/>
                <a:cs typeface="Arial" pitchFamily="34" charset="-120"/>
              </a:rPr>
              <a:t>The o3 breakthrough</a:t>
            </a:r>
            <a:endParaRPr lang="en-US" sz="2400" dirty="0"/>
          </a:p>
        </p:txBody>
      </p:sp>
      <p:sp>
        <p:nvSpPr>
          <p:cNvPr id="16" name="Text 14"/>
          <p:cNvSpPr/>
          <p:nvPr/>
        </p:nvSpPr>
        <p:spPr>
          <a:xfrm>
            <a:off x="4261104" y="3794760"/>
            <a:ext cx="2706624" cy="960120"/>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GPT-4o: 5%</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o3-preview: 75.7% / 87.5%</a:t>
            </a:r>
            <a:endParaRPr lang="en-US" sz="2000" dirty="0"/>
          </a:p>
        </p:txBody>
      </p:sp>
      <p:sp>
        <p:nvSpPr>
          <p:cNvPr id="17" name="Shape 15"/>
          <p:cNvSpPr/>
          <p:nvPr/>
        </p:nvSpPr>
        <p:spPr>
          <a:xfrm>
            <a:off x="7461504" y="1847088"/>
            <a:ext cx="3145536" cy="3246120"/>
          </a:xfrm>
          <a:prstGeom prst="rect">
            <a:avLst>
              <a:gd name="adj" fmla="val 3488"/>
            </a:avLst>
          </a:prstGeom>
          <a:solidFill>
            <a:srgbClr val="EDF3F7"/>
          </a:solidFill>
          <a:ln w="12700">
            <a:solidFill>
              <a:srgbClr val="EDF3F7"/>
            </a:solidFill>
            <a:prstDash val="solid"/>
          </a:ln>
        </p:spPr>
      </p:sp>
      <p:sp>
        <p:nvSpPr>
          <p:cNvPr id="18" name="Text 16"/>
          <p:cNvSpPr/>
          <p:nvPr/>
        </p:nvSpPr>
        <p:spPr>
          <a:xfrm>
            <a:off x="7680960" y="2066544"/>
            <a:ext cx="2706624" cy="484632"/>
          </a:xfrm>
          <a:prstGeom prst="rect">
            <a:avLst/>
          </a:prstGeom>
          <a:noFill/>
          <a:ln/>
        </p:spPr>
        <p:txBody>
          <a:bodyPr wrap="square" lIns="0" tIns="0" rIns="0" bIns="0" rtlCol="0" anchor="ctr"/>
          <a:lstStyle/>
          <a:p>
            <a:pPr indent="0" marL="0">
              <a:buNone/>
            </a:pPr>
            <a:r>
              <a:rPr lang="en-US" sz="3500" b="1" dirty="0">
                <a:solidFill>
                  <a:srgbClr val="087E87"/>
                </a:solidFill>
                <a:latin typeface="Arial" pitchFamily="34" charset="0"/>
                <a:ea typeface="Arial" pitchFamily="34" charset="-122"/>
                <a:cs typeface="Arial" pitchFamily="34" charset="-120"/>
              </a:rPr>
              <a:t>2025</a:t>
            </a:r>
            <a:endParaRPr lang="en-US" sz="3500" dirty="0"/>
          </a:p>
        </p:txBody>
      </p:sp>
      <p:sp>
        <p:nvSpPr>
          <p:cNvPr id="19" name="Text 17"/>
          <p:cNvSpPr/>
          <p:nvPr/>
        </p:nvSpPr>
        <p:spPr>
          <a:xfrm>
            <a:off x="7680960" y="2852928"/>
            <a:ext cx="2706624" cy="713232"/>
          </a:xfrm>
          <a:prstGeom prst="rect">
            <a:avLst/>
          </a:prstGeom>
          <a:noFill/>
          <a:ln/>
        </p:spPr>
        <p:txBody>
          <a:bodyPr wrap="square" lIns="0" tIns="0" rIns="0" bIns="0" rtlCol="0" anchor="ctr"/>
          <a:lstStyle/>
          <a:p>
            <a:pPr indent="0" marL="0">
              <a:buNone/>
            </a:pPr>
            <a:r>
              <a:rPr lang="en-US" sz="2400" b="1" dirty="0">
                <a:solidFill>
                  <a:srgbClr val="102B46"/>
                </a:solidFill>
                <a:latin typeface="Arial" pitchFamily="34" charset="0"/>
                <a:ea typeface="Arial" pitchFamily="34" charset="-122"/>
                <a:cs typeface="Arial" pitchFamily="34" charset="-120"/>
              </a:rPr>
              <a:t>ARC-AGI-2</a:t>
            </a:r>
            <a:endParaRPr lang="en-US" sz="2400" dirty="0"/>
          </a:p>
        </p:txBody>
      </p:sp>
      <p:sp>
        <p:nvSpPr>
          <p:cNvPr id="20" name="Text 18"/>
          <p:cNvSpPr/>
          <p:nvPr/>
        </p:nvSpPr>
        <p:spPr>
          <a:xfrm>
            <a:off x="7680960" y="3794760"/>
            <a:ext cx="2706624" cy="960120"/>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Harder symbolic and</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compositional tasks.</a:t>
            </a:r>
            <a:endParaRPr lang="en-US" sz="2000" dirty="0"/>
          </a:p>
        </p:txBody>
      </p:sp>
      <p:sp>
        <p:nvSpPr>
          <p:cNvPr id="21" name="Shape 19"/>
          <p:cNvSpPr/>
          <p:nvPr/>
        </p:nvSpPr>
        <p:spPr>
          <a:xfrm>
            <a:off x="10881360" y="1847088"/>
            <a:ext cx="3145536" cy="3246120"/>
          </a:xfrm>
          <a:prstGeom prst="rect">
            <a:avLst>
              <a:gd name="adj" fmla="val 3488"/>
            </a:avLst>
          </a:prstGeom>
          <a:solidFill>
            <a:srgbClr val="EDF3F7"/>
          </a:solidFill>
          <a:ln w="12700">
            <a:solidFill>
              <a:srgbClr val="EDF3F7"/>
            </a:solidFill>
            <a:prstDash val="solid"/>
          </a:ln>
        </p:spPr>
      </p:sp>
      <p:sp>
        <p:nvSpPr>
          <p:cNvPr id="22" name="Text 20"/>
          <p:cNvSpPr/>
          <p:nvPr/>
        </p:nvSpPr>
        <p:spPr>
          <a:xfrm>
            <a:off x="11100816" y="2066544"/>
            <a:ext cx="2706624" cy="484632"/>
          </a:xfrm>
          <a:prstGeom prst="rect">
            <a:avLst/>
          </a:prstGeom>
          <a:noFill/>
          <a:ln/>
        </p:spPr>
        <p:txBody>
          <a:bodyPr wrap="square" lIns="0" tIns="0" rIns="0" bIns="0" rtlCol="0" anchor="ctr"/>
          <a:lstStyle/>
          <a:p>
            <a:pPr indent="0" marL="0">
              <a:buNone/>
            </a:pPr>
            <a:r>
              <a:rPr lang="en-US" sz="3500" b="1" dirty="0">
                <a:solidFill>
                  <a:srgbClr val="087E87"/>
                </a:solidFill>
                <a:latin typeface="Arial" pitchFamily="34" charset="0"/>
                <a:ea typeface="Arial" pitchFamily="34" charset="-122"/>
                <a:cs typeface="Arial" pitchFamily="34" charset="-120"/>
              </a:rPr>
              <a:t>2026</a:t>
            </a:r>
            <a:endParaRPr lang="en-US" sz="3500" dirty="0"/>
          </a:p>
        </p:txBody>
      </p:sp>
      <p:sp>
        <p:nvSpPr>
          <p:cNvPr id="23" name="Text 21"/>
          <p:cNvSpPr/>
          <p:nvPr/>
        </p:nvSpPr>
        <p:spPr>
          <a:xfrm>
            <a:off x="11100816" y="2852928"/>
            <a:ext cx="2706624" cy="713232"/>
          </a:xfrm>
          <a:prstGeom prst="rect">
            <a:avLst/>
          </a:prstGeom>
          <a:noFill/>
          <a:ln/>
        </p:spPr>
        <p:txBody>
          <a:bodyPr wrap="square" lIns="0" tIns="0" rIns="0" bIns="0" rtlCol="0" anchor="ctr"/>
          <a:lstStyle/>
          <a:p>
            <a:pPr indent="0" marL="0">
              <a:buNone/>
            </a:pPr>
            <a:r>
              <a:rPr lang="en-US" sz="2400" b="1" dirty="0">
                <a:solidFill>
                  <a:srgbClr val="102B46"/>
                </a:solidFill>
                <a:latin typeface="Arial" pitchFamily="34" charset="0"/>
                <a:ea typeface="Arial" pitchFamily="34" charset="-122"/>
                <a:cs typeface="Arial" pitchFamily="34" charset="-120"/>
              </a:rPr>
              <a:t>ARC-AGI-3</a:t>
            </a:r>
            <a:endParaRPr lang="en-US" sz="2400" dirty="0"/>
          </a:p>
        </p:txBody>
      </p:sp>
      <p:sp>
        <p:nvSpPr>
          <p:cNvPr id="24" name="Text 22"/>
          <p:cNvSpPr/>
          <p:nvPr/>
        </p:nvSpPr>
        <p:spPr>
          <a:xfrm>
            <a:off x="11100816" y="3794760"/>
            <a:ext cx="2706624" cy="960120"/>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Interactive exploration,</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learning and action.</a:t>
            </a:r>
            <a:endParaRPr lang="en-US" sz="2000" dirty="0"/>
          </a:p>
        </p:txBody>
      </p:sp>
      <p:sp>
        <p:nvSpPr>
          <p:cNvPr id="25" name="Text 23"/>
          <p:cNvSpPr/>
          <p:nvPr/>
        </p:nvSpPr>
        <p:spPr>
          <a:xfrm>
            <a:off x="621792" y="5486400"/>
            <a:ext cx="13258800" cy="786384"/>
          </a:xfrm>
          <a:prstGeom prst="rect">
            <a:avLst/>
          </a:prstGeom>
          <a:noFill/>
          <a:ln/>
        </p:spPr>
        <p:txBody>
          <a:bodyPr wrap="square" lIns="0" tIns="0" rIns="0" bIns="0" rtlCol="0" anchor="ctr"/>
          <a:lstStyle/>
          <a:p>
            <a:pPr indent="0" marL="0">
              <a:buNone/>
            </a:pPr>
            <a:r>
              <a:rPr lang="en-US" sz="2200" dirty="0">
                <a:solidFill>
                  <a:srgbClr val="172E43"/>
                </a:solidFill>
                <a:latin typeface="Arial" pitchFamily="34" charset="0"/>
                <a:ea typeface="Arial" pitchFamily="34" charset="-122"/>
                <a:cs typeface="Arial" pitchFamily="34" charset="-120"/>
              </a:rPr>
              <a:t>The 2024 scores are ARC-AGI-1 semi-private results.</a:t>
            </a:r>
            <a:endParaRPr lang="en-US" sz="2200" dirty="0"/>
          </a:p>
          <a:p>
            <a:pPr indent="0" marL="0">
              <a:buNone/>
            </a:pPr>
            <a:r>
              <a:rPr lang="en-US" sz="2200" dirty="0">
                <a:solidFill>
                  <a:srgbClr val="172E43"/>
                </a:solidFill>
                <a:latin typeface="Arial" pitchFamily="34" charset="0"/>
                <a:ea typeface="Arial" pitchFamily="34" charset="-122"/>
                <a:cs typeface="Arial" pitchFamily="34" charset="-120"/>
              </a:rPr>
              <a:t>The higher o3 configuration used about 172× the compute.</a:t>
            </a:r>
            <a:endParaRPr lang="en-US" sz="2200" dirty="0"/>
          </a:p>
        </p:txBody>
      </p:sp>
      <p:sp>
        <p:nvSpPr>
          <p:cNvPr id="26" name="Shape 24"/>
          <p:cNvSpPr/>
          <p:nvPr/>
        </p:nvSpPr>
        <p:spPr>
          <a:xfrm>
            <a:off x="621792" y="6638544"/>
            <a:ext cx="11704320" cy="301752"/>
          </a:xfrm>
          <a:prstGeom prst="roundRect">
            <a:avLst>
              <a:gd name="adj" fmla="val 36364"/>
            </a:avLst>
          </a:prstGeom>
          <a:solidFill>
            <a:srgbClr val="FFF3D9"/>
          </a:solidFill>
          <a:ln w="12700">
            <a:solidFill>
              <a:srgbClr val="FFF3D9"/>
            </a:solidFill>
            <a:prstDash val="solid"/>
          </a:ln>
        </p:spPr>
      </p:sp>
      <p:sp>
        <p:nvSpPr>
          <p:cNvPr id="27" name="Text 25"/>
          <p:cNvSpPr/>
          <p:nvPr/>
        </p:nvSpPr>
        <p:spPr>
          <a:xfrm>
            <a:off x="713232" y="6679692"/>
            <a:ext cx="11521440" cy="219456"/>
          </a:xfrm>
          <a:prstGeom prst="rect">
            <a:avLst/>
          </a:prstGeom>
          <a:noFill/>
          <a:ln/>
        </p:spPr>
        <p:txBody>
          <a:bodyPr wrap="square" lIns="0" tIns="0" rIns="0" bIns="0" rtlCol="0" anchor="ctr"/>
          <a:lstStyle/>
          <a:p>
            <a:pPr indent="0" marL="0">
              <a:buNone/>
            </a:pPr>
            <a:r>
              <a:rPr lang="en-US" sz="1400" b="1" dirty="0">
                <a:solidFill>
                  <a:srgbClr val="966410"/>
                </a:solidFill>
                <a:latin typeface="Arial" pitchFamily="34" charset="0"/>
                <a:ea typeface="Arial" pitchFamily="34" charset="-122"/>
                <a:cs typeface="Arial" pitchFamily="34" charset="-120"/>
              </a:rPr>
              <a:t>Different generations do not share one interchangeable percentage scale.</a:t>
            </a:r>
            <a:endParaRPr lang="en-US" sz="1400" dirty="0"/>
          </a:p>
        </p:txBody>
      </p:sp>
      <p:sp>
        <p:nvSpPr>
          <p:cNvPr id="28" name="Text 26">
            <a:hlinkClick r:id="rId1"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Chollet (2019); ARC Prize launch reports and o3 evaluation • detailed costs and dates in appendix</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 DATED ARC-AGI-3 COMPARISON</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The surrounding system changes the result</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 dated ARC-AGI-3 comparison</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05</a:t>
            </a:r>
            <a:endParaRPr lang="en-US" sz="1100" dirty="0"/>
          </a:p>
        </p:txBody>
      </p:sp>
      <p:sp>
        <p:nvSpPr>
          <p:cNvPr id="9" name="Shape 7"/>
          <p:cNvSpPr/>
          <p:nvPr/>
        </p:nvSpPr>
        <p:spPr>
          <a:xfrm>
            <a:off x="621792" y="1554480"/>
            <a:ext cx="12161520" cy="301752"/>
          </a:xfrm>
          <a:prstGeom prst="roundRect">
            <a:avLst>
              <a:gd name="adj" fmla="val 36364"/>
            </a:avLst>
          </a:prstGeom>
          <a:solidFill>
            <a:srgbClr val="E7F2FA"/>
          </a:solidFill>
          <a:ln w="12700">
            <a:solidFill>
              <a:srgbClr val="E7F2FA"/>
            </a:solidFill>
            <a:prstDash val="solid"/>
          </a:ln>
        </p:spPr>
      </p:sp>
      <p:sp>
        <p:nvSpPr>
          <p:cNvPr id="10" name="Text 8"/>
          <p:cNvSpPr/>
          <p:nvPr/>
        </p:nvSpPr>
        <p:spPr>
          <a:xfrm>
            <a:off x="713232" y="1595628"/>
            <a:ext cx="11978640" cy="219456"/>
          </a:xfrm>
          <a:prstGeom prst="rect">
            <a:avLst/>
          </a:prstGeom>
          <a:noFill/>
          <a:ln/>
        </p:spPr>
        <p:txBody>
          <a:bodyPr wrap="square" lIns="0" tIns="0" rIns="0" bIns="0" rtlCol="0" anchor="ctr"/>
          <a:lstStyle/>
          <a:p>
            <a:pPr indent="0" marL="0">
              <a:buNone/>
            </a:pPr>
            <a:r>
              <a:rPr lang="en-US" sz="1350" b="1" dirty="0">
                <a:solidFill>
                  <a:srgbClr val="145F96"/>
                </a:solidFill>
                <a:latin typeface="Arial" pitchFamily="34" charset="0"/>
                <a:ea typeface="Arial" pitchFamily="34" charset="-122"/>
                <a:cs typeface="Arial" pitchFamily="34" charset="-120"/>
              </a:rPr>
              <a:t>GPT-6 Astra • high reasoning effort • semi-private evaluation • 3 September 2026</a:t>
            </a:r>
            <a:endParaRPr lang="en-US" sz="1350" dirty="0"/>
          </a:p>
        </p:txBody>
      </p:sp>
      <p:sp>
        <p:nvSpPr>
          <p:cNvPr id="11" name="Shape 9"/>
          <p:cNvSpPr/>
          <p:nvPr/>
        </p:nvSpPr>
        <p:spPr>
          <a:xfrm>
            <a:off x="621792" y="2258568"/>
            <a:ext cx="6345936" cy="2880360"/>
          </a:xfrm>
          <a:prstGeom prst="rect">
            <a:avLst>
              <a:gd name="adj" fmla="val 3810"/>
            </a:avLst>
          </a:prstGeom>
          <a:solidFill>
            <a:srgbClr val="EDF3F7"/>
          </a:solidFill>
          <a:ln w="12700">
            <a:solidFill>
              <a:srgbClr val="EDF3F7"/>
            </a:solidFill>
            <a:prstDash val="solid"/>
          </a:ln>
        </p:spPr>
      </p:sp>
      <p:sp>
        <p:nvSpPr>
          <p:cNvPr id="12" name="Shape 10"/>
          <p:cNvSpPr/>
          <p:nvPr/>
        </p:nvSpPr>
        <p:spPr>
          <a:xfrm>
            <a:off x="7342632" y="2258568"/>
            <a:ext cx="6675120" cy="2880360"/>
          </a:xfrm>
          <a:prstGeom prst="rect">
            <a:avLst>
              <a:gd name="adj" fmla="val 3810"/>
            </a:avLst>
          </a:prstGeom>
          <a:solidFill>
            <a:srgbClr val="E5F4F2"/>
          </a:solidFill>
          <a:ln w="12700">
            <a:solidFill>
              <a:srgbClr val="E5F4F2"/>
            </a:solidFill>
            <a:prstDash val="solid"/>
          </a:ln>
        </p:spPr>
      </p:sp>
      <p:sp>
        <p:nvSpPr>
          <p:cNvPr id="13" name="Text 11"/>
          <p:cNvSpPr/>
          <p:nvPr/>
        </p:nvSpPr>
        <p:spPr>
          <a:xfrm>
            <a:off x="914400" y="2523744"/>
            <a:ext cx="5760720" cy="347472"/>
          </a:xfrm>
          <a:prstGeom prst="rect">
            <a:avLst/>
          </a:prstGeom>
          <a:noFill/>
          <a:ln/>
        </p:spPr>
        <p:txBody>
          <a:bodyPr wrap="square" lIns="0" tIns="0" rIns="0" bIns="0" rtlCol="0" anchor="ctr"/>
          <a:lstStyle/>
          <a:p>
            <a:pPr indent="0" marL="0">
              <a:buNone/>
            </a:pPr>
            <a:r>
              <a:rPr lang="en-US" sz="2400" b="1" dirty="0">
                <a:solidFill>
                  <a:srgbClr val="102B46"/>
                </a:solidFill>
                <a:latin typeface="Arial" pitchFamily="34" charset="0"/>
                <a:ea typeface="Arial" pitchFamily="34" charset="-122"/>
                <a:cs typeface="Arial" pitchFamily="34" charset="-120"/>
              </a:rPr>
              <a:t>Standard harness</a:t>
            </a:r>
            <a:endParaRPr lang="en-US" sz="2400" dirty="0"/>
          </a:p>
        </p:txBody>
      </p:sp>
      <p:sp>
        <p:nvSpPr>
          <p:cNvPr id="14" name="Text 12"/>
          <p:cNvSpPr/>
          <p:nvPr/>
        </p:nvSpPr>
        <p:spPr>
          <a:xfrm>
            <a:off x="914400" y="3163824"/>
            <a:ext cx="5760720" cy="960120"/>
          </a:xfrm>
          <a:prstGeom prst="rect">
            <a:avLst/>
          </a:prstGeom>
          <a:noFill/>
          <a:ln/>
        </p:spPr>
        <p:txBody>
          <a:bodyPr wrap="square" lIns="0" tIns="0" rIns="0" bIns="0" rtlCol="0" anchor="ctr"/>
          <a:lstStyle/>
          <a:p>
            <a:pPr indent="0" marL="0">
              <a:buNone/>
            </a:pPr>
            <a:r>
              <a:rPr lang="en-US" sz="6800" b="1" dirty="0">
                <a:solidFill>
                  <a:srgbClr val="145F96"/>
                </a:solidFill>
                <a:latin typeface="Arial" pitchFamily="34" charset="0"/>
                <a:ea typeface="Arial" pitchFamily="34" charset="-122"/>
                <a:cs typeface="Arial" pitchFamily="34" charset="-120"/>
              </a:rPr>
              <a:t>54.8%</a:t>
            </a:r>
            <a:endParaRPr lang="en-US" sz="6800" dirty="0"/>
          </a:p>
        </p:txBody>
      </p:sp>
      <p:sp>
        <p:nvSpPr>
          <p:cNvPr id="15" name="Text 13"/>
          <p:cNvSpPr/>
          <p:nvPr/>
        </p:nvSpPr>
        <p:spPr>
          <a:xfrm>
            <a:off x="914400" y="4453128"/>
            <a:ext cx="5760720" cy="365760"/>
          </a:xfrm>
          <a:prstGeom prst="rect">
            <a:avLst/>
          </a:prstGeom>
          <a:noFill/>
          <a:ln/>
        </p:spPr>
        <p:txBody>
          <a:bodyPr wrap="square" lIns="0" tIns="0" rIns="0" bIns="0" rtlCol="0" anchor="ctr"/>
          <a:lstStyle/>
          <a:p>
            <a:pPr indent="0" marL="0">
              <a:buNone/>
            </a:pPr>
            <a:r>
              <a:rPr lang="en-US" sz="2000" dirty="0">
                <a:solidFill>
                  <a:srgbClr val="536777"/>
                </a:solidFill>
                <a:latin typeface="Arial" pitchFamily="34" charset="0"/>
                <a:ea typeface="Arial" pitchFamily="34" charset="-122"/>
                <a:cs typeface="Arial" pitchFamily="34" charset="-120"/>
              </a:rPr>
              <a:t>Visible notes carried forward</a:t>
            </a:r>
            <a:endParaRPr lang="en-US" sz="2000" dirty="0"/>
          </a:p>
        </p:txBody>
      </p:sp>
      <p:sp>
        <p:nvSpPr>
          <p:cNvPr id="16" name="Text 14"/>
          <p:cNvSpPr/>
          <p:nvPr/>
        </p:nvSpPr>
        <p:spPr>
          <a:xfrm>
            <a:off x="7635240" y="2523744"/>
            <a:ext cx="6089904" cy="347472"/>
          </a:xfrm>
          <a:prstGeom prst="rect">
            <a:avLst/>
          </a:prstGeom>
          <a:noFill/>
          <a:ln/>
        </p:spPr>
        <p:txBody>
          <a:bodyPr wrap="square" lIns="0" tIns="0" rIns="0" bIns="0" rtlCol="0" anchor="ctr"/>
          <a:lstStyle/>
          <a:p>
            <a:pPr indent="0" marL="0">
              <a:buNone/>
            </a:pPr>
            <a:r>
              <a:rPr lang="en-US" sz="2400" b="1" dirty="0">
                <a:solidFill>
                  <a:srgbClr val="102B46"/>
                </a:solidFill>
                <a:latin typeface="Arial" pitchFamily="34" charset="0"/>
                <a:ea typeface="Arial" pitchFamily="34" charset="-122"/>
                <a:cs typeface="Arial" pitchFamily="34" charset="-120"/>
              </a:rPr>
              <a:t>Provider Adapter harness</a:t>
            </a:r>
            <a:endParaRPr lang="en-US" sz="2400" dirty="0"/>
          </a:p>
        </p:txBody>
      </p:sp>
      <p:sp>
        <p:nvSpPr>
          <p:cNvPr id="17" name="Text 15"/>
          <p:cNvSpPr/>
          <p:nvPr/>
        </p:nvSpPr>
        <p:spPr>
          <a:xfrm>
            <a:off x="7635240" y="3163824"/>
            <a:ext cx="6089904" cy="960120"/>
          </a:xfrm>
          <a:prstGeom prst="rect">
            <a:avLst/>
          </a:prstGeom>
          <a:noFill/>
          <a:ln/>
        </p:spPr>
        <p:txBody>
          <a:bodyPr wrap="square" lIns="0" tIns="0" rIns="0" bIns="0" rtlCol="0" anchor="ctr"/>
          <a:lstStyle/>
          <a:p>
            <a:pPr indent="0" marL="0">
              <a:buNone/>
            </a:pPr>
            <a:r>
              <a:rPr lang="en-US" sz="6800" b="1" dirty="0">
                <a:solidFill>
                  <a:srgbClr val="087E87"/>
                </a:solidFill>
                <a:latin typeface="Arial" pitchFamily="34" charset="0"/>
                <a:ea typeface="Arial" pitchFamily="34" charset="-122"/>
                <a:cs typeface="Arial" pitchFamily="34" charset="-120"/>
              </a:rPr>
              <a:t>99.9%</a:t>
            </a:r>
            <a:endParaRPr lang="en-US" sz="6800" dirty="0"/>
          </a:p>
        </p:txBody>
      </p:sp>
      <p:sp>
        <p:nvSpPr>
          <p:cNvPr id="18" name="Text 16"/>
          <p:cNvSpPr/>
          <p:nvPr/>
        </p:nvSpPr>
        <p:spPr>
          <a:xfrm>
            <a:off x="7635240" y="4407408"/>
            <a:ext cx="6035040" cy="548640"/>
          </a:xfrm>
          <a:prstGeom prst="rect">
            <a:avLst/>
          </a:prstGeom>
          <a:noFill/>
          <a:ln/>
        </p:spPr>
        <p:txBody>
          <a:bodyPr wrap="square" lIns="0" tIns="0" rIns="0" bIns="0" rtlCol="0" anchor="ctr"/>
          <a:lstStyle/>
          <a:p>
            <a:pPr indent="0" marL="0">
              <a:buNone/>
            </a:pPr>
            <a:r>
              <a:rPr lang="en-US" sz="1900" dirty="0">
                <a:solidFill>
                  <a:srgbClr val="536777"/>
                </a:solidFill>
                <a:latin typeface="Arial" pitchFamily="34" charset="0"/>
                <a:ea typeface="Arial" pitchFamily="34" charset="-122"/>
                <a:cs typeface="Arial" pitchFamily="34" charset="-120"/>
              </a:rPr>
              <a:t>Reasoning state retained + context compaction</a:t>
            </a:r>
            <a:endParaRPr lang="en-US" sz="1900" dirty="0"/>
          </a:p>
        </p:txBody>
      </p:sp>
      <p:sp>
        <p:nvSpPr>
          <p:cNvPr id="19" name="Text 17"/>
          <p:cNvSpPr/>
          <p:nvPr/>
        </p:nvSpPr>
        <p:spPr>
          <a:xfrm>
            <a:off x="621792" y="5724144"/>
            <a:ext cx="13304520" cy="822960"/>
          </a:xfrm>
          <a:prstGeom prst="rect">
            <a:avLst/>
          </a:prstGeom>
          <a:noFill/>
          <a:ln/>
        </p:spPr>
        <p:txBody>
          <a:bodyPr wrap="square" lIns="0" tIns="0" rIns="0" bIns="0" rtlCol="0" anchor="ctr"/>
          <a:lstStyle/>
          <a:p>
            <a:pPr indent="0" marL="0">
              <a:buNone/>
            </a:pPr>
            <a:r>
              <a:rPr lang="en-US" sz="2900" b="1" dirty="0">
                <a:solidFill>
                  <a:srgbClr val="102B46"/>
                </a:solidFill>
                <a:latin typeface="Arial" pitchFamily="34" charset="0"/>
                <a:ea typeface="Arial" pitchFamily="34" charset="-122"/>
                <a:cs typeface="Arial" pitchFamily="34" charset="-120"/>
              </a:rPr>
              <a:t>A benchmark result describes an evaluated system — not just a model name.</a:t>
            </a:r>
            <a:endParaRPr lang="en-US" sz="2900" dirty="0"/>
          </a:p>
        </p:txBody>
      </p:sp>
      <p:sp>
        <p:nvSpPr>
          <p:cNvPr id="20" name="Text 18"/>
          <p:cNvSpPr/>
          <p:nvPr/>
        </p:nvSpPr>
        <p:spPr>
          <a:xfrm>
            <a:off x="621792" y="6839712"/>
            <a:ext cx="13304520" cy="338328"/>
          </a:xfrm>
          <a:prstGeom prst="rect">
            <a:avLst/>
          </a:prstGeom>
          <a:noFill/>
          <a:ln/>
        </p:spPr>
        <p:txBody>
          <a:bodyPr wrap="square" lIns="0" tIns="0" rIns="0" bIns="0" rtlCol="0" anchor="ctr"/>
          <a:lstStyle/>
          <a:p>
            <a:pPr indent="0" marL="0">
              <a:buNone/>
            </a:pPr>
            <a:r>
              <a:rPr lang="en-US" sz="1900" dirty="0">
                <a:solidFill>
                  <a:srgbClr val="536777"/>
                </a:solidFill>
                <a:latin typeface="Arial" pitchFamily="34" charset="0"/>
                <a:ea typeface="Arial" pitchFamily="34" charset="-122"/>
                <a:cs typeface="Arial" pitchFamily="34" charset="-120"/>
              </a:rPr>
              <a:t>Retaining internal reasoning state is not the same as an inspectable evidence trail.</a:t>
            </a:r>
            <a:endParaRPr lang="en-US" sz="1900" dirty="0"/>
          </a:p>
        </p:txBody>
      </p:sp>
      <p:sp>
        <p:nvSpPr>
          <p:cNvPr id="21" name="Text 19">
            <a:hlinkClick r:id="rId1"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ARC Prize, 3 September 2026 • not a current leaderboard claim or proof of AGI</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B46"/>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7ED0D0"/>
                </a:solidFill>
                <a:latin typeface="Arial" pitchFamily="34" charset="0"/>
                <a:ea typeface="Arial" pitchFamily="34" charset="-122"/>
                <a:cs typeface="Arial" pitchFamily="34" charset="-120"/>
              </a:rPr>
              <a:t>FRANÇOIS CHOLLET’S WORKFLOW ARGUMENT</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New ways to retain understanding and control</a:t>
            </a:r>
            <a:endParaRPr lang="en-US" sz="3600" dirty="0"/>
          </a:p>
        </p:txBody>
      </p:sp>
      <p:sp>
        <p:nvSpPr>
          <p:cNvPr id="5" name="Shape 3"/>
          <p:cNvSpPr/>
          <p:nvPr/>
        </p:nvSpPr>
        <p:spPr>
          <a:xfrm>
            <a:off x="621792" y="7845552"/>
            <a:ext cx="13368528" cy="0"/>
          </a:xfrm>
          <a:prstGeom prst="line">
            <a:avLst/>
          </a:prstGeom>
          <a:noFill/>
          <a:ln w="8890">
            <a:solidFill>
              <a:srgbClr val="416078"/>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B7CCD9"/>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B7CCD9"/>
                </a:solidFill>
                <a:latin typeface="Arial" pitchFamily="34" charset="0"/>
                <a:ea typeface="Arial" pitchFamily="34" charset="-122"/>
                <a:cs typeface="Arial" pitchFamily="34" charset="-120"/>
              </a:rPr>
              <a:t>François Chollet’s workflow argument</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06</a:t>
            </a:r>
            <a:endParaRPr lang="en-US" sz="1100" dirty="0"/>
          </a:p>
        </p:txBody>
      </p:sp>
      <p:sp>
        <p:nvSpPr>
          <p:cNvPr id="9" name="Text 7"/>
          <p:cNvSpPr/>
          <p:nvPr/>
        </p:nvSpPr>
        <p:spPr>
          <a:xfrm>
            <a:off x="786384" y="1856232"/>
            <a:ext cx="12911328" cy="1883664"/>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“not because LRMs got perfect but because they’re</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so fast at doing things that you can develop</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new workflows around them”</a:t>
            </a:r>
            <a:endParaRPr lang="en-US" sz="3400" dirty="0"/>
          </a:p>
        </p:txBody>
      </p:sp>
      <p:sp>
        <p:nvSpPr>
          <p:cNvPr id="10" name="Text 8"/>
          <p:cNvSpPr/>
          <p:nvPr/>
        </p:nvSpPr>
        <p:spPr>
          <a:xfrm>
            <a:off x="822960" y="4078224"/>
            <a:ext cx="12664440" cy="365760"/>
          </a:xfrm>
          <a:prstGeom prst="rect">
            <a:avLst/>
          </a:prstGeom>
          <a:noFill/>
          <a:ln/>
        </p:spPr>
        <p:txBody>
          <a:bodyPr wrap="square" lIns="0" tIns="0" rIns="0" bIns="0" rtlCol="0" anchor="ctr"/>
          <a:lstStyle/>
          <a:p>
            <a:pPr indent="0" marL="0">
              <a:buNone/>
            </a:pPr>
            <a:r>
              <a:rPr lang="en-US" sz="1500" dirty="0">
                <a:solidFill>
                  <a:srgbClr val="B7CCD9"/>
                </a:solidFill>
                <a:latin typeface="Arial" pitchFamily="34" charset="0"/>
                <a:ea typeface="Arial" pitchFamily="34" charset="-122"/>
                <a:cs typeface="Arial" pitchFamily="34" charset="-120"/>
              </a:rPr>
              <a:t>François Chollet  •  excerpt from the post supplied for this presentation</a:t>
            </a:r>
            <a:endParaRPr lang="en-US" sz="1500" dirty="0"/>
          </a:p>
        </p:txBody>
      </p:sp>
      <p:sp>
        <p:nvSpPr>
          <p:cNvPr id="11" name="Shape 9"/>
          <p:cNvSpPr/>
          <p:nvPr/>
        </p:nvSpPr>
        <p:spPr>
          <a:xfrm>
            <a:off x="795528" y="5065776"/>
            <a:ext cx="3118104" cy="804672"/>
          </a:xfrm>
          <a:prstGeom prst="rect">
            <a:avLst>
              <a:gd name="adj" fmla="val 13636"/>
            </a:avLst>
          </a:prstGeom>
          <a:solidFill>
            <a:srgbClr val="087E87"/>
          </a:solidFill>
          <a:ln w="12700">
            <a:solidFill>
              <a:srgbClr val="087E87"/>
            </a:solidFill>
            <a:prstDash val="solid"/>
          </a:ln>
        </p:spPr>
      </p:sp>
      <p:sp>
        <p:nvSpPr>
          <p:cNvPr id="12" name="Text 10"/>
          <p:cNvSpPr/>
          <p:nvPr/>
        </p:nvSpPr>
        <p:spPr>
          <a:xfrm>
            <a:off x="996696" y="5303520"/>
            <a:ext cx="2706624" cy="329184"/>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Test</a:t>
            </a:r>
            <a:endParaRPr lang="en-US" sz="2500" dirty="0"/>
          </a:p>
        </p:txBody>
      </p:sp>
      <p:sp>
        <p:nvSpPr>
          <p:cNvPr id="13" name="Shape 11"/>
          <p:cNvSpPr/>
          <p:nvPr/>
        </p:nvSpPr>
        <p:spPr>
          <a:xfrm>
            <a:off x="4160520" y="5065776"/>
            <a:ext cx="3118104" cy="804672"/>
          </a:xfrm>
          <a:prstGeom prst="rect">
            <a:avLst>
              <a:gd name="adj" fmla="val 13636"/>
            </a:avLst>
          </a:prstGeom>
          <a:solidFill>
            <a:srgbClr val="145F96"/>
          </a:solidFill>
          <a:ln w="12700">
            <a:solidFill>
              <a:srgbClr val="145F96"/>
            </a:solidFill>
            <a:prstDash val="solid"/>
          </a:ln>
        </p:spPr>
      </p:sp>
      <p:sp>
        <p:nvSpPr>
          <p:cNvPr id="14" name="Text 12"/>
          <p:cNvSpPr/>
          <p:nvPr/>
        </p:nvSpPr>
        <p:spPr>
          <a:xfrm>
            <a:off x="4361688" y="5303520"/>
            <a:ext cx="2706624" cy="329184"/>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Audit</a:t>
            </a:r>
            <a:endParaRPr lang="en-US" sz="2500" dirty="0"/>
          </a:p>
        </p:txBody>
      </p:sp>
      <p:sp>
        <p:nvSpPr>
          <p:cNvPr id="15" name="Shape 13"/>
          <p:cNvSpPr/>
          <p:nvPr/>
        </p:nvSpPr>
        <p:spPr>
          <a:xfrm>
            <a:off x="7525512" y="5065776"/>
            <a:ext cx="3118104" cy="804672"/>
          </a:xfrm>
          <a:prstGeom prst="rect">
            <a:avLst>
              <a:gd name="adj" fmla="val 13636"/>
            </a:avLst>
          </a:prstGeom>
          <a:solidFill>
            <a:srgbClr val="087E87"/>
          </a:solidFill>
          <a:ln w="12700">
            <a:solidFill>
              <a:srgbClr val="087E87"/>
            </a:solidFill>
            <a:prstDash val="solid"/>
          </a:ln>
        </p:spPr>
      </p:sp>
      <p:sp>
        <p:nvSpPr>
          <p:cNvPr id="16" name="Text 14"/>
          <p:cNvSpPr/>
          <p:nvPr/>
        </p:nvSpPr>
        <p:spPr>
          <a:xfrm>
            <a:off x="7726680" y="5303520"/>
            <a:ext cx="2706624" cy="329184"/>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Visualise</a:t>
            </a:r>
            <a:endParaRPr lang="en-US" sz="2500" dirty="0"/>
          </a:p>
        </p:txBody>
      </p:sp>
      <p:sp>
        <p:nvSpPr>
          <p:cNvPr id="17" name="Shape 15"/>
          <p:cNvSpPr/>
          <p:nvPr/>
        </p:nvSpPr>
        <p:spPr>
          <a:xfrm>
            <a:off x="10890504" y="5065776"/>
            <a:ext cx="3118104" cy="804672"/>
          </a:xfrm>
          <a:prstGeom prst="rect">
            <a:avLst>
              <a:gd name="adj" fmla="val 13636"/>
            </a:avLst>
          </a:prstGeom>
          <a:solidFill>
            <a:srgbClr val="145F96"/>
          </a:solidFill>
          <a:ln w="12700">
            <a:solidFill>
              <a:srgbClr val="145F96"/>
            </a:solidFill>
            <a:prstDash val="solid"/>
          </a:ln>
        </p:spPr>
      </p:sp>
      <p:sp>
        <p:nvSpPr>
          <p:cNvPr id="18" name="Text 16"/>
          <p:cNvSpPr/>
          <p:nvPr/>
        </p:nvSpPr>
        <p:spPr>
          <a:xfrm>
            <a:off x="11091672" y="5303520"/>
            <a:ext cx="2706624" cy="329184"/>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Challenge</a:t>
            </a:r>
            <a:endParaRPr lang="en-US" sz="2500" dirty="0"/>
          </a:p>
        </p:txBody>
      </p:sp>
      <p:sp>
        <p:nvSpPr>
          <p:cNvPr id="19" name="Text 17"/>
          <p:cNvSpPr/>
          <p:nvPr/>
        </p:nvSpPr>
        <p:spPr>
          <a:xfrm>
            <a:off x="804672" y="6501384"/>
            <a:ext cx="12984480" cy="621792"/>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Our application: make the evidence, interpretations and unanswered questions visible.</a:t>
            </a:r>
            <a:endParaRPr lang="en-US" sz="2600" dirty="0"/>
          </a:p>
        </p:txBody>
      </p:sp>
      <p:sp>
        <p:nvSpPr>
          <p:cNvPr id="20" name="Text 18">
            <a:hlinkClick r:id="rId1" tooltip=""/>
          </p:cNvPr>
          <p:cNvSpPr/>
          <p:nvPr/>
        </p:nvSpPr>
        <p:spPr>
          <a:xfrm>
            <a:off x="822960" y="7443216"/>
            <a:ext cx="13167360" cy="228600"/>
          </a:xfrm>
          <a:prstGeom prst="rect">
            <a:avLst/>
          </a:prstGeom>
          <a:noFill/>
          <a:ln/>
        </p:spPr>
        <p:txBody>
          <a:bodyPr wrap="square" lIns="0" tIns="0" rIns="0" bIns="0" rtlCol="0" anchor="ctr"/>
          <a:lstStyle/>
          <a:p>
            <a:pPr indent="0" marL="0">
              <a:buNone/>
            </a:pPr>
            <a:r>
              <a:rPr lang="en-US" sz="1050" u="sng" dirty="0">
                <a:solidFill>
                  <a:srgbClr val="B7CCD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LRM = large reasoning model • supplied quotation; original X post was not independently retrieved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HOW THE CORPUS WAS PREPARED</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From documents to evidence people can inspect</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How the corpus was prepared</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07</a:t>
            </a:r>
            <a:endParaRPr lang="en-US" sz="1100" dirty="0"/>
          </a:p>
        </p:txBody>
      </p:sp>
      <p:sp>
        <p:nvSpPr>
          <p:cNvPr id="9" name="Text 7"/>
          <p:cNvSpPr/>
          <p:nvPr/>
        </p:nvSpPr>
        <p:spPr>
          <a:xfrm>
            <a:off x="658368" y="1700784"/>
            <a:ext cx="4114800" cy="694944"/>
          </a:xfrm>
          <a:prstGeom prst="rect">
            <a:avLst/>
          </a:prstGeom>
          <a:noFill/>
          <a:ln/>
        </p:spPr>
        <p:txBody>
          <a:bodyPr wrap="square" lIns="0" tIns="0" rIns="0" bIns="0" rtlCol="0" anchor="ctr"/>
          <a:lstStyle/>
          <a:p>
            <a:pPr indent="0" marL="0">
              <a:buNone/>
            </a:pPr>
            <a:r>
              <a:rPr lang="en-US" sz="4700" b="1" dirty="0">
                <a:solidFill>
                  <a:srgbClr val="145F96"/>
                </a:solidFill>
                <a:latin typeface="Arial" pitchFamily="34" charset="0"/>
                <a:ea typeface="Arial" pitchFamily="34" charset="-122"/>
                <a:cs typeface="Arial" pitchFamily="34" charset="-120"/>
              </a:rPr>
              <a:t>513</a:t>
            </a:r>
            <a:endParaRPr lang="en-US" sz="4700" dirty="0"/>
          </a:p>
        </p:txBody>
      </p:sp>
      <p:sp>
        <p:nvSpPr>
          <p:cNvPr id="10" name="Text 8"/>
          <p:cNvSpPr/>
          <p:nvPr/>
        </p:nvSpPr>
        <p:spPr>
          <a:xfrm>
            <a:off x="658368" y="2551176"/>
            <a:ext cx="4114800" cy="576072"/>
          </a:xfrm>
          <a:prstGeom prst="rect">
            <a:avLst/>
          </a:prstGeom>
          <a:noFill/>
          <a:ln/>
        </p:spPr>
        <p:txBody>
          <a:bodyPr wrap="square" lIns="0" tIns="0" rIns="0" bIns="0" rtlCol="0" anchor="t"/>
          <a:lstStyle/>
          <a:p>
            <a:pPr indent="0" marL="0">
              <a:buNone/>
            </a:pPr>
            <a:r>
              <a:rPr lang="en-US" sz="1900" dirty="0">
                <a:solidFill>
                  <a:srgbClr val="172E43"/>
                </a:solidFill>
                <a:latin typeface="Arial" pitchFamily="34" charset="0"/>
                <a:ea typeface="Arial" pitchFamily="34" charset="-122"/>
                <a:cs typeface="Arial" pitchFamily="34" charset="-120"/>
              </a:rPr>
              <a:t>captured DMG and</a:t>
            </a:r>
            <a:endParaRPr lang="en-US" sz="1900" dirty="0"/>
          </a:p>
          <a:p>
            <a:pPr indent="0" marL="0">
              <a:buNone/>
            </a:pPr>
            <a:r>
              <a:rPr lang="en-US" sz="1900" dirty="0">
                <a:solidFill>
                  <a:srgbClr val="172E43"/>
                </a:solidFill>
                <a:latin typeface="Arial" pitchFamily="34" charset="0"/>
                <a:ea typeface="Arial" pitchFamily="34" charset="-122"/>
                <a:cs typeface="Arial" pitchFamily="34" charset="-120"/>
              </a:rPr>
              <a:t>ADM documents</a:t>
            </a:r>
            <a:endParaRPr lang="en-US" sz="1900" dirty="0"/>
          </a:p>
        </p:txBody>
      </p:sp>
      <p:sp>
        <p:nvSpPr>
          <p:cNvPr id="11" name="Text 9"/>
          <p:cNvSpPr/>
          <p:nvPr/>
        </p:nvSpPr>
        <p:spPr>
          <a:xfrm>
            <a:off x="5230368" y="1700784"/>
            <a:ext cx="4114800" cy="694944"/>
          </a:xfrm>
          <a:prstGeom prst="rect">
            <a:avLst/>
          </a:prstGeom>
          <a:noFill/>
          <a:ln/>
        </p:spPr>
        <p:txBody>
          <a:bodyPr wrap="square" lIns="0" tIns="0" rIns="0" bIns="0" rtlCol="0" anchor="ctr"/>
          <a:lstStyle/>
          <a:p>
            <a:pPr indent="0" marL="0">
              <a:buNone/>
            </a:pPr>
            <a:r>
              <a:rPr lang="en-US" sz="4700" b="1" dirty="0">
                <a:solidFill>
                  <a:srgbClr val="087E87"/>
                </a:solidFill>
                <a:latin typeface="Arial" pitchFamily="34" charset="0"/>
                <a:ea typeface="Arial" pitchFamily="34" charset="-122"/>
                <a:cs typeface="Arial" pitchFamily="34" charset="-120"/>
              </a:rPr>
              <a:t>19,090</a:t>
            </a:r>
            <a:endParaRPr lang="en-US" sz="4700" dirty="0"/>
          </a:p>
        </p:txBody>
      </p:sp>
      <p:sp>
        <p:nvSpPr>
          <p:cNvPr id="12" name="Text 10"/>
          <p:cNvSpPr/>
          <p:nvPr/>
        </p:nvSpPr>
        <p:spPr>
          <a:xfrm>
            <a:off x="5230368" y="2551176"/>
            <a:ext cx="4114800" cy="576072"/>
          </a:xfrm>
          <a:prstGeom prst="rect">
            <a:avLst/>
          </a:prstGeom>
          <a:noFill/>
          <a:ln/>
        </p:spPr>
        <p:txBody>
          <a:bodyPr wrap="square" lIns="0" tIns="0" rIns="0" bIns="0" rtlCol="0" anchor="t"/>
          <a:lstStyle/>
          <a:p>
            <a:pPr indent="0" marL="0">
              <a:buNone/>
            </a:pPr>
            <a:r>
              <a:rPr lang="en-US" sz="1900" dirty="0">
                <a:solidFill>
                  <a:srgbClr val="172E43"/>
                </a:solidFill>
                <a:latin typeface="Arial" pitchFamily="34" charset="0"/>
                <a:ea typeface="Arial" pitchFamily="34" charset="-122"/>
                <a:cs typeface="Arial" pitchFamily="34" charset="-120"/>
              </a:rPr>
              <a:t>pages in the</a:t>
            </a:r>
            <a:endParaRPr lang="en-US" sz="1900" dirty="0"/>
          </a:p>
          <a:p>
            <a:pPr indent="0" marL="0">
              <a:buNone/>
            </a:pPr>
            <a:r>
              <a:rPr lang="en-US" sz="1900" dirty="0">
                <a:solidFill>
                  <a:srgbClr val="172E43"/>
                </a:solidFill>
                <a:latin typeface="Arial" pitchFamily="34" charset="0"/>
                <a:ea typeface="Arial" pitchFamily="34" charset="-122"/>
                <a:cs typeface="Arial" pitchFamily="34" charset="-120"/>
              </a:rPr>
              <a:t>processing ledger</a:t>
            </a:r>
            <a:endParaRPr lang="en-US" sz="1900" dirty="0"/>
          </a:p>
        </p:txBody>
      </p:sp>
      <p:sp>
        <p:nvSpPr>
          <p:cNvPr id="13" name="Text 11"/>
          <p:cNvSpPr/>
          <p:nvPr/>
        </p:nvSpPr>
        <p:spPr>
          <a:xfrm>
            <a:off x="9802368" y="1700784"/>
            <a:ext cx="4023360" cy="694944"/>
          </a:xfrm>
          <a:prstGeom prst="rect">
            <a:avLst/>
          </a:prstGeom>
          <a:noFill/>
          <a:ln/>
        </p:spPr>
        <p:txBody>
          <a:bodyPr wrap="square" lIns="0" tIns="0" rIns="0" bIns="0" rtlCol="0" anchor="ctr"/>
          <a:lstStyle/>
          <a:p>
            <a:pPr indent="0" marL="0">
              <a:buNone/>
            </a:pPr>
            <a:r>
              <a:rPr lang="en-US" sz="4700" b="1" dirty="0">
                <a:solidFill>
                  <a:srgbClr val="966410"/>
                </a:solidFill>
                <a:latin typeface="Arial" pitchFamily="34" charset="0"/>
                <a:ea typeface="Arial" pitchFamily="34" charset="-122"/>
                <a:cs typeface="Arial" pitchFamily="34" charset="-120"/>
              </a:rPr>
              <a:t>893</a:t>
            </a:r>
            <a:endParaRPr lang="en-US" sz="4700" dirty="0"/>
          </a:p>
        </p:txBody>
      </p:sp>
      <p:sp>
        <p:nvSpPr>
          <p:cNvPr id="14" name="Text 12"/>
          <p:cNvSpPr/>
          <p:nvPr/>
        </p:nvSpPr>
        <p:spPr>
          <a:xfrm>
            <a:off x="9802368" y="2551176"/>
            <a:ext cx="4023360" cy="576072"/>
          </a:xfrm>
          <a:prstGeom prst="rect">
            <a:avLst/>
          </a:prstGeom>
          <a:noFill/>
          <a:ln/>
        </p:spPr>
        <p:txBody>
          <a:bodyPr wrap="square" lIns="0" tIns="0" rIns="0" bIns="0" rtlCol="0" anchor="t"/>
          <a:lstStyle/>
          <a:p>
            <a:pPr indent="0" marL="0">
              <a:buNone/>
            </a:pPr>
            <a:r>
              <a:rPr lang="en-US" sz="1900" dirty="0">
                <a:solidFill>
                  <a:srgbClr val="172E43"/>
                </a:solidFill>
                <a:latin typeface="Arial" pitchFamily="34" charset="0"/>
                <a:ea typeface="Arial" pitchFamily="34" charset="-122"/>
                <a:cs typeface="Arial" pitchFamily="34" charset="-120"/>
              </a:rPr>
              <a:t>pages with no usable</a:t>
            </a:r>
            <a:endParaRPr lang="en-US" sz="1900" dirty="0"/>
          </a:p>
          <a:p>
            <a:pPr indent="0" marL="0">
              <a:buNone/>
            </a:pPr>
            <a:r>
              <a:rPr lang="en-US" sz="1900" dirty="0">
                <a:solidFill>
                  <a:srgbClr val="172E43"/>
                </a:solidFill>
                <a:latin typeface="Arial" pitchFamily="34" charset="0"/>
                <a:ea typeface="Arial" pitchFamily="34" charset="-122"/>
                <a:cs typeface="Arial" pitchFamily="34" charset="-120"/>
              </a:rPr>
              <a:t>extracted text</a:t>
            </a:r>
            <a:endParaRPr lang="en-US" sz="1900" dirty="0"/>
          </a:p>
        </p:txBody>
      </p:sp>
      <p:sp>
        <p:nvSpPr>
          <p:cNvPr id="15" name="Text 13"/>
          <p:cNvSpPr/>
          <p:nvPr/>
        </p:nvSpPr>
        <p:spPr>
          <a:xfrm>
            <a:off x="621792" y="3694176"/>
            <a:ext cx="13350240" cy="301752"/>
          </a:xfrm>
          <a:prstGeom prst="rect">
            <a:avLst/>
          </a:prstGeom>
          <a:noFill/>
          <a:ln/>
        </p:spPr>
        <p:txBody>
          <a:bodyPr wrap="square" lIns="0" tIns="0" rIns="0" bIns="0" rtlCol="0" anchor="ctr"/>
          <a:lstStyle/>
          <a:p>
            <a:pPr indent="0" marL="0">
              <a:buNone/>
            </a:pPr>
            <a:r>
              <a:rPr lang="en-US" sz="1800" dirty="0">
                <a:solidFill>
                  <a:srgbClr val="536777"/>
                </a:solidFill>
                <a:latin typeface="Arial" pitchFamily="34" charset="0"/>
                <a:ea typeface="Arial" pitchFamily="34" charset="-122"/>
                <a:cs typeface="Arial" pitchFamily="34" charset="-120"/>
              </a:rPr>
              <a:t>OKF = Open Knowledge Format  •  OKF+ = the project’s additional profiles and conventions</a:t>
            </a:r>
            <a:endParaRPr lang="en-US" sz="1800" dirty="0"/>
          </a:p>
        </p:txBody>
      </p:sp>
      <p:sp>
        <p:nvSpPr>
          <p:cNvPr id="16" name="Shape 14"/>
          <p:cNvSpPr/>
          <p:nvPr/>
        </p:nvSpPr>
        <p:spPr>
          <a:xfrm>
            <a:off x="640080" y="4306824"/>
            <a:ext cx="2386584" cy="1243584"/>
          </a:xfrm>
          <a:prstGeom prst="rect">
            <a:avLst>
              <a:gd name="adj" fmla="val 8824"/>
            </a:avLst>
          </a:prstGeom>
          <a:solidFill>
            <a:srgbClr val="EDF3F7"/>
          </a:solidFill>
          <a:ln w="12700">
            <a:solidFill>
              <a:srgbClr val="EDF3F7"/>
            </a:solidFill>
            <a:prstDash val="solid"/>
          </a:ln>
        </p:spPr>
      </p:sp>
      <p:sp>
        <p:nvSpPr>
          <p:cNvPr id="17" name="Text 15"/>
          <p:cNvSpPr/>
          <p:nvPr/>
        </p:nvSpPr>
        <p:spPr>
          <a:xfrm>
            <a:off x="786384" y="4507992"/>
            <a:ext cx="2103120" cy="374904"/>
          </a:xfrm>
          <a:prstGeom prst="rect">
            <a:avLst/>
          </a:prstGeom>
          <a:noFill/>
          <a:ln/>
        </p:spPr>
        <p:txBody>
          <a:bodyPr wrap="square" lIns="0" tIns="0" rIns="0" bIns="0" rtlCol="0" anchor="ctr"/>
          <a:lstStyle/>
          <a:p>
            <a:pPr indent="0" marL="0">
              <a:buNone/>
            </a:pPr>
            <a:r>
              <a:rPr lang="en-US" sz="2200" b="1" dirty="0">
                <a:solidFill>
                  <a:srgbClr val="102B46"/>
                </a:solidFill>
                <a:latin typeface="Arial" pitchFamily="34" charset="0"/>
                <a:ea typeface="Arial" pitchFamily="34" charset="-122"/>
                <a:cs typeface="Arial" pitchFamily="34" charset="-120"/>
              </a:rPr>
              <a:t>Preserve</a:t>
            </a:r>
            <a:endParaRPr lang="en-US" sz="2200" dirty="0"/>
          </a:p>
        </p:txBody>
      </p:sp>
      <p:sp>
        <p:nvSpPr>
          <p:cNvPr id="18" name="Text 16"/>
          <p:cNvSpPr/>
          <p:nvPr/>
        </p:nvSpPr>
        <p:spPr>
          <a:xfrm>
            <a:off x="786384" y="5038344"/>
            <a:ext cx="2103120" cy="274320"/>
          </a:xfrm>
          <a:prstGeom prst="rect">
            <a:avLst/>
          </a:prstGeom>
          <a:noFill/>
          <a:ln/>
        </p:spPr>
        <p:txBody>
          <a:bodyPr wrap="square" lIns="0" tIns="0" rIns="0" bIns="0" rtlCol="0" anchor="ctr"/>
          <a:lstStyle/>
          <a:p>
            <a:pPr indent="0" marL="0">
              <a:buNone/>
            </a:pPr>
            <a:r>
              <a:rPr lang="en-US" sz="1500" dirty="0">
                <a:solidFill>
                  <a:srgbClr val="536777"/>
                </a:solidFill>
                <a:latin typeface="Arial" pitchFamily="34" charset="0"/>
                <a:ea typeface="Arial" pitchFamily="34" charset="-122"/>
                <a:cs typeface="Arial" pitchFamily="34" charset="-120"/>
              </a:rPr>
              <a:t>PDFs + hashes</a:t>
            </a:r>
            <a:endParaRPr lang="en-US" sz="1500" dirty="0"/>
          </a:p>
        </p:txBody>
      </p:sp>
      <p:sp>
        <p:nvSpPr>
          <p:cNvPr id="19" name="Shape 17"/>
          <p:cNvSpPr/>
          <p:nvPr/>
        </p:nvSpPr>
        <p:spPr>
          <a:xfrm>
            <a:off x="3099816" y="4928616"/>
            <a:ext cx="173736" cy="0"/>
          </a:xfrm>
          <a:prstGeom prst="line">
            <a:avLst/>
          </a:prstGeom>
          <a:noFill/>
          <a:ln w="25400">
            <a:solidFill>
              <a:srgbClr val="087E87"/>
            </a:solidFill>
            <a:prstDash val="solid"/>
            <a:tailEnd type="triangle"/>
          </a:ln>
        </p:spPr>
      </p:sp>
      <p:sp>
        <p:nvSpPr>
          <p:cNvPr id="20" name="Shape 18"/>
          <p:cNvSpPr/>
          <p:nvPr/>
        </p:nvSpPr>
        <p:spPr>
          <a:xfrm>
            <a:off x="3346704" y="4306824"/>
            <a:ext cx="2386584" cy="1243584"/>
          </a:xfrm>
          <a:prstGeom prst="rect">
            <a:avLst>
              <a:gd name="adj" fmla="val 8824"/>
            </a:avLst>
          </a:prstGeom>
          <a:solidFill>
            <a:srgbClr val="EDF3F7"/>
          </a:solidFill>
          <a:ln w="12700">
            <a:solidFill>
              <a:srgbClr val="EDF3F7"/>
            </a:solidFill>
            <a:prstDash val="solid"/>
          </a:ln>
        </p:spPr>
      </p:sp>
      <p:sp>
        <p:nvSpPr>
          <p:cNvPr id="21" name="Text 19"/>
          <p:cNvSpPr/>
          <p:nvPr/>
        </p:nvSpPr>
        <p:spPr>
          <a:xfrm>
            <a:off x="3493008" y="4507992"/>
            <a:ext cx="2103120" cy="374904"/>
          </a:xfrm>
          <a:prstGeom prst="rect">
            <a:avLst/>
          </a:prstGeom>
          <a:noFill/>
          <a:ln/>
        </p:spPr>
        <p:txBody>
          <a:bodyPr wrap="square" lIns="0" tIns="0" rIns="0" bIns="0" rtlCol="0" anchor="ctr"/>
          <a:lstStyle/>
          <a:p>
            <a:pPr indent="0" marL="0">
              <a:buNone/>
            </a:pPr>
            <a:r>
              <a:rPr lang="en-US" sz="2200" b="1" dirty="0">
                <a:solidFill>
                  <a:srgbClr val="102B46"/>
                </a:solidFill>
                <a:latin typeface="Arial" pitchFamily="34" charset="0"/>
                <a:ea typeface="Arial" pitchFamily="34" charset="-122"/>
                <a:cs typeface="Arial" pitchFamily="34" charset="-120"/>
              </a:rPr>
              <a:t>Extract</a:t>
            </a:r>
            <a:endParaRPr lang="en-US" sz="2200" dirty="0"/>
          </a:p>
        </p:txBody>
      </p:sp>
      <p:sp>
        <p:nvSpPr>
          <p:cNvPr id="22" name="Text 20"/>
          <p:cNvSpPr/>
          <p:nvPr/>
        </p:nvSpPr>
        <p:spPr>
          <a:xfrm>
            <a:off x="3493008" y="5038344"/>
            <a:ext cx="2103120" cy="274320"/>
          </a:xfrm>
          <a:prstGeom prst="rect">
            <a:avLst/>
          </a:prstGeom>
          <a:noFill/>
          <a:ln/>
        </p:spPr>
        <p:txBody>
          <a:bodyPr wrap="square" lIns="0" tIns="0" rIns="0" bIns="0" rtlCol="0" anchor="ctr"/>
          <a:lstStyle/>
          <a:p>
            <a:pPr indent="0" marL="0">
              <a:buNone/>
            </a:pPr>
            <a:r>
              <a:rPr lang="en-US" sz="1500" dirty="0">
                <a:solidFill>
                  <a:srgbClr val="536777"/>
                </a:solidFill>
                <a:latin typeface="Arial" pitchFamily="34" charset="0"/>
                <a:ea typeface="Arial" pitchFamily="34" charset="-122"/>
                <a:cs typeface="Arial" pitchFamily="34" charset="-120"/>
              </a:rPr>
              <a:t>Text + locators</a:t>
            </a:r>
            <a:endParaRPr lang="en-US" sz="1500" dirty="0"/>
          </a:p>
        </p:txBody>
      </p:sp>
      <p:sp>
        <p:nvSpPr>
          <p:cNvPr id="23" name="Shape 21"/>
          <p:cNvSpPr/>
          <p:nvPr/>
        </p:nvSpPr>
        <p:spPr>
          <a:xfrm>
            <a:off x="5806440" y="4928616"/>
            <a:ext cx="173736" cy="0"/>
          </a:xfrm>
          <a:prstGeom prst="line">
            <a:avLst/>
          </a:prstGeom>
          <a:noFill/>
          <a:ln w="25400">
            <a:solidFill>
              <a:srgbClr val="087E87"/>
            </a:solidFill>
            <a:prstDash val="solid"/>
            <a:tailEnd type="triangle"/>
          </a:ln>
        </p:spPr>
      </p:sp>
      <p:sp>
        <p:nvSpPr>
          <p:cNvPr id="24" name="Shape 22"/>
          <p:cNvSpPr/>
          <p:nvPr/>
        </p:nvSpPr>
        <p:spPr>
          <a:xfrm>
            <a:off x="6053328" y="4306824"/>
            <a:ext cx="2386584" cy="1243584"/>
          </a:xfrm>
          <a:prstGeom prst="rect">
            <a:avLst>
              <a:gd name="adj" fmla="val 8824"/>
            </a:avLst>
          </a:prstGeom>
          <a:solidFill>
            <a:srgbClr val="EDF3F7"/>
          </a:solidFill>
          <a:ln w="12700">
            <a:solidFill>
              <a:srgbClr val="EDF3F7"/>
            </a:solidFill>
            <a:prstDash val="solid"/>
          </a:ln>
        </p:spPr>
      </p:sp>
      <p:sp>
        <p:nvSpPr>
          <p:cNvPr id="25" name="Text 23"/>
          <p:cNvSpPr/>
          <p:nvPr/>
        </p:nvSpPr>
        <p:spPr>
          <a:xfrm>
            <a:off x="6199632" y="4507992"/>
            <a:ext cx="2103120" cy="374904"/>
          </a:xfrm>
          <a:prstGeom prst="rect">
            <a:avLst/>
          </a:prstGeom>
          <a:noFill/>
          <a:ln/>
        </p:spPr>
        <p:txBody>
          <a:bodyPr wrap="square" lIns="0" tIns="0" rIns="0" bIns="0" rtlCol="0" anchor="ctr"/>
          <a:lstStyle/>
          <a:p>
            <a:pPr indent="0" marL="0">
              <a:buNone/>
            </a:pPr>
            <a:r>
              <a:rPr lang="en-US" sz="2200" b="1" dirty="0">
                <a:solidFill>
                  <a:srgbClr val="102B46"/>
                </a:solidFill>
                <a:latin typeface="Arial" pitchFamily="34" charset="0"/>
                <a:ea typeface="Arial" pitchFamily="34" charset="-122"/>
                <a:cs typeface="Arial" pitchFamily="34" charset="-120"/>
              </a:rPr>
              <a:t>Structure</a:t>
            </a:r>
            <a:endParaRPr lang="en-US" sz="2200" dirty="0"/>
          </a:p>
        </p:txBody>
      </p:sp>
      <p:sp>
        <p:nvSpPr>
          <p:cNvPr id="26" name="Text 24"/>
          <p:cNvSpPr/>
          <p:nvPr/>
        </p:nvSpPr>
        <p:spPr>
          <a:xfrm>
            <a:off x="6199632" y="5038344"/>
            <a:ext cx="2103120" cy="274320"/>
          </a:xfrm>
          <a:prstGeom prst="rect">
            <a:avLst/>
          </a:prstGeom>
          <a:noFill/>
          <a:ln/>
        </p:spPr>
        <p:txBody>
          <a:bodyPr wrap="square" lIns="0" tIns="0" rIns="0" bIns="0" rtlCol="0" anchor="ctr"/>
          <a:lstStyle/>
          <a:p>
            <a:pPr indent="0" marL="0">
              <a:buNone/>
            </a:pPr>
            <a:r>
              <a:rPr lang="en-US" sz="1500" dirty="0">
                <a:solidFill>
                  <a:srgbClr val="536777"/>
                </a:solidFill>
                <a:latin typeface="Arial" pitchFamily="34" charset="0"/>
                <a:ea typeface="Arial" pitchFamily="34" charset="-122"/>
                <a:cs typeface="Arial" pitchFamily="34" charset="-120"/>
              </a:rPr>
              <a:t>Units + proposals</a:t>
            </a:r>
            <a:endParaRPr lang="en-US" sz="1500" dirty="0"/>
          </a:p>
        </p:txBody>
      </p:sp>
      <p:sp>
        <p:nvSpPr>
          <p:cNvPr id="27" name="Shape 25"/>
          <p:cNvSpPr/>
          <p:nvPr/>
        </p:nvSpPr>
        <p:spPr>
          <a:xfrm>
            <a:off x="8513064" y="4928616"/>
            <a:ext cx="173736" cy="0"/>
          </a:xfrm>
          <a:prstGeom prst="line">
            <a:avLst/>
          </a:prstGeom>
          <a:noFill/>
          <a:ln w="25400">
            <a:solidFill>
              <a:srgbClr val="087E87"/>
            </a:solidFill>
            <a:prstDash val="solid"/>
            <a:tailEnd type="triangle"/>
          </a:ln>
        </p:spPr>
      </p:sp>
      <p:sp>
        <p:nvSpPr>
          <p:cNvPr id="28" name="Shape 26"/>
          <p:cNvSpPr/>
          <p:nvPr/>
        </p:nvSpPr>
        <p:spPr>
          <a:xfrm>
            <a:off x="8759952" y="4306824"/>
            <a:ext cx="2386584" cy="1243584"/>
          </a:xfrm>
          <a:prstGeom prst="rect">
            <a:avLst>
              <a:gd name="adj" fmla="val 8824"/>
            </a:avLst>
          </a:prstGeom>
          <a:solidFill>
            <a:srgbClr val="EDF3F7"/>
          </a:solidFill>
          <a:ln w="12700">
            <a:solidFill>
              <a:srgbClr val="EDF3F7"/>
            </a:solidFill>
            <a:prstDash val="solid"/>
          </a:ln>
        </p:spPr>
      </p:sp>
      <p:sp>
        <p:nvSpPr>
          <p:cNvPr id="29" name="Text 27"/>
          <p:cNvSpPr/>
          <p:nvPr/>
        </p:nvSpPr>
        <p:spPr>
          <a:xfrm>
            <a:off x="8906256" y="4507992"/>
            <a:ext cx="2103120" cy="374904"/>
          </a:xfrm>
          <a:prstGeom prst="rect">
            <a:avLst/>
          </a:prstGeom>
          <a:noFill/>
          <a:ln/>
        </p:spPr>
        <p:txBody>
          <a:bodyPr wrap="square" lIns="0" tIns="0" rIns="0" bIns="0" rtlCol="0" anchor="ctr"/>
          <a:lstStyle/>
          <a:p>
            <a:pPr indent="0" marL="0">
              <a:buNone/>
            </a:pPr>
            <a:r>
              <a:rPr lang="en-US" sz="2200" b="1" dirty="0">
                <a:solidFill>
                  <a:srgbClr val="102B46"/>
                </a:solidFill>
                <a:latin typeface="Arial" pitchFamily="34" charset="0"/>
                <a:ea typeface="Arial" pitchFamily="34" charset="-122"/>
                <a:cs typeface="Arial" pitchFamily="34" charset="-120"/>
              </a:rPr>
              <a:t>Assemble</a:t>
            </a:r>
            <a:endParaRPr lang="en-US" sz="2200" dirty="0"/>
          </a:p>
        </p:txBody>
      </p:sp>
      <p:sp>
        <p:nvSpPr>
          <p:cNvPr id="30" name="Text 28"/>
          <p:cNvSpPr/>
          <p:nvPr/>
        </p:nvSpPr>
        <p:spPr>
          <a:xfrm>
            <a:off x="8906256" y="5038344"/>
            <a:ext cx="2103120" cy="274320"/>
          </a:xfrm>
          <a:prstGeom prst="rect">
            <a:avLst/>
          </a:prstGeom>
          <a:noFill/>
          <a:ln/>
        </p:spPr>
        <p:txBody>
          <a:bodyPr wrap="square" lIns="0" tIns="0" rIns="0" bIns="0" rtlCol="0" anchor="ctr"/>
          <a:lstStyle/>
          <a:p>
            <a:pPr indent="0" marL="0">
              <a:buNone/>
            </a:pPr>
            <a:r>
              <a:rPr lang="en-US" sz="1500" dirty="0">
                <a:solidFill>
                  <a:srgbClr val="536777"/>
                </a:solidFill>
                <a:latin typeface="Arial" pitchFamily="34" charset="0"/>
                <a:ea typeface="Arial" pitchFamily="34" charset="-122"/>
                <a:cs typeface="Arial" pitchFamily="34" charset="-120"/>
              </a:rPr>
              <a:t>Bounded evidence</a:t>
            </a:r>
            <a:endParaRPr lang="en-US" sz="1500" dirty="0"/>
          </a:p>
        </p:txBody>
      </p:sp>
      <p:sp>
        <p:nvSpPr>
          <p:cNvPr id="31" name="Shape 29"/>
          <p:cNvSpPr/>
          <p:nvPr/>
        </p:nvSpPr>
        <p:spPr>
          <a:xfrm>
            <a:off x="11219688" y="4928616"/>
            <a:ext cx="173736" cy="0"/>
          </a:xfrm>
          <a:prstGeom prst="line">
            <a:avLst/>
          </a:prstGeom>
          <a:noFill/>
          <a:ln w="25400">
            <a:solidFill>
              <a:srgbClr val="087E87"/>
            </a:solidFill>
            <a:prstDash val="solid"/>
            <a:tailEnd type="triangle"/>
          </a:ln>
        </p:spPr>
      </p:sp>
      <p:sp>
        <p:nvSpPr>
          <p:cNvPr id="32" name="Shape 30"/>
          <p:cNvSpPr/>
          <p:nvPr/>
        </p:nvSpPr>
        <p:spPr>
          <a:xfrm>
            <a:off x="11466576" y="4306824"/>
            <a:ext cx="2386584" cy="1243584"/>
          </a:xfrm>
          <a:prstGeom prst="rect">
            <a:avLst>
              <a:gd name="adj" fmla="val 8824"/>
            </a:avLst>
          </a:prstGeom>
          <a:solidFill>
            <a:srgbClr val="EDF3F7"/>
          </a:solidFill>
          <a:ln w="12700">
            <a:solidFill>
              <a:srgbClr val="EDF3F7"/>
            </a:solidFill>
            <a:prstDash val="solid"/>
          </a:ln>
        </p:spPr>
      </p:sp>
      <p:sp>
        <p:nvSpPr>
          <p:cNvPr id="33" name="Text 31"/>
          <p:cNvSpPr/>
          <p:nvPr/>
        </p:nvSpPr>
        <p:spPr>
          <a:xfrm>
            <a:off x="11612880" y="4507992"/>
            <a:ext cx="2103120" cy="374904"/>
          </a:xfrm>
          <a:prstGeom prst="rect">
            <a:avLst/>
          </a:prstGeom>
          <a:noFill/>
          <a:ln/>
        </p:spPr>
        <p:txBody>
          <a:bodyPr wrap="square" lIns="0" tIns="0" rIns="0" bIns="0" rtlCol="0" anchor="ctr"/>
          <a:lstStyle/>
          <a:p>
            <a:pPr indent="0" marL="0">
              <a:buNone/>
            </a:pPr>
            <a:r>
              <a:rPr lang="en-US" sz="2200" b="1" dirty="0">
                <a:solidFill>
                  <a:srgbClr val="102B46"/>
                </a:solidFill>
                <a:latin typeface="Arial" pitchFamily="34" charset="0"/>
                <a:ea typeface="Arial" pitchFamily="34" charset="-122"/>
                <a:cs typeface="Arial" pitchFamily="34" charset="-120"/>
              </a:rPr>
              <a:t>Inspect</a:t>
            </a:r>
            <a:endParaRPr lang="en-US" sz="2200" dirty="0"/>
          </a:p>
        </p:txBody>
      </p:sp>
      <p:sp>
        <p:nvSpPr>
          <p:cNvPr id="34" name="Text 32"/>
          <p:cNvSpPr/>
          <p:nvPr/>
        </p:nvSpPr>
        <p:spPr>
          <a:xfrm>
            <a:off x="11612880" y="5038344"/>
            <a:ext cx="2103120" cy="274320"/>
          </a:xfrm>
          <a:prstGeom prst="rect">
            <a:avLst/>
          </a:prstGeom>
          <a:noFill/>
          <a:ln/>
        </p:spPr>
        <p:txBody>
          <a:bodyPr wrap="square" lIns="0" tIns="0" rIns="0" bIns="0" rtlCol="0" anchor="ctr"/>
          <a:lstStyle/>
          <a:p>
            <a:pPr indent="0" marL="0">
              <a:buNone/>
            </a:pPr>
            <a:r>
              <a:rPr lang="en-US" sz="1500" dirty="0">
                <a:solidFill>
                  <a:srgbClr val="536777"/>
                </a:solidFill>
                <a:latin typeface="Arial" pitchFamily="34" charset="0"/>
                <a:ea typeface="Arial" pitchFamily="34" charset="-122"/>
                <a:cs typeface="Arial" pitchFamily="34" charset="-120"/>
              </a:rPr>
              <a:t>Sources + gaps</a:t>
            </a:r>
            <a:endParaRPr lang="en-US" sz="1500" dirty="0"/>
          </a:p>
        </p:txBody>
      </p:sp>
      <p:sp>
        <p:nvSpPr>
          <p:cNvPr id="35" name="Text 33"/>
          <p:cNvSpPr/>
          <p:nvPr/>
        </p:nvSpPr>
        <p:spPr>
          <a:xfrm>
            <a:off x="621792" y="6245352"/>
            <a:ext cx="13350240" cy="640080"/>
          </a:xfrm>
          <a:prstGeom prst="rect">
            <a:avLst/>
          </a:prstGeom>
          <a:noFill/>
          <a:ln/>
        </p:spPr>
        <p:txBody>
          <a:bodyPr wrap="square" lIns="0" tIns="0" rIns="0" bIns="0" rtlCol="0" anchor="ctr"/>
          <a:lstStyle/>
          <a:p>
            <a:pPr indent="0" marL="0">
              <a:buNone/>
            </a:pPr>
            <a:r>
              <a:rPr lang="en-US" sz="2800" b="1" dirty="0">
                <a:solidFill>
                  <a:srgbClr val="102B46"/>
                </a:solidFill>
                <a:latin typeface="Arial" pitchFamily="34" charset="0"/>
                <a:ea typeface="Arial" pitchFamily="34" charset="-122"/>
                <a:cs typeface="Arial" pitchFamily="34" charset="-120"/>
              </a:rPr>
              <a:t>Source text ≠ extracted text ≠ proposed meaning ≠ reviewed conclusion</a:t>
            </a:r>
            <a:endParaRPr lang="en-US" sz="2800" dirty="0"/>
          </a:p>
        </p:txBody>
      </p:sp>
      <p:sp>
        <p:nvSpPr>
          <p:cNvPr id="36" name="Text 34">
            <a:hlinkClick r:id="rId1"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27 September 2026 release record • processing coverage is not completeness or specialist review</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CONCEPTUAL ARCHITECTURE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Permission-aware AI: architecture and access</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Conceptual architecture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08</a:t>
            </a:r>
            <a:endParaRPr lang="en-US" sz="1100" dirty="0"/>
          </a:p>
        </p:txBody>
      </p:sp>
      <p:sp>
        <p:nvSpPr>
          <p:cNvPr id="9" name="Text 7"/>
          <p:cNvSpPr/>
          <p:nvPr/>
        </p:nvSpPr>
        <p:spPr>
          <a:xfrm>
            <a:off x="621792" y="1435608"/>
            <a:ext cx="13304520" cy="411480"/>
          </a:xfrm>
          <a:prstGeom prst="rect">
            <a:avLst/>
          </a:prstGeom>
          <a:noFill/>
          <a:ln/>
        </p:spPr>
        <p:txBody>
          <a:bodyPr wrap="square" lIns="0" tIns="0" rIns="0" bIns="0" rtlCol="0" anchor="ctr"/>
          <a:lstStyle/>
          <a:p>
            <a:pPr indent="0" marL="0">
              <a:buNone/>
            </a:pPr>
            <a:r>
              <a:rPr lang="en-US" sz="2500" b="1" dirty="0">
                <a:solidFill>
                  <a:srgbClr val="145F96"/>
                </a:solidFill>
                <a:latin typeface="Arial" pitchFamily="34" charset="0"/>
                <a:ea typeface="Arial" pitchFamily="34" charset="-122"/>
                <a:cs typeface="Arial" pitchFamily="34" charset="-120"/>
              </a:rPr>
              <a:t>Authorise before exposure — not only before answering</a:t>
            </a:r>
            <a:endParaRPr lang="en-US" sz="2500" dirty="0"/>
          </a:p>
        </p:txBody>
      </p:sp>
      <p:sp>
        <p:nvSpPr>
          <p:cNvPr id="10" name="Shape 8"/>
          <p:cNvSpPr/>
          <p:nvPr/>
        </p:nvSpPr>
        <p:spPr>
          <a:xfrm>
            <a:off x="749808" y="2121408"/>
            <a:ext cx="6409944" cy="594360"/>
          </a:xfrm>
          <a:prstGeom prst="rect">
            <a:avLst>
              <a:gd name="adj" fmla="val 18462"/>
            </a:avLst>
          </a:prstGeom>
          <a:solidFill>
            <a:srgbClr val="145F96"/>
          </a:solidFill>
          <a:ln w="12700">
            <a:solidFill>
              <a:srgbClr val="145F96"/>
            </a:solidFill>
            <a:prstDash val="solid"/>
          </a:ln>
        </p:spPr>
      </p:sp>
      <p:sp>
        <p:nvSpPr>
          <p:cNvPr id="11" name="Text 9"/>
          <p:cNvSpPr/>
          <p:nvPr/>
        </p:nvSpPr>
        <p:spPr>
          <a:xfrm>
            <a:off x="932688" y="2240280"/>
            <a:ext cx="457200" cy="3200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6</a:t>
            </a:r>
            <a:endParaRPr lang="en-US" sz="2600" dirty="0"/>
          </a:p>
        </p:txBody>
      </p:sp>
      <p:sp>
        <p:nvSpPr>
          <p:cNvPr id="12" name="Shape 10"/>
          <p:cNvSpPr/>
          <p:nvPr/>
        </p:nvSpPr>
        <p:spPr>
          <a:xfrm>
            <a:off x="1490472" y="2221992"/>
            <a:ext cx="0" cy="393192"/>
          </a:xfrm>
          <a:prstGeom prst="line">
            <a:avLst/>
          </a:prstGeom>
          <a:noFill/>
          <a:ln w="12700">
            <a:solidFill>
              <a:srgbClr val="B5CCD5"/>
            </a:solidFill>
            <a:prstDash val="solid"/>
          </a:ln>
        </p:spPr>
      </p:sp>
      <p:sp>
        <p:nvSpPr>
          <p:cNvPr id="13" name="Text 11"/>
          <p:cNvSpPr/>
          <p:nvPr/>
        </p:nvSpPr>
        <p:spPr>
          <a:xfrm>
            <a:off x="1691640" y="2189988"/>
            <a:ext cx="5212080" cy="2286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Policy and governance</a:t>
            </a:r>
            <a:endParaRPr lang="en-US" sz="1800" dirty="0"/>
          </a:p>
        </p:txBody>
      </p:sp>
      <p:sp>
        <p:nvSpPr>
          <p:cNvPr id="14" name="Text 12"/>
          <p:cNvSpPr/>
          <p:nvPr/>
        </p:nvSpPr>
        <p:spPr>
          <a:xfrm>
            <a:off x="1691640" y="2455164"/>
            <a:ext cx="5212080" cy="164592"/>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Principles, standards and accountability</a:t>
            </a:r>
            <a:endParaRPr lang="en-US" sz="1150" dirty="0"/>
          </a:p>
        </p:txBody>
      </p:sp>
      <p:sp>
        <p:nvSpPr>
          <p:cNvPr id="15" name="Shape 13"/>
          <p:cNvSpPr/>
          <p:nvPr/>
        </p:nvSpPr>
        <p:spPr>
          <a:xfrm>
            <a:off x="749808" y="2788920"/>
            <a:ext cx="6409944" cy="594360"/>
          </a:xfrm>
          <a:prstGeom prst="rect">
            <a:avLst>
              <a:gd name="adj" fmla="val 18462"/>
            </a:avLst>
          </a:prstGeom>
          <a:solidFill>
            <a:srgbClr val="237CA3"/>
          </a:solidFill>
          <a:ln w="12700">
            <a:solidFill>
              <a:srgbClr val="237CA3"/>
            </a:solidFill>
            <a:prstDash val="solid"/>
          </a:ln>
        </p:spPr>
      </p:sp>
      <p:sp>
        <p:nvSpPr>
          <p:cNvPr id="16" name="Text 14"/>
          <p:cNvSpPr/>
          <p:nvPr/>
        </p:nvSpPr>
        <p:spPr>
          <a:xfrm>
            <a:off x="932688" y="2907792"/>
            <a:ext cx="457200" cy="3200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p:txBody>
      </p:sp>
      <p:sp>
        <p:nvSpPr>
          <p:cNvPr id="17" name="Shape 15"/>
          <p:cNvSpPr/>
          <p:nvPr/>
        </p:nvSpPr>
        <p:spPr>
          <a:xfrm>
            <a:off x="1490472" y="2889504"/>
            <a:ext cx="0" cy="393192"/>
          </a:xfrm>
          <a:prstGeom prst="line">
            <a:avLst/>
          </a:prstGeom>
          <a:noFill/>
          <a:ln w="12700">
            <a:solidFill>
              <a:srgbClr val="B5CCD5"/>
            </a:solidFill>
            <a:prstDash val="solid"/>
          </a:ln>
        </p:spPr>
      </p:sp>
      <p:sp>
        <p:nvSpPr>
          <p:cNvPr id="18" name="Text 16"/>
          <p:cNvSpPr/>
          <p:nvPr/>
        </p:nvSpPr>
        <p:spPr>
          <a:xfrm>
            <a:off x="1691640" y="2857500"/>
            <a:ext cx="5212080" cy="2286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Federation control</a:t>
            </a:r>
            <a:endParaRPr lang="en-US" sz="1800" dirty="0"/>
          </a:p>
        </p:txBody>
      </p:sp>
      <p:sp>
        <p:nvSpPr>
          <p:cNvPr id="19" name="Text 17"/>
          <p:cNvSpPr/>
          <p:nvPr/>
        </p:nvSpPr>
        <p:spPr>
          <a:xfrm>
            <a:off x="1691640" y="3122676"/>
            <a:ext cx="5212080" cy="164592"/>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Cross-organisational trust and usage contracts</a:t>
            </a:r>
            <a:endParaRPr lang="en-US" sz="1150" dirty="0"/>
          </a:p>
        </p:txBody>
      </p:sp>
      <p:sp>
        <p:nvSpPr>
          <p:cNvPr id="20" name="Shape 18"/>
          <p:cNvSpPr/>
          <p:nvPr/>
        </p:nvSpPr>
        <p:spPr>
          <a:xfrm>
            <a:off x="749808" y="3456432"/>
            <a:ext cx="6409944" cy="594360"/>
          </a:xfrm>
          <a:prstGeom prst="rect">
            <a:avLst>
              <a:gd name="adj" fmla="val 18462"/>
            </a:avLst>
          </a:prstGeom>
          <a:solidFill>
            <a:srgbClr val="087E87"/>
          </a:solidFill>
          <a:ln w="12700">
            <a:solidFill>
              <a:srgbClr val="087E87"/>
            </a:solidFill>
            <a:prstDash val="solid"/>
          </a:ln>
        </p:spPr>
      </p:sp>
      <p:sp>
        <p:nvSpPr>
          <p:cNvPr id="21" name="Text 19"/>
          <p:cNvSpPr/>
          <p:nvPr/>
        </p:nvSpPr>
        <p:spPr>
          <a:xfrm>
            <a:off x="932688" y="3575304"/>
            <a:ext cx="457200" cy="3200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22" name="Shape 20"/>
          <p:cNvSpPr/>
          <p:nvPr/>
        </p:nvSpPr>
        <p:spPr>
          <a:xfrm>
            <a:off x="1490472" y="3557016"/>
            <a:ext cx="0" cy="393192"/>
          </a:xfrm>
          <a:prstGeom prst="line">
            <a:avLst/>
          </a:prstGeom>
          <a:noFill/>
          <a:ln w="12700">
            <a:solidFill>
              <a:srgbClr val="B5CCD5"/>
            </a:solidFill>
            <a:prstDash val="solid"/>
          </a:ln>
        </p:spPr>
      </p:sp>
      <p:sp>
        <p:nvSpPr>
          <p:cNvPr id="23" name="Text 21"/>
          <p:cNvSpPr/>
          <p:nvPr/>
        </p:nvSpPr>
        <p:spPr>
          <a:xfrm>
            <a:off x="1691640" y="3525012"/>
            <a:ext cx="5212080" cy="2286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Agent orchestration</a:t>
            </a:r>
            <a:endParaRPr lang="en-US" sz="1800" dirty="0"/>
          </a:p>
        </p:txBody>
      </p:sp>
      <p:sp>
        <p:nvSpPr>
          <p:cNvPr id="24" name="Text 22"/>
          <p:cNvSpPr/>
          <p:nvPr/>
        </p:nvSpPr>
        <p:spPr>
          <a:xfrm>
            <a:off x="1691640" y="3790188"/>
            <a:ext cx="5212080" cy="164592"/>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Workflows, context assembly and model visibility</a:t>
            </a:r>
            <a:endParaRPr lang="en-US" sz="1150" dirty="0"/>
          </a:p>
        </p:txBody>
      </p:sp>
      <p:sp>
        <p:nvSpPr>
          <p:cNvPr id="25" name="Shape 23"/>
          <p:cNvSpPr/>
          <p:nvPr/>
        </p:nvSpPr>
        <p:spPr>
          <a:xfrm>
            <a:off x="749808" y="4123944"/>
            <a:ext cx="6409944" cy="594360"/>
          </a:xfrm>
          <a:prstGeom prst="rect">
            <a:avLst>
              <a:gd name="adj" fmla="val 18462"/>
            </a:avLst>
          </a:prstGeom>
          <a:solidFill>
            <a:srgbClr val="43813B"/>
          </a:solidFill>
          <a:ln w="12700">
            <a:solidFill>
              <a:srgbClr val="43813B"/>
            </a:solidFill>
            <a:prstDash val="solid"/>
          </a:ln>
        </p:spPr>
      </p:sp>
      <p:sp>
        <p:nvSpPr>
          <p:cNvPr id="26" name="Text 24"/>
          <p:cNvSpPr/>
          <p:nvPr/>
        </p:nvSpPr>
        <p:spPr>
          <a:xfrm>
            <a:off x="932688" y="4242816"/>
            <a:ext cx="457200" cy="3200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27" name="Shape 25"/>
          <p:cNvSpPr/>
          <p:nvPr/>
        </p:nvSpPr>
        <p:spPr>
          <a:xfrm>
            <a:off x="1490472" y="4224528"/>
            <a:ext cx="0" cy="393192"/>
          </a:xfrm>
          <a:prstGeom prst="line">
            <a:avLst/>
          </a:prstGeom>
          <a:noFill/>
          <a:ln w="12700">
            <a:solidFill>
              <a:srgbClr val="B5CCD5"/>
            </a:solidFill>
            <a:prstDash val="solid"/>
          </a:ln>
        </p:spPr>
      </p:sp>
      <p:sp>
        <p:nvSpPr>
          <p:cNvPr id="28" name="Text 26"/>
          <p:cNvSpPr/>
          <p:nvPr/>
        </p:nvSpPr>
        <p:spPr>
          <a:xfrm>
            <a:off x="1691640" y="4192524"/>
            <a:ext cx="5212080" cy="2286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Zero-trust security and identity</a:t>
            </a:r>
            <a:endParaRPr lang="en-US" sz="1800" dirty="0"/>
          </a:p>
        </p:txBody>
      </p:sp>
      <p:sp>
        <p:nvSpPr>
          <p:cNvPr id="29" name="Text 27"/>
          <p:cNvSpPr/>
          <p:nvPr/>
        </p:nvSpPr>
        <p:spPr>
          <a:xfrm>
            <a:off x="1691640" y="4457700"/>
            <a:ext cx="5212080" cy="164592"/>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Identity, authorisation and continuous verification</a:t>
            </a:r>
            <a:endParaRPr lang="en-US" sz="1150" dirty="0"/>
          </a:p>
        </p:txBody>
      </p:sp>
      <p:sp>
        <p:nvSpPr>
          <p:cNvPr id="30" name="Shape 28"/>
          <p:cNvSpPr/>
          <p:nvPr/>
        </p:nvSpPr>
        <p:spPr>
          <a:xfrm>
            <a:off x="749808" y="4791456"/>
            <a:ext cx="6409944" cy="594360"/>
          </a:xfrm>
          <a:prstGeom prst="rect">
            <a:avLst>
              <a:gd name="adj" fmla="val 18462"/>
            </a:avLst>
          </a:prstGeom>
          <a:solidFill>
            <a:srgbClr val="648B35"/>
          </a:solidFill>
          <a:ln w="12700">
            <a:solidFill>
              <a:srgbClr val="648B35"/>
            </a:solidFill>
            <a:prstDash val="solid"/>
          </a:ln>
        </p:spPr>
      </p:sp>
      <p:sp>
        <p:nvSpPr>
          <p:cNvPr id="31" name="Text 29"/>
          <p:cNvSpPr/>
          <p:nvPr/>
        </p:nvSpPr>
        <p:spPr>
          <a:xfrm>
            <a:off x="932688" y="4910328"/>
            <a:ext cx="457200" cy="3200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32" name="Shape 30"/>
          <p:cNvSpPr/>
          <p:nvPr/>
        </p:nvSpPr>
        <p:spPr>
          <a:xfrm>
            <a:off x="1490472" y="4892040"/>
            <a:ext cx="0" cy="393192"/>
          </a:xfrm>
          <a:prstGeom prst="line">
            <a:avLst/>
          </a:prstGeom>
          <a:noFill/>
          <a:ln w="12700">
            <a:solidFill>
              <a:srgbClr val="B5CCD5"/>
            </a:solidFill>
            <a:prstDash val="solid"/>
          </a:ln>
        </p:spPr>
      </p:sp>
      <p:sp>
        <p:nvSpPr>
          <p:cNvPr id="33" name="Text 31"/>
          <p:cNvSpPr/>
          <p:nvPr/>
        </p:nvSpPr>
        <p:spPr>
          <a:xfrm>
            <a:off x="1691640" y="4860036"/>
            <a:ext cx="5212080" cy="2286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Local execution and tools</a:t>
            </a:r>
            <a:endParaRPr lang="en-US" sz="1800" dirty="0"/>
          </a:p>
        </p:txBody>
      </p:sp>
      <p:sp>
        <p:nvSpPr>
          <p:cNvPr id="34" name="Text 32"/>
          <p:cNvSpPr/>
          <p:nvPr/>
        </p:nvSpPr>
        <p:spPr>
          <a:xfrm>
            <a:off x="1691640" y="5125212"/>
            <a:ext cx="5212080" cy="164592"/>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Sources, connectors and trusted environments</a:t>
            </a:r>
            <a:endParaRPr lang="en-US" sz="1150" dirty="0"/>
          </a:p>
        </p:txBody>
      </p:sp>
      <p:sp>
        <p:nvSpPr>
          <p:cNvPr id="35" name="Shape 33"/>
          <p:cNvSpPr/>
          <p:nvPr/>
        </p:nvSpPr>
        <p:spPr>
          <a:xfrm>
            <a:off x="749808" y="5458968"/>
            <a:ext cx="6409944" cy="594360"/>
          </a:xfrm>
          <a:prstGeom prst="rect">
            <a:avLst>
              <a:gd name="adj" fmla="val 18462"/>
            </a:avLst>
          </a:prstGeom>
          <a:solidFill>
            <a:srgbClr val="536C83"/>
          </a:solidFill>
          <a:ln w="12700">
            <a:solidFill>
              <a:srgbClr val="536C83"/>
            </a:solidFill>
            <a:prstDash val="solid"/>
          </a:ln>
        </p:spPr>
      </p:sp>
      <p:sp>
        <p:nvSpPr>
          <p:cNvPr id="36" name="Text 34"/>
          <p:cNvSpPr/>
          <p:nvPr/>
        </p:nvSpPr>
        <p:spPr>
          <a:xfrm>
            <a:off x="932688" y="5577840"/>
            <a:ext cx="457200" cy="3200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37" name="Shape 35"/>
          <p:cNvSpPr/>
          <p:nvPr/>
        </p:nvSpPr>
        <p:spPr>
          <a:xfrm>
            <a:off x="1490472" y="5559552"/>
            <a:ext cx="0" cy="393192"/>
          </a:xfrm>
          <a:prstGeom prst="line">
            <a:avLst/>
          </a:prstGeom>
          <a:noFill/>
          <a:ln w="12700">
            <a:solidFill>
              <a:srgbClr val="B5CCD5"/>
            </a:solidFill>
            <a:prstDash val="solid"/>
          </a:ln>
        </p:spPr>
      </p:sp>
      <p:sp>
        <p:nvSpPr>
          <p:cNvPr id="38" name="Text 36"/>
          <p:cNvSpPr/>
          <p:nvPr/>
        </p:nvSpPr>
        <p:spPr>
          <a:xfrm>
            <a:off x="1691640" y="5527548"/>
            <a:ext cx="5212080" cy="2286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Decentralised data stores</a:t>
            </a:r>
            <a:endParaRPr lang="en-US" sz="1800" dirty="0"/>
          </a:p>
        </p:txBody>
      </p:sp>
      <p:sp>
        <p:nvSpPr>
          <p:cNvPr id="39" name="Text 37"/>
          <p:cNvSpPr/>
          <p:nvPr/>
        </p:nvSpPr>
        <p:spPr>
          <a:xfrm>
            <a:off x="1691640" y="5792724"/>
            <a:ext cx="5212080" cy="164592"/>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Distributed data, provenance and lifecycle</a:t>
            </a:r>
            <a:endParaRPr lang="en-US" sz="1150" dirty="0"/>
          </a:p>
        </p:txBody>
      </p:sp>
      <p:sp>
        <p:nvSpPr>
          <p:cNvPr id="40" name="Shape 38"/>
          <p:cNvSpPr/>
          <p:nvPr/>
        </p:nvSpPr>
        <p:spPr>
          <a:xfrm>
            <a:off x="585216" y="3456432"/>
            <a:ext cx="0" cy="1911096"/>
          </a:xfrm>
          <a:prstGeom prst="line">
            <a:avLst/>
          </a:prstGeom>
          <a:noFill/>
          <a:ln w="38100">
            <a:solidFill>
              <a:srgbClr val="087E87"/>
            </a:solidFill>
            <a:prstDash val="solid"/>
          </a:ln>
        </p:spPr>
      </p:sp>
      <p:sp>
        <p:nvSpPr>
          <p:cNvPr id="41" name="Shape 39"/>
          <p:cNvSpPr/>
          <p:nvPr/>
        </p:nvSpPr>
        <p:spPr>
          <a:xfrm>
            <a:off x="585216" y="3456432"/>
            <a:ext cx="128016" cy="0"/>
          </a:xfrm>
          <a:prstGeom prst="line">
            <a:avLst/>
          </a:prstGeom>
          <a:noFill/>
          <a:ln w="38100">
            <a:solidFill>
              <a:srgbClr val="087E87"/>
            </a:solidFill>
            <a:prstDash val="solid"/>
          </a:ln>
        </p:spPr>
      </p:sp>
      <p:sp>
        <p:nvSpPr>
          <p:cNvPr id="42" name="Shape 40"/>
          <p:cNvSpPr/>
          <p:nvPr/>
        </p:nvSpPr>
        <p:spPr>
          <a:xfrm>
            <a:off x="585216" y="5367528"/>
            <a:ext cx="128016" cy="0"/>
          </a:xfrm>
          <a:prstGeom prst="line">
            <a:avLst/>
          </a:prstGeom>
          <a:noFill/>
          <a:ln w="38100">
            <a:solidFill>
              <a:srgbClr val="087E87"/>
            </a:solidFill>
            <a:prstDash val="solid"/>
          </a:ln>
        </p:spPr>
      </p:sp>
      <p:sp>
        <p:nvSpPr>
          <p:cNvPr id="43" name="Text 41"/>
          <p:cNvSpPr/>
          <p:nvPr/>
        </p:nvSpPr>
        <p:spPr>
          <a:xfrm>
            <a:off x="758952" y="6345936"/>
            <a:ext cx="6400800" cy="329184"/>
          </a:xfrm>
          <a:prstGeom prst="rect">
            <a:avLst/>
          </a:prstGeom>
          <a:noFill/>
          <a:ln/>
        </p:spPr>
        <p:txBody>
          <a:bodyPr wrap="square" lIns="0" tIns="0" rIns="0" bIns="0" rtlCol="0" anchor="ctr"/>
          <a:lstStyle/>
          <a:p>
            <a:pPr indent="0" marL="0">
              <a:buNone/>
            </a:pPr>
            <a:r>
              <a:rPr lang="en-US" sz="1500" b="1" dirty="0">
                <a:solidFill>
                  <a:srgbClr val="087E87"/>
                </a:solidFill>
                <a:latin typeface="Arial" pitchFamily="34" charset="0"/>
                <a:ea typeface="Arial" pitchFamily="34" charset="-122"/>
                <a:cs typeface="Arial" pitchFamily="34" charset="-120"/>
              </a:rPr>
              <a:t>Context assembly and authorisation span layers 2–4.</a:t>
            </a:r>
            <a:endParaRPr lang="en-US" sz="1500" dirty="0"/>
          </a:p>
        </p:txBody>
      </p:sp>
      <p:sp>
        <p:nvSpPr>
          <p:cNvPr id="44" name="Text 42"/>
          <p:cNvSpPr/>
          <p:nvPr/>
        </p:nvSpPr>
        <p:spPr>
          <a:xfrm>
            <a:off x="7580376" y="2029968"/>
            <a:ext cx="6400800" cy="384048"/>
          </a:xfrm>
          <a:prstGeom prst="rect">
            <a:avLst/>
          </a:prstGeom>
          <a:noFill/>
          <a:ln/>
        </p:spPr>
        <p:txBody>
          <a:bodyPr wrap="square" lIns="0" tIns="0" rIns="0" bIns="0" rtlCol="0" anchor="ctr"/>
          <a:lstStyle/>
          <a:p>
            <a:pPr indent="0" marL="0">
              <a:buNone/>
            </a:pPr>
            <a:r>
              <a:rPr lang="en-US" sz="2500" b="1" dirty="0">
                <a:solidFill>
                  <a:srgbClr val="102B46"/>
                </a:solidFill>
                <a:latin typeface="Arial" pitchFamily="34" charset="0"/>
                <a:ea typeface="Arial" pitchFamily="34" charset="-122"/>
                <a:cs typeface="Arial" pitchFamily="34" charset="-120"/>
              </a:rPr>
              <a:t>Permission-aware flow</a:t>
            </a:r>
            <a:endParaRPr lang="en-US" sz="2500" dirty="0"/>
          </a:p>
        </p:txBody>
      </p:sp>
      <p:sp>
        <p:nvSpPr>
          <p:cNvPr id="45" name="Shape 43"/>
          <p:cNvSpPr/>
          <p:nvPr/>
        </p:nvSpPr>
        <p:spPr>
          <a:xfrm>
            <a:off x="7589520" y="2651760"/>
            <a:ext cx="6419088" cy="365760"/>
          </a:xfrm>
          <a:prstGeom prst="rect">
            <a:avLst>
              <a:gd name="adj" fmla="val 30000"/>
            </a:avLst>
          </a:prstGeom>
          <a:solidFill>
            <a:srgbClr val="EDF3F7"/>
          </a:solidFill>
          <a:ln w="12700">
            <a:solidFill>
              <a:srgbClr val="EDF3F7"/>
            </a:solidFill>
            <a:prstDash val="solid"/>
          </a:ln>
        </p:spPr>
      </p:sp>
      <p:sp>
        <p:nvSpPr>
          <p:cNvPr id="46" name="Shape 44"/>
          <p:cNvSpPr/>
          <p:nvPr/>
        </p:nvSpPr>
        <p:spPr>
          <a:xfrm>
            <a:off x="7708392" y="2697480"/>
            <a:ext cx="274320" cy="274320"/>
          </a:xfrm>
          <a:prstGeom prst="ellipse">
            <a:avLst/>
          </a:prstGeom>
          <a:solidFill>
            <a:srgbClr val="145F96"/>
          </a:solidFill>
          <a:ln w="12700">
            <a:solidFill>
              <a:srgbClr val="FFFFFF">
                <a:alpha val="0"/>
              </a:srgbClr>
            </a:solidFill>
            <a:prstDash val="solid"/>
          </a:ln>
        </p:spPr>
      </p:sp>
      <p:sp>
        <p:nvSpPr>
          <p:cNvPr id="47" name="Text 45"/>
          <p:cNvSpPr/>
          <p:nvPr/>
        </p:nvSpPr>
        <p:spPr>
          <a:xfrm>
            <a:off x="7708392" y="2709367"/>
            <a:ext cx="27432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48" name="Text 46"/>
          <p:cNvSpPr/>
          <p:nvPr/>
        </p:nvSpPr>
        <p:spPr>
          <a:xfrm>
            <a:off x="8156448" y="2731313"/>
            <a:ext cx="5641848" cy="219456"/>
          </a:xfrm>
          <a:prstGeom prst="rect">
            <a:avLst/>
          </a:prstGeom>
          <a:noFill/>
          <a:ln/>
        </p:spPr>
        <p:txBody>
          <a:bodyPr wrap="square" lIns="0" tIns="0" rIns="0" bIns="0" rtlCol="0" anchor="ctr"/>
          <a:lstStyle/>
          <a:p>
            <a:pPr indent="0" marL="0">
              <a:buNone/>
            </a:pPr>
            <a:r>
              <a:rPr lang="en-US" sz="1440" dirty="0">
                <a:solidFill>
                  <a:srgbClr val="102B46"/>
                </a:solidFill>
                <a:latin typeface="Arial" pitchFamily="34" charset="0"/>
                <a:ea typeface="Arial" pitchFamily="34" charset="-122"/>
                <a:cs typeface="Arial" pitchFamily="34" charset="-120"/>
              </a:rPr>
              <a:t>Bind identity, delegation, workload and purpose</a:t>
            </a:r>
            <a:endParaRPr lang="en-US" sz="1440" dirty="0"/>
          </a:p>
        </p:txBody>
      </p:sp>
      <p:sp>
        <p:nvSpPr>
          <p:cNvPr id="49" name="Shape 47"/>
          <p:cNvSpPr/>
          <p:nvPr/>
        </p:nvSpPr>
        <p:spPr>
          <a:xfrm>
            <a:off x="7589520" y="3090672"/>
            <a:ext cx="6419088" cy="365760"/>
          </a:xfrm>
          <a:prstGeom prst="rect">
            <a:avLst>
              <a:gd name="adj" fmla="val 30000"/>
            </a:avLst>
          </a:prstGeom>
          <a:solidFill>
            <a:srgbClr val="EDF3F7"/>
          </a:solidFill>
          <a:ln w="12700">
            <a:solidFill>
              <a:srgbClr val="EDF3F7"/>
            </a:solidFill>
            <a:prstDash val="solid"/>
          </a:ln>
        </p:spPr>
      </p:sp>
      <p:sp>
        <p:nvSpPr>
          <p:cNvPr id="50" name="Shape 48"/>
          <p:cNvSpPr/>
          <p:nvPr/>
        </p:nvSpPr>
        <p:spPr>
          <a:xfrm>
            <a:off x="7708392" y="3136392"/>
            <a:ext cx="274320" cy="274320"/>
          </a:xfrm>
          <a:prstGeom prst="ellipse">
            <a:avLst/>
          </a:prstGeom>
          <a:solidFill>
            <a:srgbClr val="145F96"/>
          </a:solidFill>
          <a:ln w="12700">
            <a:solidFill>
              <a:srgbClr val="FFFFFF">
                <a:alpha val="0"/>
              </a:srgbClr>
            </a:solidFill>
            <a:prstDash val="solid"/>
          </a:ln>
        </p:spPr>
      </p:sp>
      <p:sp>
        <p:nvSpPr>
          <p:cNvPr id="51" name="Text 49"/>
          <p:cNvSpPr/>
          <p:nvPr/>
        </p:nvSpPr>
        <p:spPr>
          <a:xfrm>
            <a:off x="7708392" y="3148279"/>
            <a:ext cx="27432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52" name="Text 50"/>
          <p:cNvSpPr/>
          <p:nvPr/>
        </p:nvSpPr>
        <p:spPr>
          <a:xfrm>
            <a:off x="8156448" y="3170225"/>
            <a:ext cx="5641848" cy="219456"/>
          </a:xfrm>
          <a:prstGeom prst="rect">
            <a:avLst/>
          </a:prstGeom>
          <a:noFill/>
          <a:ln/>
        </p:spPr>
        <p:txBody>
          <a:bodyPr wrap="square" lIns="0" tIns="0" rIns="0" bIns="0" rtlCol="0" anchor="ctr"/>
          <a:lstStyle/>
          <a:p>
            <a:pPr indent="0" marL="0">
              <a:buNone/>
            </a:pPr>
            <a:r>
              <a:rPr lang="en-US" sz="1440" dirty="0">
                <a:solidFill>
                  <a:srgbClr val="102B46"/>
                </a:solidFill>
                <a:latin typeface="Arial" pitchFamily="34" charset="0"/>
                <a:ea typeface="Arial" pitchFamily="34" charset="-122"/>
                <a:cs typeface="Arial" pitchFamily="34" charset="-120"/>
              </a:rPr>
              <a:t>Discover only permitted metadata</a:t>
            </a:r>
            <a:endParaRPr lang="en-US" sz="1440" dirty="0"/>
          </a:p>
        </p:txBody>
      </p:sp>
      <p:sp>
        <p:nvSpPr>
          <p:cNvPr id="53" name="Shape 51"/>
          <p:cNvSpPr/>
          <p:nvPr/>
        </p:nvSpPr>
        <p:spPr>
          <a:xfrm>
            <a:off x="7589520" y="3529584"/>
            <a:ext cx="6419088" cy="365760"/>
          </a:xfrm>
          <a:prstGeom prst="rect">
            <a:avLst>
              <a:gd name="adj" fmla="val 30000"/>
            </a:avLst>
          </a:prstGeom>
          <a:solidFill>
            <a:srgbClr val="E5F4F2"/>
          </a:solidFill>
          <a:ln w="12700">
            <a:solidFill>
              <a:srgbClr val="E5F4F2"/>
            </a:solidFill>
            <a:prstDash val="solid"/>
          </a:ln>
        </p:spPr>
      </p:sp>
      <p:sp>
        <p:nvSpPr>
          <p:cNvPr id="54" name="Shape 52"/>
          <p:cNvSpPr/>
          <p:nvPr/>
        </p:nvSpPr>
        <p:spPr>
          <a:xfrm>
            <a:off x="7708392" y="3575304"/>
            <a:ext cx="274320" cy="274320"/>
          </a:xfrm>
          <a:prstGeom prst="ellipse">
            <a:avLst/>
          </a:prstGeom>
          <a:solidFill>
            <a:srgbClr val="087E87"/>
          </a:solidFill>
          <a:ln w="12700">
            <a:solidFill>
              <a:srgbClr val="FFFFFF">
                <a:alpha val="0"/>
              </a:srgbClr>
            </a:solidFill>
            <a:prstDash val="solid"/>
          </a:ln>
        </p:spPr>
      </p:sp>
      <p:sp>
        <p:nvSpPr>
          <p:cNvPr id="55" name="Text 53"/>
          <p:cNvSpPr/>
          <p:nvPr/>
        </p:nvSpPr>
        <p:spPr>
          <a:xfrm>
            <a:off x="7708392" y="3587191"/>
            <a:ext cx="27432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56" name="Text 54"/>
          <p:cNvSpPr/>
          <p:nvPr/>
        </p:nvSpPr>
        <p:spPr>
          <a:xfrm>
            <a:off x="8156448" y="3609137"/>
            <a:ext cx="5641848" cy="219456"/>
          </a:xfrm>
          <a:prstGeom prst="rect">
            <a:avLst/>
          </a:prstGeom>
          <a:noFill/>
          <a:ln/>
        </p:spPr>
        <p:txBody>
          <a:bodyPr wrap="square" lIns="0" tIns="0" rIns="0" bIns="0" rtlCol="0" anchor="ctr"/>
          <a:lstStyle/>
          <a:p>
            <a:pPr indent="0" marL="0">
              <a:buNone/>
            </a:pPr>
            <a:r>
              <a:rPr lang="en-US" sz="1440" b="1" dirty="0">
                <a:solidFill>
                  <a:srgbClr val="102B46"/>
                </a:solidFill>
                <a:latin typeface="Arial" pitchFamily="34" charset="0"/>
                <a:ea typeface="Arial" pitchFamily="34" charset="-122"/>
                <a:cs typeface="Arial" pitchFamily="34" charset="-120"/>
              </a:rPr>
              <a:t>Authorise retrieval and assembly</a:t>
            </a:r>
            <a:endParaRPr lang="en-US" sz="1440" dirty="0"/>
          </a:p>
        </p:txBody>
      </p:sp>
      <p:sp>
        <p:nvSpPr>
          <p:cNvPr id="57" name="Shape 55"/>
          <p:cNvSpPr/>
          <p:nvPr/>
        </p:nvSpPr>
        <p:spPr>
          <a:xfrm>
            <a:off x="7589520" y="3968496"/>
            <a:ext cx="6419088" cy="365760"/>
          </a:xfrm>
          <a:prstGeom prst="rect">
            <a:avLst>
              <a:gd name="adj" fmla="val 30000"/>
            </a:avLst>
          </a:prstGeom>
          <a:solidFill>
            <a:srgbClr val="EDF3F7"/>
          </a:solidFill>
          <a:ln w="12700">
            <a:solidFill>
              <a:srgbClr val="EDF3F7"/>
            </a:solidFill>
            <a:prstDash val="solid"/>
          </a:ln>
        </p:spPr>
      </p:sp>
      <p:sp>
        <p:nvSpPr>
          <p:cNvPr id="58" name="Shape 56"/>
          <p:cNvSpPr/>
          <p:nvPr/>
        </p:nvSpPr>
        <p:spPr>
          <a:xfrm>
            <a:off x="7708392" y="4014216"/>
            <a:ext cx="274320" cy="274320"/>
          </a:xfrm>
          <a:prstGeom prst="ellipse">
            <a:avLst/>
          </a:prstGeom>
          <a:solidFill>
            <a:srgbClr val="145F96"/>
          </a:solidFill>
          <a:ln w="12700">
            <a:solidFill>
              <a:srgbClr val="FFFFFF">
                <a:alpha val="0"/>
              </a:srgbClr>
            </a:solidFill>
            <a:prstDash val="solid"/>
          </a:ln>
        </p:spPr>
      </p:sp>
      <p:sp>
        <p:nvSpPr>
          <p:cNvPr id="59" name="Text 57"/>
          <p:cNvSpPr/>
          <p:nvPr/>
        </p:nvSpPr>
        <p:spPr>
          <a:xfrm>
            <a:off x="7708392" y="4026103"/>
            <a:ext cx="27432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60" name="Text 58"/>
          <p:cNvSpPr/>
          <p:nvPr/>
        </p:nvSpPr>
        <p:spPr>
          <a:xfrm>
            <a:off x="8156448" y="4048049"/>
            <a:ext cx="5641848" cy="219456"/>
          </a:xfrm>
          <a:prstGeom prst="rect">
            <a:avLst/>
          </a:prstGeom>
          <a:noFill/>
          <a:ln/>
        </p:spPr>
        <p:txBody>
          <a:bodyPr wrap="square" lIns="0" tIns="0" rIns="0" bIns="0" rtlCol="0" anchor="ctr"/>
          <a:lstStyle/>
          <a:p>
            <a:pPr indent="0" marL="0">
              <a:buNone/>
            </a:pPr>
            <a:r>
              <a:rPr lang="en-US" sz="1440" dirty="0">
                <a:solidFill>
                  <a:srgbClr val="102B46"/>
                </a:solidFill>
                <a:latin typeface="Arial" pitchFamily="34" charset="0"/>
                <a:ea typeface="Arial" pitchFamily="34" charset="-122"/>
                <a:cs typeface="Arial" pitchFamily="34" charset="-120"/>
              </a:rPr>
              <a:t>Re-check permissions at each material hop</a:t>
            </a:r>
            <a:endParaRPr lang="en-US" sz="1440" dirty="0"/>
          </a:p>
        </p:txBody>
      </p:sp>
      <p:sp>
        <p:nvSpPr>
          <p:cNvPr id="61" name="Shape 59"/>
          <p:cNvSpPr/>
          <p:nvPr/>
        </p:nvSpPr>
        <p:spPr>
          <a:xfrm>
            <a:off x="7589520" y="4407408"/>
            <a:ext cx="6419088" cy="365760"/>
          </a:xfrm>
          <a:prstGeom prst="rect">
            <a:avLst>
              <a:gd name="adj" fmla="val 30000"/>
            </a:avLst>
          </a:prstGeom>
          <a:solidFill>
            <a:srgbClr val="E5F4F2"/>
          </a:solidFill>
          <a:ln w="12700">
            <a:solidFill>
              <a:srgbClr val="E5F4F2"/>
            </a:solidFill>
            <a:prstDash val="solid"/>
          </a:ln>
        </p:spPr>
      </p:sp>
      <p:sp>
        <p:nvSpPr>
          <p:cNvPr id="62" name="Shape 60"/>
          <p:cNvSpPr/>
          <p:nvPr/>
        </p:nvSpPr>
        <p:spPr>
          <a:xfrm>
            <a:off x="7708392" y="4453128"/>
            <a:ext cx="274320" cy="274320"/>
          </a:xfrm>
          <a:prstGeom prst="ellipse">
            <a:avLst/>
          </a:prstGeom>
          <a:solidFill>
            <a:srgbClr val="087E87"/>
          </a:solidFill>
          <a:ln w="12700">
            <a:solidFill>
              <a:srgbClr val="FFFFFF">
                <a:alpha val="0"/>
              </a:srgbClr>
            </a:solidFill>
            <a:prstDash val="solid"/>
          </a:ln>
        </p:spPr>
      </p:sp>
      <p:sp>
        <p:nvSpPr>
          <p:cNvPr id="63" name="Text 61"/>
          <p:cNvSpPr/>
          <p:nvPr/>
        </p:nvSpPr>
        <p:spPr>
          <a:xfrm>
            <a:off x="7708392" y="4465015"/>
            <a:ext cx="27432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64" name="Text 62"/>
          <p:cNvSpPr/>
          <p:nvPr/>
        </p:nvSpPr>
        <p:spPr>
          <a:xfrm>
            <a:off x="8156448" y="4486961"/>
            <a:ext cx="5641848" cy="219456"/>
          </a:xfrm>
          <a:prstGeom prst="rect">
            <a:avLst/>
          </a:prstGeom>
          <a:noFill/>
          <a:ln/>
        </p:spPr>
        <p:txBody>
          <a:bodyPr wrap="square" lIns="0" tIns="0" rIns="0" bIns="0" rtlCol="0" anchor="ctr"/>
          <a:lstStyle/>
          <a:p>
            <a:pPr indent="0" marL="0">
              <a:buNone/>
            </a:pPr>
            <a:r>
              <a:rPr lang="en-US" sz="1440" b="1" dirty="0">
                <a:solidFill>
                  <a:srgbClr val="102B46"/>
                </a:solidFill>
                <a:latin typeface="Arial" pitchFamily="34" charset="0"/>
                <a:ea typeface="Arial" pitchFamily="34" charset="-122"/>
                <a:cs typeface="Arial" pitchFamily="34" charset="-120"/>
              </a:rPr>
              <a:t>Assemble minimal, authorised model context</a:t>
            </a:r>
            <a:endParaRPr lang="en-US" sz="1440" dirty="0"/>
          </a:p>
        </p:txBody>
      </p:sp>
      <p:sp>
        <p:nvSpPr>
          <p:cNvPr id="65" name="Shape 63"/>
          <p:cNvSpPr/>
          <p:nvPr/>
        </p:nvSpPr>
        <p:spPr>
          <a:xfrm>
            <a:off x="7589520" y="4846320"/>
            <a:ext cx="6419088" cy="365760"/>
          </a:xfrm>
          <a:prstGeom prst="rect">
            <a:avLst>
              <a:gd name="adj" fmla="val 30000"/>
            </a:avLst>
          </a:prstGeom>
          <a:solidFill>
            <a:srgbClr val="EDF3F7"/>
          </a:solidFill>
          <a:ln w="12700">
            <a:solidFill>
              <a:srgbClr val="EDF3F7"/>
            </a:solidFill>
            <a:prstDash val="solid"/>
          </a:ln>
        </p:spPr>
      </p:sp>
      <p:sp>
        <p:nvSpPr>
          <p:cNvPr id="66" name="Shape 64"/>
          <p:cNvSpPr/>
          <p:nvPr/>
        </p:nvSpPr>
        <p:spPr>
          <a:xfrm>
            <a:off x="7708392" y="4892040"/>
            <a:ext cx="274320" cy="274320"/>
          </a:xfrm>
          <a:prstGeom prst="ellipse">
            <a:avLst/>
          </a:prstGeom>
          <a:solidFill>
            <a:srgbClr val="145F96"/>
          </a:solidFill>
          <a:ln w="12700">
            <a:solidFill>
              <a:srgbClr val="FFFFFF">
                <a:alpha val="0"/>
              </a:srgbClr>
            </a:solidFill>
            <a:prstDash val="solid"/>
          </a:ln>
        </p:spPr>
      </p:sp>
      <p:sp>
        <p:nvSpPr>
          <p:cNvPr id="67" name="Text 65"/>
          <p:cNvSpPr/>
          <p:nvPr/>
        </p:nvSpPr>
        <p:spPr>
          <a:xfrm>
            <a:off x="7708392" y="4903927"/>
            <a:ext cx="27432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68" name="Text 66"/>
          <p:cNvSpPr/>
          <p:nvPr/>
        </p:nvSpPr>
        <p:spPr>
          <a:xfrm>
            <a:off x="8156448" y="4925873"/>
            <a:ext cx="5641848" cy="219456"/>
          </a:xfrm>
          <a:prstGeom prst="rect">
            <a:avLst/>
          </a:prstGeom>
          <a:noFill/>
          <a:ln/>
        </p:spPr>
        <p:txBody>
          <a:bodyPr wrap="square" lIns="0" tIns="0" rIns="0" bIns="0" rtlCol="0" anchor="ctr"/>
          <a:lstStyle/>
          <a:p>
            <a:pPr indent="0" marL="0">
              <a:buNone/>
            </a:pPr>
            <a:r>
              <a:rPr lang="en-US" sz="1440" dirty="0">
                <a:solidFill>
                  <a:srgbClr val="102B46"/>
                </a:solidFill>
                <a:latin typeface="Arial" pitchFamily="34" charset="0"/>
                <a:ea typeface="Arial" pitchFamily="34" charset="-122"/>
                <a:cs typeface="Arial" pitchFamily="34" charset="-120"/>
              </a:rPr>
              <a:t>Authorise output disclosure</a:t>
            </a:r>
            <a:endParaRPr lang="en-US" sz="1440" dirty="0"/>
          </a:p>
        </p:txBody>
      </p:sp>
      <p:sp>
        <p:nvSpPr>
          <p:cNvPr id="69" name="Shape 67"/>
          <p:cNvSpPr/>
          <p:nvPr/>
        </p:nvSpPr>
        <p:spPr>
          <a:xfrm>
            <a:off x="7589520" y="5285232"/>
            <a:ext cx="6419088" cy="365760"/>
          </a:xfrm>
          <a:prstGeom prst="rect">
            <a:avLst>
              <a:gd name="adj" fmla="val 30000"/>
            </a:avLst>
          </a:prstGeom>
          <a:solidFill>
            <a:srgbClr val="E5F4F2"/>
          </a:solidFill>
          <a:ln w="12700">
            <a:solidFill>
              <a:srgbClr val="E5F4F2"/>
            </a:solidFill>
            <a:prstDash val="solid"/>
          </a:ln>
        </p:spPr>
      </p:sp>
      <p:sp>
        <p:nvSpPr>
          <p:cNvPr id="70" name="Shape 68"/>
          <p:cNvSpPr/>
          <p:nvPr/>
        </p:nvSpPr>
        <p:spPr>
          <a:xfrm>
            <a:off x="7708392" y="5330952"/>
            <a:ext cx="274320" cy="274320"/>
          </a:xfrm>
          <a:prstGeom prst="ellipse">
            <a:avLst/>
          </a:prstGeom>
          <a:solidFill>
            <a:srgbClr val="087E87"/>
          </a:solidFill>
          <a:ln w="12700">
            <a:solidFill>
              <a:srgbClr val="FFFFFF">
                <a:alpha val="0"/>
              </a:srgbClr>
            </a:solidFill>
            <a:prstDash val="solid"/>
          </a:ln>
        </p:spPr>
      </p:sp>
      <p:sp>
        <p:nvSpPr>
          <p:cNvPr id="71" name="Text 69"/>
          <p:cNvSpPr/>
          <p:nvPr/>
        </p:nvSpPr>
        <p:spPr>
          <a:xfrm>
            <a:off x="7708392" y="5342839"/>
            <a:ext cx="27432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72" name="Text 70"/>
          <p:cNvSpPr/>
          <p:nvPr/>
        </p:nvSpPr>
        <p:spPr>
          <a:xfrm>
            <a:off x="8156448" y="5364785"/>
            <a:ext cx="5641848" cy="219456"/>
          </a:xfrm>
          <a:prstGeom prst="rect">
            <a:avLst/>
          </a:prstGeom>
          <a:noFill/>
          <a:ln/>
        </p:spPr>
        <p:txBody>
          <a:bodyPr wrap="square" lIns="0" tIns="0" rIns="0" bIns="0" rtlCol="0" anchor="ctr"/>
          <a:lstStyle/>
          <a:p>
            <a:pPr indent="0" marL="0">
              <a:buNone/>
            </a:pPr>
            <a:r>
              <a:rPr lang="en-US" sz="1440" b="1" dirty="0">
                <a:solidFill>
                  <a:srgbClr val="102B46"/>
                </a:solidFill>
                <a:latin typeface="Arial" pitchFamily="34" charset="0"/>
                <a:ea typeface="Arial" pitchFamily="34" charset="-122"/>
                <a:cs typeface="Arial" pitchFamily="34" charset="-120"/>
              </a:rPr>
              <a:t>Authorise actions separately</a:t>
            </a:r>
            <a:endParaRPr lang="en-US" sz="1440" dirty="0"/>
          </a:p>
        </p:txBody>
      </p:sp>
      <p:sp>
        <p:nvSpPr>
          <p:cNvPr id="73" name="Shape 71"/>
          <p:cNvSpPr/>
          <p:nvPr/>
        </p:nvSpPr>
        <p:spPr>
          <a:xfrm>
            <a:off x="7589520" y="5879592"/>
            <a:ext cx="6419088" cy="987552"/>
          </a:xfrm>
          <a:prstGeom prst="rect">
            <a:avLst>
              <a:gd name="adj" fmla="val 11111"/>
            </a:avLst>
          </a:prstGeom>
          <a:solidFill>
            <a:srgbClr val="E7F2FA"/>
          </a:solidFill>
          <a:ln w="12700">
            <a:solidFill>
              <a:srgbClr val="E7F2FA"/>
            </a:solidFill>
            <a:prstDash val="solid"/>
          </a:ln>
        </p:spPr>
      </p:sp>
      <p:sp>
        <p:nvSpPr>
          <p:cNvPr id="74" name="Text 72"/>
          <p:cNvSpPr/>
          <p:nvPr/>
        </p:nvSpPr>
        <p:spPr>
          <a:xfrm>
            <a:off x="7790688" y="6035040"/>
            <a:ext cx="5998464" cy="301752"/>
          </a:xfrm>
          <a:prstGeom prst="rect">
            <a:avLst/>
          </a:prstGeom>
          <a:noFill/>
          <a:ln/>
        </p:spPr>
        <p:txBody>
          <a:bodyPr wrap="square" lIns="0" tIns="0" rIns="0" bIns="0" rtlCol="0" anchor="ctr"/>
          <a:lstStyle/>
          <a:p>
            <a:pPr indent="0" marL="0">
              <a:buNone/>
            </a:pPr>
            <a:r>
              <a:rPr lang="en-US" sz="1800" b="1" dirty="0">
                <a:solidFill>
                  <a:srgbClr val="145F96"/>
                </a:solidFill>
                <a:latin typeface="Arial" pitchFamily="34" charset="0"/>
                <a:ea typeface="Arial" pitchFamily="34" charset="-122"/>
                <a:cs typeface="Arial" pitchFamily="34" charset="-120"/>
              </a:rPr>
              <a:t>OKF: knowledge, not access enforcement</a:t>
            </a:r>
            <a:endParaRPr lang="en-US" sz="1800" dirty="0"/>
          </a:p>
        </p:txBody>
      </p:sp>
      <p:sp>
        <p:nvSpPr>
          <p:cNvPr id="75" name="Text 73"/>
          <p:cNvSpPr/>
          <p:nvPr/>
        </p:nvSpPr>
        <p:spPr>
          <a:xfrm>
            <a:off x="7790688" y="6437376"/>
            <a:ext cx="5998464" cy="310896"/>
          </a:xfrm>
          <a:prstGeom prst="rect">
            <a:avLst/>
          </a:prstGeom>
          <a:noFill/>
          <a:ln/>
        </p:spPr>
        <p:txBody>
          <a:bodyPr wrap="square" lIns="0" tIns="0" rIns="0" bIns="0" rtlCol="0" anchor="ctr"/>
          <a:lstStyle/>
          <a:p>
            <a:pPr indent="0" marL="0">
              <a:buNone/>
            </a:pPr>
            <a:r>
              <a:rPr lang="en-US" sz="1280" dirty="0">
                <a:solidFill>
                  <a:srgbClr val="172E43"/>
                </a:solidFill>
                <a:latin typeface="Arial" pitchFamily="34" charset="0"/>
                <a:ea typeface="Arial" pitchFamily="34" charset="-122"/>
                <a:cs typeface="Arial" pitchFamily="34" charset="-120"/>
              </a:rPr>
              <a:t>Primary home: L2  •  Supports L4 and L5</a:t>
            </a:r>
            <a:endParaRPr lang="en-US" sz="1280" dirty="0"/>
          </a:p>
          <a:p>
            <a:pPr indent="0" marL="0">
              <a:buNone/>
            </a:pPr>
            <a:r>
              <a:rPr lang="en-US" sz="1280" dirty="0">
                <a:solidFill>
                  <a:srgbClr val="172E43"/>
                </a:solidFill>
                <a:latin typeface="Arial" pitchFamily="34" charset="0"/>
                <a:ea typeface="Arial" pitchFamily="34" charset="-122"/>
                <a:cs typeface="Arial" pitchFamily="34" charset="-120"/>
              </a:rPr>
              <a:t>No live access-control truth, credentials or allow/deny decisions.</a:t>
            </a:r>
            <a:endParaRPr lang="en-US" sz="1280" dirty="0"/>
          </a:p>
        </p:txBody>
      </p:sp>
      <p:sp>
        <p:nvSpPr>
          <p:cNvPr id="76" name="Text 74"/>
          <p:cNvSpPr/>
          <p:nvPr/>
        </p:nvSpPr>
        <p:spPr>
          <a:xfrm>
            <a:off x="621792" y="7141464"/>
            <a:ext cx="13395960" cy="274320"/>
          </a:xfrm>
          <a:prstGeom prst="rect">
            <a:avLst/>
          </a:prstGeom>
          <a:noFill/>
          <a:ln/>
        </p:spPr>
        <p:txBody>
          <a:bodyPr wrap="square" lIns="0" tIns="0" rIns="0" bIns="0" rtlCol="0" anchor="ctr"/>
          <a:lstStyle/>
          <a:p>
            <a:pPr indent="0" marL="0">
              <a:buNone/>
            </a:pPr>
            <a:r>
              <a:rPr lang="en-US" sz="1800" b="1" dirty="0">
                <a:solidFill>
                  <a:srgbClr val="102B46"/>
                </a:solidFill>
                <a:latin typeface="Arial" pitchFamily="34" charset="0"/>
                <a:ea typeface="Arial" pitchFamily="34" charset="-122"/>
                <a:cs typeface="Arial" pitchFamily="34" charset="-120"/>
              </a:rPr>
              <a:t>Blocking an answer cannot undo earlier disclosure to a model, processor, cache or log.</a:t>
            </a:r>
            <a:endParaRPr lang="en-US" sz="1800" dirty="0"/>
          </a:p>
        </p:txBody>
      </p:sp>
      <p:sp>
        <p:nvSpPr>
          <p:cNvPr id="77" name="Text 75"/>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dirty="0">
                <a:solidFill>
                  <a:srgbClr val="536777"/>
                </a:solidFill>
                <a:latin typeface="Arial" pitchFamily="34" charset="0"/>
                <a:ea typeface="Arial" pitchFamily="34" charset="-122"/>
                <a:cs typeface="Arial" pitchFamily="34" charset="-120"/>
              </a:rPr>
              <a:t>Editable adaptation of the supplied six-layer diagram and notes • thinking aid, not implemented-control evidence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KNOWLEDGE INFORMS. CONTROLS ENFORCE. TOOLS EXECUTE.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Trust meets execution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Knowledge informs. Controls enforce. Tools execute.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09</a:t>
            </a:r>
            <a:endParaRPr lang="en-US" sz="1100" dirty="0"/>
          </a:p>
        </p:txBody>
      </p:sp>
      <p:sp>
        <p:nvSpPr>
          <p:cNvPr id="9" name="Shape 7"/>
          <p:cNvSpPr/>
          <p:nvPr/>
        </p:nvSpPr>
        <p:spPr>
          <a:xfrm>
            <a:off x="640080" y="1691640"/>
            <a:ext cx="13359384" cy="822960"/>
          </a:xfrm>
          <a:prstGeom prst="rect">
            <a:avLst>
              <a:gd name="adj" fmla="val 13333"/>
            </a:avLst>
          </a:prstGeom>
          <a:solidFill>
            <a:srgbClr val="102B46"/>
          </a:solidFill>
          <a:ln w="12700">
            <a:solidFill>
              <a:srgbClr val="102B46"/>
            </a:solidFill>
            <a:prstDash val="solid"/>
          </a:ln>
        </p:spPr>
      </p:sp>
      <p:sp>
        <p:nvSpPr>
          <p:cNvPr id="10" name="Text 8"/>
          <p:cNvSpPr/>
          <p:nvPr/>
        </p:nvSpPr>
        <p:spPr>
          <a:xfrm>
            <a:off x="914400" y="1865376"/>
            <a:ext cx="5852160" cy="384048"/>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Policy, identity and authorisation</a:t>
            </a:r>
            <a:endParaRPr lang="en-US" sz="2500" dirty="0"/>
          </a:p>
        </p:txBody>
      </p:sp>
      <p:sp>
        <p:nvSpPr>
          <p:cNvPr id="11" name="Text 9"/>
          <p:cNvSpPr/>
          <p:nvPr/>
        </p:nvSpPr>
        <p:spPr>
          <a:xfrm>
            <a:off x="7132320" y="1865376"/>
            <a:ext cx="6556248" cy="365760"/>
          </a:xfrm>
          <a:prstGeom prst="rect">
            <a:avLst/>
          </a:prstGeom>
          <a:noFill/>
          <a:ln/>
        </p:spPr>
        <p:txBody>
          <a:bodyPr wrap="square" lIns="0" tIns="0" rIns="0" bIns="0" rtlCol="0" anchor="ctr"/>
          <a:lstStyle/>
          <a:p>
            <a:pPr indent="0" marL="0">
              <a:buNone/>
            </a:pPr>
            <a:r>
              <a:rPr lang="en-US" sz="1900" dirty="0">
                <a:solidFill>
                  <a:srgbClr val="FFFFFF"/>
                </a:solidFill>
                <a:latin typeface="Arial" pitchFamily="34" charset="0"/>
                <a:ea typeface="Arial" pitchFamily="34" charset="-122"/>
                <a:cs typeface="Arial" pitchFamily="34" charset="-120"/>
              </a:rPr>
              <a:t>Enforced by the runtime and services — not by OKF</a:t>
            </a:r>
            <a:endParaRPr lang="en-US" sz="1900" dirty="0"/>
          </a:p>
        </p:txBody>
      </p:sp>
      <p:sp>
        <p:nvSpPr>
          <p:cNvPr id="12" name="Shape 10"/>
          <p:cNvSpPr/>
          <p:nvPr/>
        </p:nvSpPr>
        <p:spPr>
          <a:xfrm>
            <a:off x="640080" y="2980944"/>
            <a:ext cx="4187952" cy="2788920"/>
          </a:xfrm>
          <a:prstGeom prst="rect">
            <a:avLst>
              <a:gd name="adj" fmla="val 3934"/>
            </a:avLst>
          </a:prstGeom>
          <a:solidFill>
            <a:srgbClr val="EDF3F7"/>
          </a:solidFill>
          <a:ln w="12700">
            <a:solidFill>
              <a:srgbClr val="EDF3F7"/>
            </a:solidFill>
            <a:prstDash val="solid"/>
          </a:ln>
        </p:spPr>
      </p:sp>
      <p:sp>
        <p:nvSpPr>
          <p:cNvPr id="13" name="Shape 11"/>
          <p:cNvSpPr/>
          <p:nvPr/>
        </p:nvSpPr>
        <p:spPr>
          <a:xfrm>
            <a:off x="640080" y="2980944"/>
            <a:ext cx="4187952" cy="91440"/>
          </a:xfrm>
          <a:prstGeom prst="rect">
            <a:avLst>
              <a:gd name="adj" fmla="val 120000"/>
            </a:avLst>
          </a:prstGeom>
          <a:solidFill>
            <a:srgbClr val="087E87"/>
          </a:solidFill>
          <a:ln w="12700">
            <a:solidFill>
              <a:srgbClr val="087E87"/>
            </a:solidFill>
            <a:prstDash val="solid"/>
          </a:ln>
        </p:spPr>
      </p:sp>
      <p:sp>
        <p:nvSpPr>
          <p:cNvPr id="14" name="Text 12"/>
          <p:cNvSpPr/>
          <p:nvPr/>
        </p:nvSpPr>
        <p:spPr>
          <a:xfrm>
            <a:off x="841248" y="3255264"/>
            <a:ext cx="3785616" cy="448056"/>
          </a:xfrm>
          <a:prstGeom prst="rect">
            <a:avLst/>
          </a:prstGeom>
          <a:noFill/>
          <a:ln/>
        </p:spPr>
        <p:txBody>
          <a:bodyPr wrap="square" lIns="0" tIns="0" rIns="0" bIns="0" rtlCol="0" anchor="ctr"/>
          <a:lstStyle/>
          <a:p>
            <a:pPr indent="0" marL="0">
              <a:buNone/>
            </a:pPr>
            <a:r>
              <a:rPr lang="en-US" sz="2800" b="1" dirty="0">
                <a:solidFill>
                  <a:srgbClr val="087E87"/>
                </a:solidFill>
                <a:latin typeface="Arial" pitchFamily="34" charset="0"/>
                <a:ea typeface="Arial" pitchFamily="34" charset="-122"/>
                <a:cs typeface="Arial" pitchFamily="34" charset="-120"/>
              </a:rPr>
              <a:t>OKF / OKF+</a:t>
            </a:r>
            <a:endParaRPr lang="en-US" sz="2800" dirty="0"/>
          </a:p>
        </p:txBody>
      </p:sp>
      <p:sp>
        <p:nvSpPr>
          <p:cNvPr id="15" name="Text 13"/>
          <p:cNvSpPr/>
          <p:nvPr/>
        </p:nvSpPr>
        <p:spPr>
          <a:xfrm>
            <a:off x="841248" y="3941064"/>
            <a:ext cx="3785616" cy="530352"/>
          </a:xfrm>
          <a:prstGeom prst="rect">
            <a:avLst/>
          </a:prstGeom>
          <a:noFill/>
          <a:ln/>
        </p:spPr>
        <p:txBody>
          <a:bodyPr wrap="square" lIns="0" tIns="0" rIns="0" bIns="0" rtlCol="0" anchor="ctr"/>
          <a:lstStyle/>
          <a:p>
            <a:pPr indent="0" marL="0">
              <a:buNone/>
            </a:pPr>
            <a:r>
              <a:rPr lang="en-US" sz="2000" b="1" dirty="0">
                <a:solidFill>
                  <a:srgbClr val="102B46"/>
                </a:solidFill>
                <a:latin typeface="Arial" pitchFamily="34" charset="0"/>
                <a:ea typeface="Arial" pitchFamily="34" charset="-122"/>
                <a:cs typeface="Arial" pitchFamily="34" charset="-120"/>
              </a:rPr>
              <a:t>What is this evidence?</a:t>
            </a:r>
            <a:endParaRPr lang="en-US" sz="2000" dirty="0"/>
          </a:p>
        </p:txBody>
      </p:sp>
      <p:sp>
        <p:nvSpPr>
          <p:cNvPr id="16" name="Text 14"/>
          <p:cNvSpPr/>
          <p:nvPr/>
        </p:nvSpPr>
        <p:spPr>
          <a:xfrm>
            <a:off x="841248" y="4727448"/>
            <a:ext cx="3785616" cy="804672"/>
          </a:xfrm>
          <a:prstGeom prst="rect">
            <a:avLst/>
          </a:prstGeom>
          <a:noFill/>
          <a:ln/>
        </p:spPr>
        <p:txBody>
          <a:bodyPr wrap="square" lIns="0" tIns="0" rIns="0" bIns="0" rtlCol="0" anchor="t"/>
          <a:lstStyle/>
          <a:p>
            <a:pPr indent="0" marL="0">
              <a:buNone/>
            </a:pPr>
            <a:r>
              <a:rPr lang="en-US" sz="1700" dirty="0">
                <a:solidFill>
                  <a:srgbClr val="172E43"/>
                </a:solidFill>
                <a:latin typeface="Arial" pitchFamily="34" charset="0"/>
                <a:ea typeface="Arial" pitchFamily="34" charset="-122"/>
                <a:cs typeface="Arial" pitchFamily="34" charset="-120"/>
              </a:rPr>
              <a:t>Structure and metadata</a:t>
            </a:r>
            <a:endParaRPr lang="en-US" sz="1700" dirty="0"/>
          </a:p>
          <a:p>
            <a:pPr indent="0" marL="0">
              <a:buNone/>
            </a:pPr>
            <a:r>
              <a:rPr lang="en-US" sz="1700" dirty="0">
                <a:solidFill>
                  <a:srgbClr val="172E43"/>
                </a:solidFill>
                <a:latin typeface="Arial" pitchFamily="34" charset="0"/>
                <a:ea typeface="Arial" pitchFamily="34" charset="-122"/>
                <a:cs typeface="Arial" pitchFamily="34" charset="-120"/>
              </a:rPr>
              <a:t>Provenance and relationships</a:t>
            </a:r>
            <a:endParaRPr lang="en-US" sz="1700" dirty="0"/>
          </a:p>
          <a:p>
            <a:pPr indent="0" marL="0">
              <a:buNone/>
            </a:pPr>
            <a:r>
              <a:rPr lang="en-US" sz="1700" dirty="0">
                <a:solidFill>
                  <a:srgbClr val="172E43"/>
                </a:solidFill>
                <a:latin typeface="Arial" pitchFamily="34" charset="0"/>
                <a:ea typeface="Arial" pitchFamily="34" charset="-122"/>
                <a:cs typeface="Arial" pitchFamily="34" charset="-120"/>
              </a:rPr>
              <a:t>Review status and gaps</a:t>
            </a:r>
            <a:endParaRPr lang="en-US" sz="1700" dirty="0"/>
          </a:p>
        </p:txBody>
      </p:sp>
      <p:sp>
        <p:nvSpPr>
          <p:cNvPr id="17" name="Shape 15"/>
          <p:cNvSpPr/>
          <p:nvPr/>
        </p:nvSpPr>
        <p:spPr>
          <a:xfrm>
            <a:off x="5230368" y="2980944"/>
            <a:ext cx="4187952" cy="2788920"/>
          </a:xfrm>
          <a:prstGeom prst="rect">
            <a:avLst>
              <a:gd name="adj" fmla="val 3934"/>
            </a:avLst>
          </a:prstGeom>
          <a:solidFill>
            <a:srgbClr val="EDF3F7"/>
          </a:solidFill>
          <a:ln w="12700">
            <a:solidFill>
              <a:srgbClr val="EDF3F7"/>
            </a:solidFill>
            <a:prstDash val="solid"/>
          </a:ln>
        </p:spPr>
      </p:sp>
      <p:sp>
        <p:nvSpPr>
          <p:cNvPr id="18" name="Shape 16"/>
          <p:cNvSpPr/>
          <p:nvPr/>
        </p:nvSpPr>
        <p:spPr>
          <a:xfrm>
            <a:off x="5230368" y="2980944"/>
            <a:ext cx="4187952" cy="91440"/>
          </a:xfrm>
          <a:prstGeom prst="rect">
            <a:avLst>
              <a:gd name="adj" fmla="val 120000"/>
            </a:avLst>
          </a:prstGeom>
          <a:solidFill>
            <a:srgbClr val="43813B"/>
          </a:solidFill>
          <a:ln w="12700">
            <a:solidFill>
              <a:srgbClr val="43813B"/>
            </a:solidFill>
            <a:prstDash val="solid"/>
          </a:ln>
        </p:spPr>
      </p:sp>
      <p:sp>
        <p:nvSpPr>
          <p:cNvPr id="19" name="Text 17"/>
          <p:cNvSpPr/>
          <p:nvPr/>
        </p:nvSpPr>
        <p:spPr>
          <a:xfrm>
            <a:off x="5431536" y="3255264"/>
            <a:ext cx="3785616" cy="448056"/>
          </a:xfrm>
          <a:prstGeom prst="rect">
            <a:avLst/>
          </a:prstGeom>
          <a:noFill/>
          <a:ln/>
        </p:spPr>
        <p:txBody>
          <a:bodyPr wrap="square" lIns="0" tIns="0" rIns="0" bIns="0" rtlCol="0" anchor="ctr"/>
          <a:lstStyle/>
          <a:p>
            <a:pPr indent="0" marL="0">
              <a:buNone/>
            </a:pPr>
            <a:r>
              <a:rPr lang="en-US" sz="2800" b="1" dirty="0">
                <a:solidFill>
                  <a:srgbClr val="43813B"/>
                </a:solidFill>
                <a:latin typeface="Arial" pitchFamily="34" charset="0"/>
                <a:ea typeface="Arial" pitchFamily="34" charset="-122"/>
                <a:cs typeface="Arial" pitchFamily="34" charset="-120"/>
              </a:rPr>
              <a:t>Context assembly</a:t>
            </a:r>
            <a:endParaRPr lang="en-US" sz="2800" dirty="0"/>
          </a:p>
        </p:txBody>
      </p:sp>
      <p:sp>
        <p:nvSpPr>
          <p:cNvPr id="20" name="Text 18"/>
          <p:cNvSpPr/>
          <p:nvPr/>
        </p:nvSpPr>
        <p:spPr>
          <a:xfrm>
            <a:off x="5431536" y="3941064"/>
            <a:ext cx="3785616" cy="530352"/>
          </a:xfrm>
          <a:prstGeom prst="rect">
            <a:avLst/>
          </a:prstGeom>
          <a:noFill/>
          <a:ln/>
        </p:spPr>
        <p:txBody>
          <a:bodyPr wrap="square" lIns="0" tIns="0" rIns="0" bIns="0" rtlCol="0" anchor="ctr"/>
          <a:lstStyle/>
          <a:p>
            <a:pPr indent="0" marL="0">
              <a:buNone/>
            </a:pPr>
            <a:r>
              <a:rPr lang="en-US" sz="2000" b="1" dirty="0">
                <a:solidFill>
                  <a:srgbClr val="102B46"/>
                </a:solidFill>
                <a:latin typeface="Arial" pitchFamily="34" charset="0"/>
                <a:ea typeface="Arial" pitchFamily="34" charset="-122"/>
                <a:cs typeface="Arial" pitchFamily="34" charset="-120"/>
              </a:rPr>
              <a:t>What may enter the model?</a:t>
            </a:r>
            <a:endParaRPr lang="en-US" sz="2000" dirty="0"/>
          </a:p>
        </p:txBody>
      </p:sp>
      <p:sp>
        <p:nvSpPr>
          <p:cNvPr id="21" name="Text 19"/>
          <p:cNvSpPr/>
          <p:nvPr/>
        </p:nvSpPr>
        <p:spPr>
          <a:xfrm>
            <a:off x="5431536" y="4727448"/>
            <a:ext cx="3785616" cy="804672"/>
          </a:xfrm>
          <a:prstGeom prst="rect">
            <a:avLst/>
          </a:prstGeom>
          <a:noFill/>
          <a:ln/>
        </p:spPr>
        <p:txBody>
          <a:bodyPr wrap="square" lIns="0" tIns="0" rIns="0" bIns="0" rtlCol="0" anchor="t"/>
          <a:lstStyle/>
          <a:p>
            <a:pPr indent="0" marL="0">
              <a:buNone/>
            </a:pPr>
            <a:r>
              <a:rPr lang="en-US" sz="1700" dirty="0">
                <a:solidFill>
                  <a:srgbClr val="172E43"/>
                </a:solidFill>
                <a:latin typeface="Arial" pitchFamily="34" charset="0"/>
                <a:ea typeface="Arial" pitchFamily="34" charset="-122"/>
                <a:cs typeface="Arial" pitchFamily="34" charset="-120"/>
              </a:rPr>
              <a:t>Select relevant evidence</a:t>
            </a:r>
            <a:endParaRPr lang="en-US" sz="1700" dirty="0"/>
          </a:p>
          <a:p>
            <a:pPr indent="0" marL="0">
              <a:buNone/>
            </a:pPr>
            <a:r>
              <a:rPr lang="en-US" sz="1700" dirty="0">
                <a:solidFill>
                  <a:srgbClr val="172E43"/>
                </a:solidFill>
                <a:latin typeface="Arial" pitchFamily="34" charset="0"/>
                <a:ea typeface="Arial" pitchFamily="34" charset="-122"/>
                <a:cs typeface="Arial" pitchFamily="34" charset="-120"/>
              </a:rPr>
              <a:t>Apply authorised scope</a:t>
            </a:r>
            <a:endParaRPr lang="en-US" sz="1700" dirty="0"/>
          </a:p>
          <a:p>
            <a:pPr indent="0" marL="0">
              <a:buNone/>
            </a:pPr>
            <a:r>
              <a:rPr lang="en-US" sz="1700" dirty="0">
                <a:solidFill>
                  <a:srgbClr val="172E43"/>
                </a:solidFill>
                <a:latin typeface="Arial" pitchFamily="34" charset="0"/>
                <a:ea typeface="Arial" pitchFamily="34" charset="-122"/>
                <a:cs typeface="Arial" pitchFamily="34" charset="-120"/>
              </a:rPr>
              <a:t>Keep limits and provenance</a:t>
            </a:r>
            <a:endParaRPr lang="en-US" sz="1700" dirty="0"/>
          </a:p>
        </p:txBody>
      </p:sp>
      <p:sp>
        <p:nvSpPr>
          <p:cNvPr id="22" name="Shape 20"/>
          <p:cNvSpPr/>
          <p:nvPr/>
        </p:nvSpPr>
        <p:spPr>
          <a:xfrm>
            <a:off x="9820656" y="2980944"/>
            <a:ext cx="4187952" cy="2788920"/>
          </a:xfrm>
          <a:prstGeom prst="rect">
            <a:avLst>
              <a:gd name="adj" fmla="val 3934"/>
            </a:avLst>
          </a:prstGeom>
          <a:solidFill>
            <a:srgbClr val="EDF3F7"/>
          </a:solidFill>
          <a:ln w="12700">
            <a:solidFill>
              <a:srgbClr val="EDF3F7"/>
            </a:solidFill>
            <a:prstDash val="solid"/>
          </a:ln>
        </p:spPr>
      </p:sp>
      <p:sp>
        <p:nvSpPr>
          <p:cNvPr id="23" name="Shape 21"/>
          <p:cNvSpPr/>
          <p:nvPr/>
        </p:nvSpPr>
        <p:spPr>
          <a:xfrm>
            <a:off x="9820656" y="2980944"/>
            <a:ext cx="4187952" cy="91440"/>
          </a:xfrm>
          <a:prstGeom prst="rect">
            <a:avLst>
              <a:gd name="adj" fmla="val 120000"/>
            </a:avLst>
          </a:prstGeom>
          <a:solidFill>
            <a:srgbClr val="145F96"/>
          </a:solidFill>
          <a:ln w="12700">
            <a:solidFill>
              <a:srgbClr val="145F96"/>
            </a:solidFill>
            <a:prstDash val="solid"/>
          </a:ln>
        </p:spPr>
      </p:sp>
      <p:sp>
        <p:nvSpPr>
          <p:cNvPr id="24" name="Text 22"/>
          <p:cNvSpPr/>
          <p:nvPr/>
        </p:nvSpPr>
        <p:spPr>
          <a:xfrm>
            <a:off x="10021824" y="3255264"/>
            <a:ext cx="3785616" cy="448056"/>
          </a:xfrm>
          <a:prstGeom prst="rect">
            <a:avLst/>
          </a:prstGeom>
          <a:noFill/>
          <a:ln/>
        </p:spPr>
        <p:txBody>
          <a:bodyPr wrap="square" lIns="0" tIns="0" rIns="0" bIns="0" rtlCol="0" anchor="ctr"/>
          <a:lstStyle/>
          <a:p>
            <a:pPr indent="0" marL="0">
              <a:buNone/>
            </a:pPr>
            <a:r>
              <a:rPr lang="en-US" sz="2800" b="1" dirty="0">
                <a:solidFill>
                  <a:srgbClr val="145F96"/>
                </a:solidFill>
                <a:latin typeface="Arial" pitchFamily="34" charset="0"/>
                <a:ea typeface="Arial" pitchFamily="34" charset="-122"/>
                <a:cs typeface="Arial" pitchFamily="34" charset="-120"/>
              </a:rPr>
              <a:t>MCP tools</a:t>
            </a:r>
            <a:endParaRPr lang="en-US" sz="2800" dirty="0"/>
          </a:p>
        </p:txBody>
      </p:sp>
      <p:sp>
        <p:nvSpPr>
          <p:cNvPr id="25" name="Text 23"/>
          <p:cNvSpPr/>
          <p:nvPr/>
        </p:nvSpPr>
        <p:spPr>
          <a:xfrm>
            <a:off x="10021824" y="3941064"/>
            <a:ext cx="3785616" cy="530352"/>
          </a:xfrm>
          <a:prstGeom prst="rect">
            <a:avLst/>
          </a:prstGeom>
          <a:noFill/>
          <a:ln/>
        </p:spPr>
        <p:txBody>
          <a:bodyPr wrap="square" lIns="0" tIns="0" rIns="0" bIns="0" rtlCol="0" anchor="ctr"/>
          <a:lstStyle/>
          <a:p>
            <a:pPr indent="0" marL="0">
              <a:buNone/>
            </a:pPr>
            <a:r>
              <a:rPr lang="en-US" sz="2000" b="1" dirty="0">
                <a:solidFill>
                  <a:srgbClr val="102B46"/>
                </a:solidFill>
                <a:latin typeface="Arial" pitchFamily="34" charset="0"/>
                <a:ea typeface="Arial" pitchFamily="34" charset="-122"/>
                <a:cs typeface="Arial" pitchFamily="34" charset="-120"/>
              </a:rPr>
              <a:t>What can be called, and how?</a:t>
            </a:r>
            <a:endParaRPr lang="en-US" sz="2000" dirty="0"/>
          </a:p>
        </p:txBody>
      </p:sp>
      <p:sp>
        <p:nvSpPr>
          <p:cNvPr id="26" name="Text 24"/>
          <p:cNvSpPr/>
          <p:nvPr/>
        </p:nvSpPr>
        <p:spPr>
          <a:xfrm>
            <a:off x="10021824" y="4727448"/>
            <a:ext cx="3785616" cy="804672"/>
          </a:xfrm>
          <a:prstGeom prst="rect">
            <a:avLst/>
          </a:prstGeom>
          <a:noFill/>
          <a:ln/>
        </p:spPr>
        <p:txBody>
          <a:bodyPr wrap="square" lIns="0" tIns="0" rIns="0" bIns="0" rtlCol="0" anchor="t"/>
          <a:lstStyle/>
          <a:p>
            <a:pPr indent="0" marL="0">
              <a:buNone/>
            </a:pPr>
            <a:r>
              <a:rPr lang="en-US" sz="1700" dirty="0">
                <a:solidFill>
                  <a:srgbClr val="172E43"/>
                </a:solidFill>
                <a:latin typeface="Arial" pitchFamily="34" charset="0"/>
                <a:ea typeface="Arial" pitchFamily="34" charset="-122"/>
                <a:cs typeface="Arial" pitchFamily="34" charset="-120"/>
              </a:rPr>
              <a:t>Discover tool contracts</a:t>
            </a:r>
            <a:endParaRPr lang="en-US" sz="1700" dirty="0"/>
          </a:p>
          <a:p>
            <a:pPr indent="0" marL="0">
              <a:buNone/>
            </a:pPr>
            <a:r>
              <a:rPr lang="en-US" sz="1700" dirty="0">
                <a:solidFill>
                  <a:srgbClr val="172E43"/>
                </a:solidFill>
                <a:latin typeface="Arial" pitchFamily="34" charset="0"/>
                <a:ea typeface="Arial" pitchFamily="34" charset="-122"/>
                <a:cs typeface="Arial" pitchFamily="34" charset="-120"/>
              </a:rPr>
              <a:t>Invoke tools and exchange context</a:t>
            </a:r>
            <a:endParaRPr lang="en-US" sz="1700" dirty="0"/>
          </a:p>
          <a:p>
            <a:pPr indent="0" marL="0">
              <a:buNone/>
            </a:pPr>
            <a:r>
              <a:rPr lang="en-US" sz="1700" dirty="0">
                <a:solidFill>
                  <a:srgbClr val="172E43"/>
                </a:solidFill>
                <a:latin typeface="Arial" pitchFamily="34" charset="0"/>
                <a:ea typeface="Arial" pitchFamily="34" charset="-122"/>
                <a:cs typeface="Arial" pitchFamily="34" charset="-120"/>
              </a:rPr>
              <a:t>Return observable results</a:t>
            </a:r>
            <a:endParaRPr lang="en-US" sz="1700" dirty="0"/>
          </a:p>
        </p:txBody>
      </p:sp>
      <p:sp>
        <p:nvSpPr>
          <p:cNvPr id="27" name="Shape 25"/>
          <p:cNvSpPr/>
          <p:nvPr/>
        </p:nvSpPr>
        <p:spPr>
          <a:xfrm>
            <a:off x="4873752" y="4251960"/>
            <a:ext cx="265176" cy="0"/>
          </a:xfrm>
          <a:prstGeom prst="line">
            <a:avLst/>
          </a:prstGeom>
          <a:noFill/>
          <a:ln w="25400">
            <a:solidFill>
              <a:srgbClr val="087E87"/>
            </a:solidFill>
            <a:prstDash val="solid"/>
            <a:tailEnd type="triangle"/>
          </a:ln>
        </p:spPr>
      </p:sp>
      <p:sp>
        <p:nvSpPr>
          <p:cNvPr id="28" name="Shape 26"/>
          <p:cNvSpPr/>
          <p:nvPr/>
        </p:nvSpPr>
        <p:spPr>
          <a:xfrm>
            <a:off x="9464040" y="4251960"/>
            <a:ext cx="265176" cy="0"/>
          </a:xfrm>
          <a:prstGeom prst="line">
            <a:avLst/>
          </a:prstGeom>
          <a:noFill/>
          <a:ln w="25400">
            <a:solidFill>
              <a:srgbClr val="087E87"/>
            </a:solidFill>
            <a:prstDash val="solid"/>
            <a:tailEnd type="triangle"/>
          </a:ln>
        </p:spPr>
      </p:sp>
      <p:sp>
        <p:nvSpPr>
          <p:cNvPr id="29" name="Shape 27"/>
          <p:cNvSpPr/>
          <p:nvPr/>
        </p:nvSpPr>
        <p:spPr>
          <a:xfrm>
            <a:off x="640080" y="6135624"/>
            <a:ext cx="13359384" cy="667512"/>
          </a:xfrm>
          <a:prstGeom prst="rect">
            <a:avLst>
              <a:gd name="adj" fmla="val 16438"/>
            </a:avLst>
          </a:prstGeom>
          <a:solidFill>
            <a:srgbClr val="E7F2FA"/>
          </a:solidFill>
          <a:ln w="12700">
            <a:solidFill>
              <a:srgbClr val="E7F2FA"/>
            </a:solidFill>
            <a:prstDash val="solid"/>
          </a:ln>
        </p:spPr>
      </p:sp>
      <p:sp>
        <p:nvSpPr>
          <p:cNvPr id="30" name="Text 28"/>
          <p:cNvSpPr/>
          <p:nvPr/>
        </p:nvSpPr>
        <p:spPr>
          <a:xfrm>
            <a:off x="877824" y="6327648"/>
            <a:ext cx="1938528" cy="283464"/>
          </a:xfrm>
          <a:prstGeom prst="rect">
            <a:avLst/>
          </a:prstGeom>
          <a:noFill/>
          <a:ln/>
        </p:spPr>
        <p:txBody>
          <a:bodyPr wrap="square" lIns="0" tIns="0" rIns="0" bIns="0" rtlCol="0" anchor="ctr"/>
          <a:lstStyle/>
          <a:p>
            <a:pPr indent="0" marL="0">
              <a:buNone/>
            </a:pPr>
            <a:r>
              <a:rPr lang="en-US" sz="2000" b="1" dirty="0">
                <a:solidFill>
                  <a:srgbClr val="145F96"/>
                </a:solidFill>
                <a:latin typeface="Arial" pitchFamily="34" charset="0"/>
                <a:ea typeface="Arial" pitchFamily="34" charset="-122"/>
                <a:cs typeface="Arial" pitchFamily="34" charset="-120"/>
              </a:rPr>
              <a:t>WebMCP</a:t>
            </a:r>
            <a:endParaRPr lang="en-US" sz="2000" dirty="0"/>
          </a:p>
        </p:txBody>
      </p:sp>
      <p:sp>
        <p:nvSpPr>
          <p:cNvPr id="31" name="Text 29"/>
          <p:cNvSpPr/>
          <p:nvPr/>
        </p:nvSpPr>
        <p:spPr>
          <a:xfrm>
            <a:off x="2880360" y="6327648"/>
            <a:ext cx="10808208" cy="292608"/>
          </a:xfrm>
          <a:prstGeom prst="rect">
            <a:avLst/>
          </a:prstGeom>
          <a:noFill/>
          <a:ln/>
        </p:spPr>
        <p:txBody>
          <a:bodyPr wrap="square" lIns="0" tIns="0" rIns="0" bIns="0" rtlCol="0" anchor="ctr"/>
          <a:lstStyle/>
          <a:p>
            <a:pPr indent="0" marL="0">
              <a:buNone/>
            </a:pPr>
            <a:r>
              <a:rPr lang="en-US" sz="1700" dirty="0">
                <a:solidFill>
                  <a:srgbClr val="172E43"/>
                </a:solidFill>
                <a:latin typeface="Arial" pitchFamily="34" charset="0"/>
                <a:ea typeface="Arial" pitchFamily="34" charset="-122"/>
                <a:cs typeface="Arial" pitchFamily="34" charset="-120"/>
              </a:rPr>
              <a:t>Page-defined tools for a shared browser interface • draft API; actual host support must be tested</a:t>
            </a:r>
            <a:endParaRPr lang="en-US" sz="1700" dirty="0"/>
          </a:p>
        </p:txBody>
      </p:sp>
      <p:sp>
        <p:nvSpPr>
          <p:cNvPr id="32" name="Text 30"/>
          <p:cNvSpPr/>
          <p:nvPr/>
        </p:nvSpPr>
        <p:spPr>
          <a:xfrm>
            <a:off x="621792" y="7040880"/>
            <a:ext cx="13350240" cy="320040"/>
          </a:xfrm>
          <a:prstGeom prst="rect">
            <a:avLst/>
          </a:prstGeom>
          <a:noFill/>
          <a:ln/>
        </p:spPr>
        <p:txBody>
          <a:bodyPr wrap="square" lIns="0" tIns="0" rIns="0" bIns="0" rtlCol="0" anchor="ctr"/>
          <a:lstStyle/>
          <a:p>
            <a:pPr indent="0" marL="0">
              <a:buNone/>
            </a:pPr>
            <a:r>
              <a:rPr lang="en-US" sz="2300" b="1" dirty="0">
                <a:solidFill>
                  <a:srgbClr val="102B46"/>
                </a:solidFill>
                <a:latin typeface="Arial" pitchFamily="34" charset="0"/>
                <a:ea typeface="Arial" pitchFamily="34" charset="-122"/>
                <a:cs typeface="Arial" pitchFamily="34" charset="-120"/>
              </a:rPr>
              <a:t>Knowledge can inform a permission decision. It cannot grant permission.</a:t>
            </a:r>
            <a:endParaRPr lang="en-US" sz="2300" dirty="0"/>
          </a:p>
        </p:txBody>
      </p:sp>
      <p:sp>
        <p:nvSpPr>
          <p:cNvPr id="33" name="Text 31">
            <a:hlinkClick r:id="rId1"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Supplied architecture, updated synthesis • official OKF, MCP and WebMCP sources in notes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01 / HELP ME READ</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Start with the source, not the assistant’s answer</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01 / Help me read</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10</a:t>
            </a:r>
            <a:endParaRPr lang="en-US" sz="1100" dirty="0"/>
          </a:p>
        </p:txBody>
      </p:sp>
      <p:sp>
        <p:nvSpPr>
          <p:cNvPr id="9" name="Shape 7"/>
          <p:cNvSpPr/>
          <p:nvPr/>
        </p:nvSpPr>
        <p:spPr>
          <a:xfrm>
            <a:off x="621792" y="1490472"/>
            <a:ext cx="8046720" cy="301752"/>
          </a:xfrm>
          <a:prstGeom prst="roundRect">
            <a:avLst>
              <a:gd name="adj" fmla="val 36364"/>
            </a:avLst>
          </a:prstGeom>
          <a:solidFill>
            <a:srgbClr val="E7F2FA"/>
          </a:solidFill>
          <a:ln w="12700">
            <a:solidFill>
              <a:srgbClr val="E7F2FA"/>
            </a:solidFill>
            <a:prstDash val="solid"/>
          </a:ln>
        </p:spPr>
      </p:sp>
      <p:sp>
        <p:nvSpPr>
          <p:cNvPr id="10" name="Text 8"/>
          <p:cNvSpPr/>
          <p:nvPr/>
        </p:nvSpPr>
        <p:spPr>
          <a:xfrm>
            <a:off x="713232" y="1531620"/>
            <a:ext cx="7863840" cy="219456"/>
          </a:xfrm>
          <a:prstGeom prst="rect">
            <a:avLst/>
          </a:prstGeom>
          <a:noFill/>
          <a:ln/>
        </p:spPr>
        <p:txBody>
          <a:bodyPr wrap="square" lIns="0" tIns="0" rIns="0" bIns="0" rtlCol="0" anchor="ctr"/>
          <a:lstStyle/>
          <a:p>
            <a:pPr indent="0" marL="0">
              <a:buNone/>
            </a:pPr>
            <a:r>
              <a:rPr lang="en-US" sz="1250" b="1" dirty="0">
                <a:solidFill>
                  <a:srgbClr val="145F96"/>
                </a:solidFill>
                <a:latin typeface="Arial" pitchFamily="34" charset="0"/>
                <a:ea typeface="Arial" pitchFamily="34" charset="-122"/>
                <a:cs typeface="Arial" pitchFamily="34" charset="-120"/>
              </a:rPr>
              <a:t>RETAINED SOURCE • DMG 60025 • PDF pages 3–4</a:t>
            </a:r>
            <a:endParaRPr lang="en-US" sz="1250" dirty="0"/>
          </a:p>
        </p:txBody>
      </p:sp>
      <p:sp>
        <p:nvSpPr>
          <p:cNvPr id="11" name="Shape 9"/>
          <p:cNvSpPr/>
          <p:nvPr/>
        </p:nvSpPr>
        <p:spPr>
          <a:xfrm>
            <a:off x="640080" y="2057400"/>
            <a:ext cx="8961120" cy="4480560"/>
          </a:xfrm>
          <a:prstGeom prst="rect">
            <a:avLst>
              <a:gd name="adj" fmla="val 2449"/>
            </a:avLst>
          </a:prstGeom>
          <a:solidFill>
            <a:srgbClr val="EDF3F7"/>
          </a:solidFill>
          <a:ln w="12700">
            <a:solidFill>
              <a:srgbClr val="D5E2E9"/>
            </a:solidFill>
            <a:prstDash val="solid"/>
          </a:ln>
        </p:spPr>
      </p:sp>
      <p:pic>
        <p:nvPicPr>
          <p:cNvPr id="12" name="Image 0" descr="S01-conditions: Actual PDF crop, page 3. Read with the notes and printed references on page 4.">    </p:cNvPr>
          <p:cNvPicPr>
            <a:picLocks noChangeAspect="1"/>
          </p:cNvPicPr>
          <p:nvPr/>
        </p:nvPicPr>
        <p:blipFill>
          <a:blip r:embed="rId1"/>
          <a:stretch>
            <a:fillRect/>
          </a:stretch>
        </p:blipFill>
        <p:spPr>
          <a:xfrm>
            <a:off x="640080" y="2076362"/>
            <a:ext cx="8961120" cy="4442635"/>
          </a:xfrm>
          <a:prstGeom prst="rect">
            <a:avLst/>
          </a:prstGeom>
        </p:spPr>
      </p:pic>
      <p:sp>
        <p:nvSpPr>
          <p:cNvPr id="13" name="Shape 10"/>
          <p:cNvSpPr/>
          <p:nvPr/>
        </p:nvSpPr>
        <p:spPr>
          <a:xfrm>
            <a:off x="9930384" y="2057400"/>
            <a:ext cx="4069080" cy="2029968"/>
          </a:xfrm>
          <a:prstGeom prst="roundRect">
            <a:avLst>
              <a:gd name="adj" fmla="val 5405"/>
            </a:avLst>
          </a:prstGeom>
          <a:solidFill>
            <a:srgbClr val="EDF3F7"/>
          </a:solidFill>
          <a:ln w="12700">
            <a:solidFill>
              <a:srgbClr val="EDF3F7"/>
            </a:solidFill>
            <a:prstDash val="solid"/>
          </a:ln>
        </p:spPr>
      </p:sp>
      <p:sp>
        <p:nvSpPr>
          <p:cNvPr id="14" name="Shape 11"/>
          <p:cNvSpPr/>
          <p:nvPr/>
        </p:nvSpPr>
        <p:spPr>
          <a:xfrm>
            <a:off x="9930384" y="2057400"/>
            <a:ext cx="50292" cy="2029968"/>
          </a:xfrm>
          <a:prstGeom prst="rect">
            <a:avLst>
              <a:gd name="adj" fmla="val 218182"/>
            </a:avLst>
          </a:prstGeom>
          <a:solidFill>
            <a:srgbClr val="087E87"/>
          </a:solidFill>
          <a:ln w="12700">
            <a:solidFill>
              <a:srgbClr val="087E87"/>
            </a:solidFill>
            <a:prstDash val="solid"/>
          </a:ln>
        </p:spPr>
      </p:sp>
      <p:sp>
        <p:nvSpPr>
          <p:cNvPr id="15" name="Text 12"/>
          <p:cNvSpPr/>
          <p:nvPr/>
        </p:nvSpPr>
        <p:spPr>
          <a:xfrm>
            <a:off x="10131552" y="2221992"/>
            <a:ext cx="3675888" cy="457200"/>
          </a:xfrm>
          <a:prstGeom prst="rect">
            <a:avLst/>
          </a:prstGeom>
          <a:noFill/>
          <a:ln/>
        </p:spPr>
        <p:txBody>
          <a:bodyPr wrap="square" lIns="0" tIns="0" rIns="0" bIns="0" rtlCol="0" anchor="ctr"/>
          <a:lstStyle/>
          <a:p>
            <a:pPr indent="0" marL="0">
              <a:buNone/>
            </a:pPr>
            <a:r>
              <a:rPr lang="en-US" sz="2200" b="1" dirty="0">
                <a:solidFill>
                  <a:srgbClr val="087E87"/>
                </a:solidFill>
                <a:latin typeface="Arial" pitchFamily="34" charset="0"/>
                <a:ea typeface="Arial" pitchFamily="34" charset="-122"/>
                <a:cs typeface="Arial" pitchFamily="34" charset="-120"/>
              </a:rPr>
              <a:t>Six conditions</a:t>
            </a:r>
            <a:endParaRPr lang="en-US" sz="2200" dirty="0"/>
          </a:p>
        </p:txBody>
      </p:sp>
      <p:sp>
        <p:nvSpPr>
          <p:cNvPr id="16" name="Text 13"/>
          <p:cNvSpPr/>
          <p:nvPr/>
        </p:nvSpPr>
        <p:spPr>
          <a:xfrm>
            <a:off x="10131552" y="2825496"/>
            <a:ext cx="3675888" cy="1133856"/>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Abbreviations, cross-references and qualifications have to be read together.</a:t>
            </a:r>
            <a:endParaRPr lang="en-US" sz="2000" dirty="0"/>
          </a:p>
        </p:txBody>
      </p:sp>
      <p:sp>
        <p:nvSpPr>
          <p:cNvPr id="17" name="Shape 14"/>
          <p:cNvSpPr/>
          <p:nvPr/>
        </p:nvSpPr>
        <p:spPr>
          <a:xfrm>
            <a:off x="9930384" y="4407408"/>
            <a:ext cx="4069080" cy="950976"/>
          </a:xfrm>
          <a:prstGeom prst="rect">
            <a:avLst>
              <a:gd name="adj" fmla="val 11538"/>
            </a:avLst>
          </a:prstGeom>
          <a:solidFill>
            <a:srgbClr val="EDF3F7"/>
          </a:solidFill>
          <a:ln w="12700">
            <a:solidFill>
              <a:srgbClr val="D5E2E9"/>
            </a:solidFill>
            <a:prstDash val="solid"/>
          </a:ln>
        </p:spPr>
      </p:sp>
      <p:pic>
        <p:nvPicPr>
          <p:cNvPr id="18" name="Image 1" descr="S01-notes: Actual PDF crop, page 4. No substantive text has been changed.">    </p:cNvPr>
          <p:cNvPicPr>
            <a:picLocks noChangeAspect="1"/>
          </p:cNvPicPr>
          <p:nvPr/>
        </p:nvPicPr>
        <p:blipFill>
          <a:blip r:embed="rId2"/>
          <a:stretch>
            <a:fillRect/>
          </a:stretch>
        </p:blipFill>
        <p:spPr>
          <a:xfrm>
            <a:off x="9930384" y="4513874"/>
            <a:ext cx="4069080" cy="738044"/>
          </a:xfrm>
          <a:prstGeom prst="rect">
            <a:avLst/>
          </a:prstGeom>
        </p:spPr>
      </p:pic>
      <p:sp>
        <p:nvSpPr>
          <p:cNvPr id="19" name="Text 15"/>
          <p:cNvSpPr/>
          <p:nvPr/>
        </p:nvSpPr>
        <p:spPr>
          <a:xfrm>
            <a:off x="10049256" y="5513832"/>
            <a:ext cx="3813048" cy="832104"/>
          </a:xfrm>
          <a:prstGeom prst="rect">
            <a:avLst/>
          </a:prstGeom>
          <a:noFill/>
          <a:ln/>
        </p:spPr>
        <p:txBody>
          <a:bodyPr wrap="square" lIns="0" tIns="0" rIns="0" bIns="0" rtlCol="0" anchor="ctr"/>
          <a:lstStyle/>
          <a:p>
            <a:pPr indent="0" marL="0">
              <a:buNone/>
            </a:pPr>
            <a:r>
              <a:rPr lang="en-US" sz="2000" dirty="0">
                <a:solidFill>
                  <a:srgbClr val="536777"/>
                </a:solidFill>
                <a:latin typeface="Arial" pitchFamily="34" charset="0"/>
                <a:ea typeface="Arial" pitchFamily="34" charset="-122"/>
                <a:cs typeface="Arial" pitchFamily="34" charset="-120"/>
              </a:rPr>
              <a:t>The notes and printed</a:t>
            </a:r>
            <a:endParaRPr lang="en-US" sz="2000" dirty="0"/>
          </a:p>
          <a:p>
            <a:pPr indent="0" marL="0">
              <a:buNone/>
            </a:pPr>
            <a:r>
              <a:rPr lang="en-US" sz="2000" dirty="0">
                <a:solidFill>
                  <a:srgbClr val="536777"/>
                </a:solidFill>
                <a:latin typeface="Arial" pitchFamily="34" charset="0"/>
                <a:ea typeface="Arial" pitchFamily="34" charset="-122"/>
                <a:cs typeface="Arial" pitchFamily="34" charset="-120"/>
              </a:rPr>
              <a:t>references continue</a:t>
            </a:r>
            <a:endParaRPr lang="en-US" sz="2000" dirty="0"/>
          </a:p>
          <a:p>
            <a:pPr indent="0" marL="0">
              <a:buNone/>
            </a:pPr>
            <a:r>
              <a:rPr lang="en-US" sz="2000" dirty="0">
                <a:solidFill>
                  <a:srgbClr val="536777"/>
                </a:solidFill>
                <a:latin typeface="Arial" pitchFamily="34" charset="0"/>
                <a:ea typeface="Arial" pitchFamily="34" charset="-122"/>
                <a:cs typeface="Arial" pitchFamily="34" charset="-120"/>
              </a:rPr>
              <a:t>on the next page.</a:t>
            </a:r>
            <a:endParaRPr lang="en-US" sz="2000" dirty="0"/>
          </a:p>
        </p:txBody>
      </p:sp>
      <p:sp>
        <p:nvSpPr>
          <p:cNvPr id="20" name="Text 16"/>
          <p:cNvSpPr/>
          <p:nvPr/>
        </p:nvSpPr>
        <p:spPr>
          <a:xfrm>
            <a:off x="621792" y="6839712"/>
            <a:ext cx="13258800" cy="384048"/>
          </a:xfrm>
          <a:prstGeom prst="rect">
            <a:avLst/>
          </a:prstGeom>
          <a:noFill/>
          <a:ln/>
        </p:spPr>
        <p:txBody>
          <a:bodyPr wrap="square" lIns="0" tIns="0" rIns="0" bIns="0" rtlCol="0" anchor="ctr"/>
          <a:lstStyle/>
          <a:p>
            <a:pPr indent="0" marL="0">
              <a:buNone/>
            </a:pPr>
            <a:r>
              <a:rPr lang="en-US" sz="2400" b="1" dirty="0">
                <a:solidFill>
                  <a:srgbClr val="102B46"/>
                </a:solidFill>
                <a:latin typeface="Arial" pitchFamily="34" charset="0"/>
                <a:ea typeface="Arial" pitchFamily="34" charset="-122"/>
                <a:cs typeface="Arial" pitchFamily="34" charset="-120"/>
              </a:rPr>
              <a:t>The following reading help is separate from the preserved source.</a:t>
            </a:r>
            <a:endParaRPr lang="en-US" sz="2400" dirty="0"/>
          </a:p>
        </p:txBody>
      </p:sp>
      <p:sp>
        <p:nvSpPr>
          <p:cNvPr id="21" name="Text 17">
            <a:hlinkClick r:id="rId3"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S01 • exact retained PDF typography; source capture is not a new legal-applicability check</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01 / HELP ME READ</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Help beside the passage — not a substitute for it</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01 / Help me read</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11</a:t>
            </a:r>
            <a:endParaRPr lang="en-US" sz="1100" dirty="0"/>
          </a:p>
        </p:txBody>
      </p:sp>
      <p:sp>
        <p:nvSpPr>
          <p:cNvPr id="9" name="Shape 7"/>
          <p:cNvSpPr/>
          <p:nvPr/>
        </p:nvSpPr>
        <p:spPr>
          <a:xfrm>
            <a:off x="621792" y="1490472"/>
            <a:ext cx="9418320" cy="301752"/>
          </a:xfrm>
          <a:prstGeom prst="roundRect">
            <a:avLst>
              <a:gd name="adj" fmla="val 36364"/>
            </a:avLst>
          </a:prstGeom>
          <a:solidFill>
            <a:srgbClr val="E5F4F2"/>
          </a:solidFill>
          <a:ln w="12700">
            <a:solidFill>
              <a:srgbClr val="E5F4F2"/>
            </a:solidFill>
            <a:prstDash val="solid"/>
          </a:ln>
        </p:spPr>
      </p:sp>
      <p:sp>
        <p:nvSpPr>
          <p:cNvPr id="10" name="Text 8"/>
          <p:cNvSpPr/>
          <p:nvPr/>
        </p:nvSpPr>
        <p:spPr>
          <a:xfrm>
            <a:off x="713232" y="1531620"/>
            <a:ext cx="9235440" cy="219456"/>
          </a:xfrm>
          <a:prstGeom prst="rect">
            <a:avLst/>
          </a:prstGeom>
          <a:noFill/>
          <a:ln/>
        </p:spPr>
        <p:txBody>
          <a:bodyPr wrap="square" lIns="0" tIns="0" rIns="0" bIns="0" rtlCol="0" anchor="ctr"/>
          <a:lstStyle/>
          <a:p>
            <a:pPr indent="0" marL="0">
              <a:buNone/>
            </a:pPr>
            <a:r>
              <a:rPr lang="en-US" sz="1250" b="1" dirty="0">
                <a:solidFill>
                  <a:srgbClr val="087E87"/>
                </a:solidFill>
                <a:latin typeface="Arial" pitchFamily="34" charset="0"/>
                <a:ea typeface="Arial" pitchFamily="34" charset="-122"/>
                <a:cs typeface="Arial" pitchFamily="34" charset="-120"/>
              </a:rPr>
              <a:t>SOURCE-BOUND READING HELP • PROPOSED, NOT REVIEWED</a:t>
            </a:r>
            <a:endParaRPr lang="en-US" sz="1250" dirty="0"/>
          </a:p>
        </p:txBody>
      </p:sp>
      <p:sp>
        <p:nvSpPr>
          <p:cNvPr id="11" name="Shape 9"/>
          <p:cNvSpPr/>
          <p:nvPr/>
        </p:nvSpPr>
        <p:spPr>
          <a:xfrm>
            <a:off x="649224" y="1984248"/>
            <a:ext cx="13331952" cy="1874520"/>
          </a:xfrm>
          <a:prstGeom prst="rect">
            <a:avLst>
              <a:gd name="adj" fmla="val 5854"/>
            </a:avLst>
          </a:prstGeom>
          <a:solidFill>
            <a:srgbClr val="EDF3F7"/>
          </a:solidFill>
          <a:ln w="12700">
            <a:solidFill>
              <a:srgbClr val="D5E2E9"/>
            </a:solidFill>
            <a:prstDash val="solid"/>
          </a:ln>
        </p:spPr>
      </p:sp>
      <p:pic>
        <p:nvPicPr>
          <p:cNvPr id="12" name="Image 0" descr="S02-condition-focus: Enlarged excerpt of the unchanged passage. Full six-condition passage remains in the raw master.">    </p:cNvPr>
          <p:cNvPicPr>
            <a:picLocks noChangeAspect="1"/>
          </p:cNvPicPr>
          <p:nvPr/>
        </p:nvPicPr>
        <p:blipFill>
          <a:blip r:embed="rId1"/>
          <a:stretch>
            <a:fillRect/>
          </a:stretch>
        </p:blipFill>
        <p:spPr>
          <a:xfrm>
            <a:off x="649224" y="2039076"/>
            <a:ext cx="13331952" cy="1764863"/>
          </a:xfrm>
          <a:prstGeom prst="rect">
            <a:avLst/>
          </a:prstGeom>
        </p:spPr>
      </p:pic>
      <p:sp>
        <p:nvSpPr>
          <p:cNvPr id="13" name="Shape 10"/>
          <p:cNvSpPr/>
          <p:nvPr/>
        </p:nvSpPr>
        <p:spPr>
          <a:xfrm>
            <a:off x="649224" y="4114800"/>
            <a:ext cx="13331952" cy="2587752"/>
          </a:xfrm>
          <a:prstGeom prst="rect">
            <a:avLst>
              <a:gd name="adj" fmla="val 4240"/>
            </a:avLst>
          </a:prstGeom>
          <a:solidFill>
            <a:srgbClr val="EDF3F7"/>
          </a:solidFill>
          <a:ln w="12700">
            <a:solidFill>
              <a:srgbClr val="D5E2E9"/>
            </a:solidFill>
            <a:prstDash val="solid"/>
          </a:ln>
        </p:spPr>
      </p:sp>
      <p:pic>
        <p:nvPicPr>
          <p:cNvPr id="14" name="Image 1" descr="S02-help-expansion-focus: Exact help-card excerpt: proposed expansion, scope and unreviewed status preserved.">    </p:cNvPr>
          <p:cNvPicPr>
            <a:picLocks noChangeAspect="1"/>
          </p:cNvPicPr>
          <p:nvPr/>
        </p:nvPicPr>
        <p:blipFill>
          <a:blip r:embed="rId2"/>
          <a:stretch>
            <a:fillRect/>
          </a:stretch>
        </p:blipFill>
        <p:spPr>
          <a:xfrm>
            <a:off x="649224" y="4193524"/>
            <a:ext cx="13331952" cy="2430304"/>
          </a:xfrm>
          <a:prstGeom prst="rect">
            <a:avLst/>
          </a:prstGeom>
        </p:spPr>
      </p:pic>
      <p:sp>
        <p:nvSpPr>
          <p:cNvPr id="15" name="Text 11"/>
          <p:cNvSpPr/>
          <p:nvPr/>
        </p:nvSpPr>
        <p:spPr>
          <a:xfrm>
            <a:off x="621792" y="7104888"/>
            <a:ext cx="13258800" cy="292608"/>
          </a:xfrm>
          <a:prstGeom prst="rect">
            <a:avLst/>
          </a:prstGeom>
          <a:noFill/>
          <a:ln/>
        </p:spPr>
        <p:txBody>
          <a:bodyPr wrap="square" lIns="0" tIns="0" rIns="0" bIns="0" rtlCol="0" anchor="ctr"/>
          <a:lstStyle/>
          <a:p>
            <a:pPr indent="0" marL="0">
              <a:buNone/>
            </a:pPr>
            <a:r>
              <a:rPr lang="en-US" sz="2100" b="1" dirty="0">
                <a:solidFill>
                  <a:srgbClr val="102B46"/>
                </a:solidFill>
                <a:latin typeface="Arial" pitchFamily="34" charset="0"/>
                <a:ea typeface="Arial" pitchFamily="34" charset="-122"/>
                <a:cs typeface="Arial" pitchFamily="34" charset="-120"/>
              </a:rPr>
              <a:t>Exact source occurrence above. Separately proposed help below.</a:t>
            </a:r>
            <a:endParaRPr lang="en-US" sz="2100" dirty="0"/>
          </a:p>
        </p:txBody>
      </p:sp>
      <p:sp>
        <p:nvSpPr>
          <p:cNvPr id="16" name="Text 12">
            <a:hlinkClick r:id="rId3"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S02 • real FTE help-card interaction • candidate help is not official guidance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01 / HELP ME READ</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Follow this reference — not just this number</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01 / Help me read</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12</a:t>
            </a:r>
            <a:endParaRPr lang="en-US" sz="1100" dirty="0"/>
          </a:p>
        </p:txBody>
      </p:sp>
      <p:sp>
        <p:nvSpPr>
          <p:cNvPr id="9" name="Shape 7"/>
          <p:cNvSpPr/>
          <p:nvPr/>
        </p:nvSpPr>
        <p:spPr>
          <a:xfrm>
            <a:off x="621792" y="1490472"/>
            <a:ext cx="9601200" cy="301752"/>
          </a:xfrm>
          <a:prstGeom prst="roundRect">
            <a:avLst>
              <a:gd name="adj" fmla="val 36364"/>
            </a:avLst>
          </a:prstGeom>
          <a:solidFill>
            <a:srgbClr val="E7F2FA"/>
          </a:solidFill>
          <a:ln w="12700">
            <a:solidFill>
              <a:srgbClr val="E7F2FA"/>
            </a:solidFill>
            <a:prstDash val="solid"/>
          </a:ln>
        </p:spPr>
      </p:sp>
      <p:sp>
        <p:nvSpPr>
          <p:cNvPr id="10" name="Text 8"/>
          <p:cNvSpPr/>
          <p:nvPr/>
        </p:nvSpPr>
        <p:spPr>
          <a:xfrm>
            <a:off x="713232" y="1531620"/>
            <a:ext cx="9418320" cy="219456"/>
          </a:xfrm>
          <a:prstGeom prst="rect">
            <a:avLst/>
          </a:prstGeom>
          <a:noFill/>
          <a:ln/>
        </p:spPr>
        <p:txBody>
          <a:bodyPr wrap="square" lIns="0" tIns="0" rIns="0" bIns="0" rtlCol="0" anchor="ctr"/>
          <a:lstStyle/>
          <a:p>
            <a:pPr indent="0" marL="0">
              <a:buNone/>
            </a:pPr>
            <a:r>
              <a:rPr lang="en-US" sz="1250" b="1" dirty="0">
                <a:solidFill>
                  <a:srgbClr val="145F96"/>
                </a:solidFill>
                <a:latin typeface="Arial" pitchFamily="34" charset="0"/>
                <a:ea typeface="Arial" pitchFamily="34" charset="-122"/>
                <a:cs typeface="Arial" pitchFamily="34" charset="-120"/>
              </a:rPr>
              <a:t>OCCURRENCE-SPECIFIC NAVIGATION • NOT A LEGAL FINDING</a:t>
            </a:r>
            <a:endParaRPr lang="en-US" sz="1250" dirty="0"/>
          </a:p>
        </p:txBody>
      </p:sp>
      <p:sp>
        <p:nvSpPr>
          <p:cNvPr id="11" name="Text 9"/>
          <p:cNvSpPr/>
          <p:nvPr/>
        </p:nvSpPr>
        <p:spPr>
          <a:xfrm>
            <a:off x="694944" y="2093976"/>
            <a:ext cx="8229600" cy="320040"/>
          </a:xfrm>
          <a:prstGeom prst="rect">
            <a:avLst/>
          </a:prstGeom>
          <a:noFill/>
          <a:ln/>
        </p:spPr>
        <p:txBody>
          <a:bodyPr wrap="square" lIns="0" tIns="0" rIns="0" bIns="0" rtlCol="0" anchor="ctr"/>
          <a:lstStyle/>
          <a:p>
            <a:pPr indent="0" marL="0">
              <a:buNone/>
            </a:pPr>
            <a:r>
              <a:rPr lang="en-US" sz="2100" b="1" dirty="0">
                <a:solidFill>
                  <a:srgbClr val="145F96"/>
                </a:solidFill>
                <a:latin typeface="Arial" pitchFamily="34" charset="0"/>
                <a:ea typeface="Arial" pitchFamily="34" charset="-122"/>
                <a:cs typeface="Arial" pitchFamily="34" charset="-120"/>
              </a:rPr>
              <a:t>Body marker · source page 3</a:t>
            </a:r>
            <a:endParaRPr lang="en-US" sz="2100" dirty="0"/>
          </a:p>
        </p:txBody>
      </p:sp>
      <p:sp>
        <p:nvSpPr>
          <p:cNvPr id="12" name="Shape 10"/>
          <p:cNvSpPr/>
          <p:nvPr/>
        </p:nvSpPr>
        <p:spPr>
          <a:xfrm>
            <a:off x="640080" y="2670048"/>
            <a:ext cx="8686800" cy="1179576"/>
          </a:xfrm>
          <a:prstGeom prst="rect">
            <a:avLst>
              <a:gd name="adj" fmla="val 9302"/>
            </a:avLst>
          </a:prstGeom>
          <a:solidFill>
            <a:srgbClr val="EDF3F7"/>
          </a:solidFill>
          <a:ln w="12700">
            <a:solidFill>
              <a:srgbClr val="D5E2E9"/>
            </a:solidFill>
            <a:prstDash val="solid"/>
          </a:ln>
        </p:spPr>
      </p:sp>
      <p:pic>
        <p:nvPicPr>
          <p:cNvPr id="13" name="Image 0" descr="S03-marker-focus: Actual passage crop: condition 5 is not the same thing as source marker 5.">    </p:cNvPr>
          <p:cNvPicPr>
            <a:picLocks noChangeAspect="1"/>
          </p:cNvPicPr>
          <p:nvPr/>
        </p:nvPicPr>
        <p:blipFill>
          <a:blip r:embed="rId1"/>
          <a:stretch>
            <a:fillRect/>
          </a:stretch>
        </p:blipFill>
        <p:spPr>
          <a:xfrm>
            <a:off x="640080" y="2799608"/>
            <a:ext cx="8686800" cy="920456"/>
          </a:xfrm>
          <a:prstGeom prst="rect">
            <a:avLst/>
          </a:prstGeom>
        </p:spPr>
      </p:pic>
      <p:sp>
        <p:nvSpPr>
          <p:cNvPr id="14" name="Text 11"/>
          <p:cNvSpPr/>
          <p:nvPr/>
        </p:nvSpPr>
        <p:spPr>
          <a:xfrm>
            <a:off x="694944" y="4160520"/>
            <a:ext cx="8229600" cy="320040"/>
          </a:xfrm>
          <a:prstGeom prst="rect">
            <a:avLst/>
          </a:prstGeom>
          <a:noFill/>
          <a:ln/>
        </p:spPr>
        <p:txBody>
          <a:bodyPr wrap="square" lIns="0" tIns="0" rIns="0" bIns="0" rtlCol="0" anchor="ctr"/>
          <a:lstStyle/>
          <a:p>
            <a:pPr indent="0" marL="0">
              <a:buNone/>
            </a:pPr>
            <a:r>
              <a:rPr lang="en-US" sz="2100" b="1" dirty="0">
                <a:solidFill>
                  <a:srgbClr val="087E87"/>
                </a:solidFill>
                <a:latin typeface="Arial" pitchFamily="34" charset="0"/>
                <a:ea typeface="Arial" pitchFamily="34" charset="-122"/>
                <a:cs typeface="Arial" pitchFamily="34" charset="-120"/>
              </a:rPr>
              <a:t>Paired printed reference · source page 4</a:t>
            </a:r>
            <a:endParaRPr lang="en-US" sz="2100" dirty="0"/>
          </a:p>
        </p:txBody>
      </p:sp>
      <p:sp>
        <p:nvSpPr>
          <p:cNvPr id="15" name="Shape 12"/>
          <p:cNvSpPr/>
          <p:nvPr/>
        </p:nvSpPr>
        <p:spPr>
          <a:xfrm>
            <a:off x="640080" y="4754880"/>
            <a:ext cx="8686800" cy="1307592"/>
          </a:xfrm>
          <a:prstGeom prst="rect">
            <a:avLst>
              <a:gd name="adj" fmla="val 8392"/>
            </a:avLst>
          </a:prstGeom>
          <a:solidFill>
            <a:srgbClr val="EDF3F7"/>
          </a:solidFill>
          <a:ln w="12700">
            <a:solidFill>
              <a:srgbClr val="D5E2E9"/>
            </a:solidFill>
            <a:prstDash val="solid"/>
          </a:ln>
        </p:spPr>
      </p:sp>
      <p:pic>
        <p:nvPicPr>
          <p:cNvPr id="16" name="Image 1" descr="S03-footer-focus: Actual passage crop: condition 5 is not the same thing as source marker 5.">    </p:cNvPr>
          <p:cNvPicPr>
            <a:picLocks noChangeAspect="1"/>
          </p:cNvPicPr>
          <p:nvPr/>
        </p:nvPicPr>
        <p:blipFill>
          <a:blip r:embed="rId2"/>
          <a:stretch>
            <a:fillRect/>
          </a:stretch>
        </p:blipFill>
        <p:spPr>
          <a:xfrm>
            <a:off x="640080" y="4890920"/>
            <a:ext cx="8686800" cy="1035513"/>
          </a:xfrm>
          <a:prstGeom prst="rect">
            <a:avLst/>
          </a:prstGeom>
        </p:spPr>
      </p:pic>
      <p:sp>
        <p:nvSpPr>
          <p:cNvPr id="17" name="Text 13"/>
          <p:cNvSpPr/>
          <p:nvPr/>
        </p:nvSpPr>
        <p:spPr>
          <a:xfrm>
            <a:off x="9738360" y="2075688"/>
            <a:ext cx="4251960" cy="585216"/>
          </a:xfrm>
          <a:prstGeom prst="rect">
            <a:avLst/>
          </a:prstGeom>
          <a:noFill/>
          <a:ln/>
        </p:spPr>
        <p:txBody>
          <a:bodyPr wrap="square" lIns="0" tIns="0" rIns="0" bIns="0" rtlCol="0" anchor="ctr"/>
          <a:lstStyle/>
          <a:p>
            <a:pPr indent="0" marL="0">
              <a:buNone/>
            </a:pPr>
            <a:r>
              <a:rPr lang="en-US" sz="2500" b="1" dirty="0">
                <a:solidFill>
                  <a:srgbClr val="102B46"/>
                </a:solidFill>
                <a:latin typeface="Arial" pitchFamily="34" charset="0"/>
                <a:ea typeface="Arial" pitchFamily="34" charset="-122"/>
                <a:cs typeface="Arial" pitchFamily="34" charset="-120"/>
              </a:rPr>
              <a:t>Three different things</a:t>
            </a:r>
            <a:endParaRPr lang="en-US" sz="2500" dirty="0"/>
          </a:p>
        </p:txBody>
      </p:sp>
      <p:sp>
        <p:nvSpPr>
          <p:cNvPr id="18" name="Shape 14"/>
          <p:cNvSpPr/>
          <p:nvPr/>
        </p:nvSpPr>
        <p:spPr>
          <a:xfrm>
            <a:off x="9738360" y="2907792"/>
            <a:ext cx="4251960" cy="612648"/>
          </a:xfrm>
          <a:prstGeom prst="rect">
            <a:avLst>
              <a:gd name="adj" fmla="val 17910"/>
            </a:avLst>
          </a:prstGeom>
          <a:solidFill>
            <a:srgbClr val="EDF3F7"/>
          </a:solidFill>
          <a:ln w="12700">
            <a:solidFill>
              <a:srgbClr val="EDF3F7"/>
            </a:solidFill>
            <a:prstDash val="solid"/>
          </a:ln>
        </p:spPr>
      </p:sp>
      <p:sp>
        <p:nvSpPr>
          <p:cNvPr id="19" name="Text 15"/>
          <p:cNvSpPr/>
          <p:nvPr/>
        </p:nvSpPr>
        <p:spPr>
          <a:xfrm>
            <a:off x="9939528" y="3063240"/>
            <a:ext cx="3840480" cy="301752"/>
          </a:xfrm>
          <a:prstGeom prst="rect">
            <a:avLst/>
          </a:prstGeom>
          <a:noFill/>
          <a:ln/>
        </p:spPr>
        <p:txBody>
          <a:bodyPr wrap="square" lIns="0" tIns="0" rIns="0" bIns="0" rtlCol="0" anchor="ctr"/>
          <a:lstStyle/>
          <a:p>
            <a:pPr indent="0" marL="0">
              <a:buNone/>
            </a:pPr>
            <a:r>
              <a:rPr lang="en-US" sz="2200" dirty="0">
                <a:solidFill>
                  <a:srgbClr val="172E43"/>
                </a:solidFill>
                <a:latin typeface="Arial" pitchFamily="34" charset="0"/>
                <a:ea typeface="Arial" pitchFamily="34" charset="-122"/>
                <a:cs typeface="Arial" pitchFamily="34" charset="-120"/>
              </a:rPr>
              <a:t>Condition 5</a:t>
            </a:r>
            <a:endParaRPr lang="en-US" sz="2200" dirty="0"/>
          </a:p>
        </p:txBody>
      </p:sp>
      <p:sp>
        <p:nvSpPr>
          <p:cNvPr id="20" name="Shape 16"/>
          <p:cNvSpPr/>
          <p:nvPr/>
        </p:nvSpPr>
        <p:spPr>
          <a:xfrm>
            <a:off x="9738360" y="3675888"/>
            <a:ext cx="4251960" cy="612648"/>
          </a:xfrm>
          <a:prstGeom prst="rect">
            <a:avLst>
              <a:gd name="adj" fmla="val 17910"/>
            </a:avLst>
          </a:prstGeom>
          <a:solidFill>
            <a:srgbClr val="E5F4F2"/>
          </a:solidFill>
          <a:ln w="12700">
            <a:solidFill>
              <a:srgbClr val="E5F4F2"/>
            </a:solidFill>
            <a:prstDash val="solid"/>
          </a:ln>
        </p:spPr>
      </p:sp>
      <p:sp>
        <p:nvSpPr>
          <p:cNvPr id="21" name="Text 17"/>
          <p:cNvSpPr/>
          <p:nvPr/>
        </p:nvSpPr>
        <p:spPr>
          <a:xfrm>
            <a:off x="9939528" y="3831336"/>
            <a:ext cx="3840480" cy="301752"/>
          </a:xfrm>
          <a:prstGeom prst="rect">
            <a:avLst/>
          </a:prstGeom>
          <a:noFill/>
          <a:ln/>
        </p:spPr>
        <p:txBody>
          <a:bodyPr wrap="square" lIns="0" tIns="0" rIns="0" bIns="0" rtlCol="0" anchor="ctr"/>
          <a:lstStyle/>
          <a:p>
            <a:pPr indent="0" marL="0">
              <a:buNone/>
            </a:pPr>
            <a:r>
              <a:rPr lang="en-US" sz="2200" b="1" dirty="0">
                <a:solidFill>
                  <a:srgbClr val="087E87"/>
                </a:solidFill>
                <a:latin typeface="Arial" pitchFamily="34" charset="0"/>
                <a:ea typeface="Arial" pitchFamily="34" charset="-122"/>
                <a:cs typeface="Arial" pitchFamily="34" charset="-120"/>
              </a:rPr>
              <a:t>Raised marker 5</a:t>
            </a:r>
            <a:endParaRPr lang="en-US" sz="2200" dirty="0"/>
          </a:p>
        </p:txBody>
      </p:sp>
      <p:sp>
        <p:nvSpPr>
          <p:cNvPr id="22" name="Shape 18"/>
          <p:cNvSpPr/>
          <p:nvPr/>
        </p:nvSpPr>
        <p:spPr>
          <a:xfrm>
            <a:off x="9738360" y="4443984"/>
            <a:ext cx="4251960" cy="612648"/>
          </a:xfrm>
          <a:prstGeom prst="rect">
            <a:avLst>
              <a:gd name="adj" fmla="val 17910"/>
            </a:avLst>
          </a:prstGeom>
          <a:solidFill>
            <a:srgbClr val="EDF3F7"/>
          </a:solidFill>
          <a:ln w="12700">
            <a:solidFill>
              <a:srgbClr val="EDF3F7"/>
            </a:solidFill>
            <a:prstDash val="solid"/>
          </a:ln>
        </p:spPr>
      </p:sp>
      <p:sp>
        <p:nvSpPr>
          <p:cNvPr id="23" name="Text 19"/>
          <p:cNvSpPr/>
          <p:nvPr/>
        </p:nvSpPr>
        <p:spPr>
          <a:xfrm>
            <a:off x="9939528" y="4599432"/>
            <a:ext cx="3840480" cy="301752"/>
          </a:xfrm>
          <a:prstGeom prst="rect">
            <a:avLst/>
          </a:prstGeom>
          <a:noFill/>
          <a:ln/>
        </p:spPr>
        <p:txBody>
          <a:bodyPr wrap="square" lIns="0" tIns="0" rIns="0" bIns="0" rtlCol="0" anchor="ctr"/>
          <a:lstStyle/>
          <a:p>
            <a:pPr indent="0" marL="0">
              <a:buNone/>
            </a:pPr>
            <a:r>
              <a:rPr lang="en-US" sz="2200" dirty="0">
                <a:solidFill>
                  <a:srgbClr val="172E43"/>
                </a:solidFill>
                <a:latin typeface="Arial" pitchFamily="34" charset="0"/>
                <a:ea typeface="Arial" pitchFamily="34" charset="-122"/>
                <a:cs typeface="Arial" pitchFamily="34" charset="-120"/>
              </a:rPr>
              <a:t>Reference: s 70(3)</a:t>
            </a:r>
            <a:endParaRPr lang="en-US" sz="2200" dirty="0"/>
          </a:p>
        </p:txBody>
      </p:sp>
      <p:sp>
        <p:nvSpPr>
          <p:cNvPr id="24" name="Text 20"/>
          <p:cNvSpPr/>
          <p:nvPr/>
        </p:nvSpPr>
        <p:spPr>
          <a:xfrm>
            <a:off x="621792" y="6528816"/>
            <a:ext cx="13350240" cy="576072"/>
          </a:xfrm>
          <a:prstGeom prst="rect">
            <a:avLst/>
          </a:prstGeom>
          <a:noFill/>
          <a:ln/>
        </p:spPr>
        <p:txBody>
          <a:bodyPr wrap="square" lIns="0" tIns="0" rIns="0" bIns="0" rtlCol="0" anchor="ctr"/>
          <a:lstStyle/>
          <a:p>
            <a:pPr indent="0" marL="0">
              <a:buNone/>
            </a:pPr>
            <a:r>
              <a:rPr lang="en-US" sz="2600" b="1" dirty="0">
                <a:solidFill>
                  <a:srgbClr val="966410"/>
                </a:solidFill>
                <a:latin typeface="Arial" pitchFamily="34" charset="0"/>
                <a:ea typeface="Arial" pitchFamily="34" charset="-122"/>
                <a:cs typeface="Arial" pitchFamily="34" charset="-120"/>
              </a:rPr>
              <a:t>A dated link resolves navigation, not legal applicability or dependency completeness.</a:t>
            </a:r>
            <a:endParaRPr lang="en-US" sz="2600" dirty="0"/>
          </a:p>
        </p:txBody>
      </p:sp>
      <p:sp>
        <p:nvSpPr>
          <p:cNvPr id="25" name="Text 21">
            <a:hlinkClick r:id="rId3"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S03 • actual marker-to-footer navigation; dated target retained in receipt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02 / HELP ME INVESTIGATE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Two dates. One important missing boundary.</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02 / Help me investigate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13</a:t>
            </a:r>
            <a:endParaRPr lang="en-US" sz="1100" dirty="0"/>
          </a:p>
        </p:txBody>
      </p:sp>
      <p:sp>
        <p:nvSpPr>
          <p:cNvPr id="9" name="Shape 7"/>
          <p:cNvSpPr/>
          <p:nvPr/>
        </p:nvSpPr>
        <p:spPr>
          <a:xfrm>
            <a:off x="640080" y="1746504"/>
            <a:ext cx="13350240" cy="1929384"/>
          </a:xfrm>
          <a:prstGeom prst="rect">
            <a:avLst>
              <a:gd name="adj" fmla="val 5687"/>
            </a:avLst>
          </a:prstGeom>
          <a:solidFill>
            <a:srgbClr val="EDF3F7"/>
          </a:solidFill>
          <a:ln w="12700">
            <a:solidFill>
              <a:srgbClr val="EDF3F7"/>
            </a:solidFill>
            <a:prstDash val="solid"/>
          </a:ln>
        </p:spPr>
      </p:sp>
      <p:sp>
        <p:nvSpPr>
          <p:cNvPr id="10" name="Text 8"/>
          <p:cNvSpPr/>
          <p:nvPr/>
        </p:nvSpPr>
        <p:spPr>
          <a:xfrm>
            <a:off x="914400" y="1965960"/>
            <a:ext cx="12801600" cy="1508760"/>
          </a:xfrm>
          <a:prstGeom prst="rect">
            <a:avLst/>
          </a:prstGeom>
          <a:noFill/>
          <a:ln/>
        </p:spPr>
        <p:txBody>
          <a:bodyPr wrap="square" lIns="0" tIns="0" rIns="0" bIns="0" rtlCol="0" anchor="ctr"/>
          <a:lstStyle/>
          <a:p>
            <a:pPr indent="0" marL="0">
              <a:buNone/>
            </a:pPr>
            <a:r>
              <a:rPr lang="en-US" sz="2600" b="1" dirty="0">
                <a:solidFill>
                  <a:srgbClr val="102B46"/>
                </a:solidFill>
                <a:latin typeface="Arial" pitchFamily="34" charset="0"/>
                <a:ea typeface="Arial" pitchFamily="34" charset="-122"/>
                <a:cs typeface="Arial" pitchFamily="34" charset="-120"/>
              </a:rPr>
              <a:t>“Where a child is awarded the highest-rate care component of DLA from 26 January 2025, but the change is reported to Universal Credit on 28 March 2026, what’s the effective date of the higher disabled-child addition, and from which assessment period should it be paid?”</a:t>
            </a:r>
            <a:endParaRPr lang="en-US" sz="2600" dirty="0"/>
          </a:p>
        </p:txBody>
      </p:sp>
      <p:sp>
        <p:nvSpPr>
          <p:cNvPr id="11" name="Shape 9"/>
          <p:cNvSpPr/>
          <p:nvPr/>
        </p:nvSpPr>
        <p:spPr>
          <a:xfrm>
            <a:off x="640080" y="4297680"/>
            <a:ext cx="4251960" cy="1591056"/>
          </a:xfrm>
          <a:prstGeom prst="rect">
            <a:avLst>
              <a:gd name="adj" fmla="val 6897"/>
            </a:avLst>
          </a:prstGeom>
          <a:solidFill>
            <a:srgbClr val="EDF3F7"/>
          </a:solidFill>
          <a:ln w="12700">
            <a:solidFill>
              <a:srgbClr val="EDF3F7"/>
            </a:solidFill>
            <a:prstDash val="solid"/>
          </a:ln>
        </p:spPr>
      </p:sp>
      <p:sp>
        <p:nvSpPr>
          <p:cNvPr id="12" name="Text 10"/>
          <p:cNvSpPr/>
          <p:nvPr/>
        </p:nvSpPr>
        <p:spPr>
          <a:xfrm>
            <a:off x="832104" y="4517136"/>
            <a:ext cx="3867912" cy="411480"/>
          </a:xfrm>
          <a:prstGeom prst="rect">
            <a:avLst/>
          </a:prstGeom>
          <a:noFill/>
          <a:ln/>
        </p:spPr>
        <p:txBody>
          <a:bodyPr wrap="square" lIns="0" tIns="0" rIns="0" bIns="0" rtlCol="0" anchor="ctr"/>
          <a:lstStyle/>
          <a:p>
            <a:pPr indent="0" marL="0">
              <a:buNone/>
            </a:pPr>
            <a:r>
              <a:rPr lang="en-US" sz="2500" b="1" dirty="0">
                <a:solidFill>
                  <a:srgbClr val="145F96"/>
                </a:solidFill>
                <a:latin typeface="Arial" pitchFamily="34" charset="0"/>
                <a:ea typeface="Arial" pitchFamily="34" charset="-122"/>
                <a:cs typeface="Arial" pitchFamily="34" charset="-120"/>
              </a:rPr>
              <a:t>26 January 2025</a:t>
            </a:r>
            <a:endParaRPr lang="en-US" sz="2500" dirty="0"/>
          </a:p>
        </p:txBody>
      </p:sp>
      <p:sp>
        <p:nvSpPr>
          <p:cNvPr id="13" name="Text 11"/>
          <p:cNvSpPr/>
          <p:nvPr/>
        </p:nvSpPr>
        <p:spPr>
          <a:xfrm>
            <a:off x="832104" y="5111496"/>
            <a:ext cx="3867912" cy="557784"/>
          </a:xfrm>
          <a:prstGeom prst="rect">
            <a:avLst/>
          </a:prstGeom>
          <a:noFill/>
          <a:ln/>
        </p:spPr>
        <p:txBody>
          <a:bodyPr wrap="square" lIns="0" tIns="0" rIns="0" bIns="0" rtlCol="0" anchor="ctr"/>
          <a:lstStyle/>
          <a:p>
            <a:pPr indent="0" marL="0">
              <a:buNone/>
            </a:pPr>
            <a:r>
              <a:rPr lang="en-US" sz="2000" dirty="0">
                <a:solidFill>
                  <a:srgbClr val="172E43"/>
                </a:solidFill>
                <a:latin typeface="Arial" pitchFamily="34" charset="0"/>
                <a:ea typeface="Arial" pitchFamily="34" charset="-122"/>
                <a:cs typeface="Arial" pitchFamily="34" charset="-120"/>
              </a:rPr>
              <a:t>DLA entitlement date stated</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in the question</a:t>
            </a:r>
            <a:endParaRPr lang="en-US" sz="2000" dirty="0"/>
          </a:p>
        </p:txBody>
      </p:sp>
      <p:sp>
        <p:nvSpPr>
          <p:cNvPr id="14" name="Shape 12"/>
          <p:cNvSpPr/>
          <p:nvPr/>
        </p:nvSpPr>
        <p:spPr>
          <a:xfrm>
            <a:off x="5193792" y="4297680"/>
            <a:ext cx="4251960" cy="1591056"/>
          </a:xfrm>
          <a:prstGeom prst="rect">
            <a:avLst>
              <a:gd name="adj" fmla="val 6897"/>
            </a:avLst>
          </a:prstGeom>
          <a:solidFill>
            <a:srgbClr val="EDF3F7"/>
          </a:solidFill>
          <a:ln w="12700">
            <a:solidFill>
              <a:srgbClr val="EDF3F7"/>
            </a:solidFill>
            <a:prstDash val="solid"/>
          </a:ln>
        </p:spPr>
      </p:sp>
      <p:sp>
        <p:nvSpPr>
          <p:cNvPr id="15" name="Text 13"/>
          <p:cNvSpPr/>
          <p:nvPr/>
        </p:nvSpPr>
        <p:spPr>
          <a:xfrm>
            <a:off x="5385816" y="4517136"/>
            <a:ext cx="3867912" cy="411480"/>
          </a:xfrm>
          <a:prstGeom prst="rect">
            <a:avLst/>
          </a:prstGeom>
          <a:noFill/>
          <a:ln/>
        </p:spPr>
        <p:txBody>
          <a:bodyPr wrap="square" lIns="0" tIns="0" rIns="0" bIns="0" rtlCol="0" anchor="ctr"/>
          <a:lstStyle/>
          <a:p>
            <a:pPr indent="0" marL="0">
              <a:buNone/>
            </a:pPr>
            <a:r>
              <a:rPr lang="en-US" sz="2500" b="1" dirty="0">
                <a:solidFill>
                  <a:srgbClr val="087E87"/>
                </a:solidFill>
                <a:latin typeface="Arial" pitchFamily="34" charset="0"/>
                <a:ea typeface="Arial" pitchFamily="34" charset="-122"/>
                <a:cs typeface="Arial" pitchFamily="34" charset="-120"/>
              </a:rPr>
              <a:t>28 March 2026</a:t>
            </a:r>
            <a:endParaRPr lang="en-US" sz="2500" dirty="0"/>
          </a:p>
        </p:txBody>
      </p:sp>
      <p:sp>
        <p:nvSpPr>
          <p:cNvPr id="16" name="Text 14"/>
          <p:cNvSpPr/>
          <p:nvPr/>
        </p:nvSpPr>
        <p:spPr>
          <a:xfrm>
            <a:off x="5385816" y="5111496"/>
            <a:ext cx="3867912" cy="557784"/>
          </a:xfrm>
          <a:prstGeom prst="rect">
            <a:avLst/>
          </a:prstGeom>
          <a:noFill/>
          <a:ln/>
        </p:spPr>
        <p:txBody>
          <a:bodyPr wrap="square" lIns="0" tIns="0" rIns="0" bIns="0" rtlCol="0" anchor="ctr"/>
          <a:lstStyle/>
          <a:p>
            <a:pPr indent="0" marL="0">
              <a:buNone/>
            </a:pPr>
            <a:r>
              <a:rPr lang="en-US" sz="2000" dirty="0">
                <a:solidFill>
                  <a:srgbClr val="172E43"/>
                </a:solidFill>
                <a:latin typeface="Arial" pitchFamily="34" charset="0"/>
                <a:ea typeface="Arial" pitchFamily="34" charset="-122"/>
                <a:cs typeface="Arial" pitchFamily="34" charset="-120"/>
              </a:rPr>
              <a:t>Change reported to</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Universal Credit</a:t>
            </a:r>
            <a:endParaRPr lang="en-US" sz="2000" dirty="0"/>
          </a:p>
        </p:txBody>
      </p:sp>
      <p:sp>
        <p:nvSpPr>
          <p:cNvPr id="17" name="Shape 15"/>
          <p:cNvSpPr/>
          <p:nvPr/>
        </p:nvSpPr>
        <p:spPr>
          <a:xfrm>
            <a:off x="9747504" y="4297680"/>
            <a:ext cx="4251960" cy="1591056"/>
          </a:xfrm>
          <a:prstGeom prst="rect">
            <a:avLst>
              <a:gd name="adj" fmla="val 6897"/>
            </a:avLst>
          </a:prstGeom>
          <a:solidFill>
            <a:srgbClr val="EDF3F7"/>
          </a:solidFill>
          <a:ln w="12700">
            <a:solidFill>
              <a:srgbClr val="EDF3F7"/>
            </a:solidFill>
            <a:prstDash val="solid"/>
          </a:ln>
        </p:spPr>
      </p:sp>
      <p:sp>
        <p:nvSpPr>
          <p:cNvPr id="18" name="Text 16"/>
          <p:cNvSpPr/>
          <p:nvPr/>
        </p:nvSpPr>
        <p:spPr>
          <a:xfrm>
            <a:off x="9939528" y="4517136"/>
            <a:ext cx="3867912" cy="411480"/>
          </a:xfrm>
          <a:prstGeom prst="rect">
            <a:avLst/>
          </a:prstGeom>
          <a:noFill/>
          <a:ln/>
        </p:spPr>
        <p:txBody>
          <a:bodyPr wrap="square" lIns="0" tIns="0" rIns="0" bIns="0" rtlCol="0" anchor="ctr"/>
          <a:lstStyle/>
          <a:p>
            <a:pPr indent="0" marL="0">
              <a:buNone/>
            </a:pPr>
            <a:r>
              <a:rPr lang="en-US" sz="2500" b="1" dirty="0">
                <a:solidFill>
                  <a:srgbClr val="966410"/>
                </a:solidFill>
                <a:latin typeface="Arial" pitchFamily="34" charset="0"/>
                <a:ea typeface="Arial" pitchFamily="34" charset="-122"/>
                <a:cs typeface="Arial" pitchFamily="34" charset="-120"/>
              </a:rPr>
              <a:t>Not supplied</a:t>
            </a:r>
            <a:endParaRPr lang="en-US" sz="2500" dirty="0"/>
          </a:p>
        </p:txBody>
      </p:sp>
      <p:sp>
        <p:nvSpPr>
          <p:cNvPr id="19" name="Text 17"/>
          <p:cNvSpPr/>
          <p:nvPr/>
        </p:nvSpPr>
        <p:spPr>
          <a:xfrm>
            <a:off x="9939528" y="5111496"/>
            <a:ext cx="3867912" cy="557784"/>
          </a:xfrm>
          <a:prstGeom prst="rect">
            <a:avLst/>
          </a:prstGeom>
          <a:noFill/>
          <a:ln/>
        </p:spPr>
        <p:txBody>
          <a:bodyPr wrap="square" lIns="0" tIns="0" rIns="0" bIns="0" rtlCol="0" anchor="ctr"/>
          <a:lstStyle/>
          <a:p>
            <a:pPr indent="0" marL="0">
              <a:buNone/>
            </a:pPr>
            <a:r>
              <a:rPr lang="en-US" sz="2000" dirty="0">
                <a:solidFill>
                  <a:srgbClr val="172E43"/>
                </a:solidFill>
                <a:latin typeface="Arial" pitchFamily="34" charset="0"/>
                <a:ea typeface="Arial" pitchFamily="34" charset="-122"/>
                <a:cs typeface="Arial" pitchFamily="34" charset="-120"/>
              </a:rPr>
              <a:t>Assessment-period</a:t>
            </a:r>
            <a:endParaRPr lang="en-US" sz="2000" dirty="0"/>
          </a:p>
          <a:p>
            <a:pPr indent="0" marL="0">
              <a:buNone/>
            </a:pPr>
            <a:r>
              <a:rPr lang="en-US" sz="2000" dirty="0">
                <a:solidFill>
                  <a:srgbClr val="172E43"/>
                </a:solidFill>
                <a:latin typeface="Arial" pitchFamily="34" charset="0"/>
                <a:ea typeface="Arial" pitchFamily="34" charset="-122"/>
                <a:cs typeface="Arial" pitchFamily="34" charset="-120"/>
              </a:rPr>
              <a:t>start and end dates</a:t>
            </a:r>
            <a:endParaRPr lang="en-US" sz="2000" dirty="0"/>
          </a:p>
        </p:txBody>
      </p:sp>
      <p:sp>
        <p:nvSpPr>
          <p:cNvPr id="20" name="Text 18"/>
          <p:cNvSpPr/>
          <p:nvPr/>
        </p:nvSpPr>
        <p:spPr>
          <a:xfrm>
            <a:off x="621792" y="6711696"/>
            <a:ext cx="13350240" cy="521208"/>
          </a:xfrm>
          <a:prstGeom prst="rect">
            <a:avLst/>
          </a:prstGeom>
          <a:noFill/>
          <a:ln/>
        </p:spPr>
        <p:txBody>
          <a:bodyPr wrap="square" lIns="0" tIns="0" rIns="0" bIns="0" rtlCol="0" anchor="ctr"/>
          <a:lstStyle/>
          <a:p>
            <a:pPr indent="0" marL="0">
              <a:buNone/>
            </a:pPr>
            <a:r>
              <a:rPr lang="en-US" sz="2800" b="1" dirty="0">
                <a:solidFill>
                  <a:srgbClr val="102B46"/>
                </a:solidFill>
                <a:latin typeface="Arial" pitchFamily="34" charset="0"/>
                <a:ea typeface="Arial" pitchFamily="34" charset="-122"/>
                <a:cs typeface="Arial" pitchFamily="34" charset="-120"/>
              </a:rPr>
              <a:t>Investigate the rule branch before attempting an answer.</a:t>
            </a:r>
            <a:endParaRPr lang="en-US" sz="2800" dirty="0"/>
          </a:p>
        </p:txBody>
      </p:sp>
      <p:sp>
        <p:nvSpPr>
          <p:cNvPr id="21" name="Text 19">
            <a:hlinkClick r:id="rId1"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Nick’s original question • DLA = Disability Living Allowance • no assessment-period dates have been invented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02 / A DIAGNOSTIC, NOT A SUCCESSFUL ANSWER</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The retained retrieval missed the relevant branch</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02 / A diagnostic, not a successful answer</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14</a:t>
            </a:r>
            <a:endParaRPr lang="en-US" sz="1100" dirty="0"/>
          </a:p>
        </p:txBody>
      </p:sp>
      <p:sp>
        <p:nvSpPr>
          <p:cNvPr id="9" name="Shape 7"/>
          <p:cNvSpPr/>
          <p:nvPr/>
        </p:nvSpPr>
        <p:spPr>
          <a:xfrm>
            <a:off x="621792" y="1490472"/>
            <a:ext cx="11247120" cy="301752"/>
          </a:xfrm>
          <a:prstGeom prst="roundRect">
            <a:avLst>
              <a:gd name="adj" fmla="val 36364"/>
            </a:avLst>
          </a:prstGeom>
          <a:solidFill>
            <a:srgbClr val="FFF3D9"/>
          </a:solidFill>
          <a:ln w="12700">
            <a:solidFill>
              <a:srgbClr val="FFF3D9"/>
            </a:solidFill>
            <a:prstDash val="solid"/>
          </a:ln>
        </p:spPr>
      </p:sp>
      <p:sp>
        <p:nvSpPr>
          <p:cNvPr id="10" name="Text 8"/>
          <p:cNvSpPr/>
          <p:nvPr/>
        </p:nvSpPr>
        <p:spPr>
          <a:xfrm>
            <a:off x="713232" y="1531620"/>
            <a:ext cx="11064240" cy="219456"/>
          </a:xfrm>
          <a:prstGeom prst="rect">
            <a:avLst/>
          </a:prstGeom>
          <a:noFill/>
          <a:ln/>
        </p:spPr>
        <p:txBody>
          <a:bodyPr wrap="square" lIns="0" tIns="0" rIns="0" bIns="0" rtlCol="0" anchor="ctr"/>
          <a:lstStyle/>
          <a:p>
            <a:pPr indent="0" marL="0">
              <a:buNone/>
            </a:pPr>
            <a:r>
              <a:rPr lang="en-US" sz="1250" b="1" dirty="0">
                <a:solidFill>
                  <a:srgbClr val="966410"/>
                </a:solidFill>
                <a:latin typeface="Arial" pitchFamily="34" charset="0"/>
                <a:ea typeface="Arial" pitchFamily="34" charset="-122"/>
                <a:cs typeface="Arial" pitchFamily="34" charset="-120"/>
              </a:rPr>
              <a:t>HISTORICAL OBSERVATION • OUTSIDE THE FROZEN 40 • NOT RERUN</a:t>
            </a:r>
            <a:endParaRPr lang="en-US" sz="1250" dirty="0"/>
          </a:p>
        </p:txBody>
      </p:sp>
      <p:sp>
        <p:nvSpPr>
          <p:cNvPr id="11" name="Shape 9"/>
          <p:cNvSpPr/>
          <p:nvPr/>
        </p:nvSpPr>
        <p:spPr>
          <a:xfrm>
            <a:off x="640080" y="2011680"/>
            <a:ext cx="6565392" cy="5129784"/>
          </a:xfrm>
          <a:prstGeom prst="rect">
            <a:avLst>
              <a:gd name="adj" fmla="val 2139"/>
            </a:avLst>
          </a:prstGeom>
          <a:solidFill>
            <a:srgbClr val="EDF3F7"/>
          </a:solidFill>
          <a:ln w="12700">
            <a:solidFill>
              <a:srgbClr val="D5E2E9"/>
            </a:solidFill>
            <a:prstDash val="solid"/>
          </a:ln>
        </p:spPr>
      </p:sp>
      <p:pic>
        <p:nvPicPr>
          <p:cNvPr id="12" name="Image 0" descr="S05b: F1123 selected; A4361/A4352/F1120 missed; unrelated Staff 008 requirement; insufficient.">    </p:cNvPr>
          <p:cNvPicPr>
            <a:picLocks noChangeAspect="1"/>
          </p:cNvPicPr>
          <p:nvPr/>
        </p:nvPicPr>
        <p:blipFill>
          <a:blip r:embed="rId1"/>
          <a:stretch>
            <a:fillRect/>
          </a:stretch>
        </p:blipFill>
        <p:spPr>
          <a:xfrm>
            <a:off x="939246" y="2011680"/>
            <a:ext cx="5967059" cy="5129784"/>
          </a:xfrm>
          <a:prstGeom prst="rect">
            <a:avLst/>
          </a:prstGeom>
        </p:spPr>
      </p:pic>
      <p:sp>
        <p:nvSpPr>
          <p:cNvPr id="13" name="Shape 10"/>
          <p:cNvSpPr/>
          <p:nvPr/>
        </p:nvSpPr>
        <p:spPr>
          <a:xfrm>
            <a:off x="7589520" y="2011680"/>
            <a:ext cx="6400800" cy="1371600"/>
          </a:xfrm>
          <a:prstGeom prst="roundRect">
            <a:avLst>
              <a:gd name="adj" fmla="val 8000"/>
            </a:avLst>
          </a:prstGeom>
          <a:solidFill>
            <a:srgbClr val="EDF3F7"/>
          </a:solidFill>
          <a:ln w="12700">
            <a:solidFill>
              <a:srgbClr val="EDF3F7"/>
            </a:solidFill>
            <a:prstDash val="solid"/>
          </a:ln>
        </p:spPr>
      </p:sp>
      <p:sp>
        <p:nvSpPr>
          <p:cNvPr id="14" name="Shape 11"/>
          <p:cNvSpPr/>
          <p:nvPr/>
        </p:nvSpPr>
        <p:spPr>
          <a:xfrm>
            <a:off x="7589520" y="2011680"/>
            <a:ext cx="50292" cy="1371600"/>
          </a:xfrm>
          <a:prstGeom prst="rect">
            <a:avLst>
              <a:gd name="adj" fmla="val 218182"/>
            </a:avLst>
          </a:prstGeom>
          <a:solidFill>
            <a:srgbClr val="087E87"/>
          </a:solidFill>
          <a:ln w="12700">
            <a:solidFill>
              <a:srgbClr val="087E87"/>
            </a:solidFill>
            <a:prstDash val="solid"/>
          </a:ln>
        </p:spPr>
      </p:sp>
      <p:sp>
        <p:nvSpPr>
          <p:cNvPr id="15" name="Text 12"/>
          <p:cNvSpPr/>
          <p:nvPr/>
        </p:nvSpPr>
        <p:spPr>
          <a:xfrm>
            <a:off x="7790688" y="2176272"/>
            <a:ext cx="6007608" cy="457200"/>
          </a:xfrm>
          <a:prstGeom prst="rect">
            <a:avLst/>
          </a:prstGeom>
          <a:noFill/>
          <a:ln/>
        </p:spPr>
        <p:txBody>
          <a:bodyPr wrap="square" lIns="0" tIns="0" rIns="0" bIns="0" rtlCol="0" anchor="ctr"/>
          <a:lstStyle/>
          <a:p>
            <a:pPr indent="0" marL="0">
              <a:buNone/>
            </a:pPr>
            <a:r>
              <a:rPr lang="en-US" sz="2200" b="1" dirty="0">
                <a:solidFill>
                  <a:srgbClr val="087E87"/>
                </a:solidFill>
                <a:latin typeface="Arial" pitchFamily="34" charset="0"/>
                <a:ea typeface="Arial" pitchFamily="34" charset="-122"/>
                <a:cs typeface="Arial" pitchFamily="34" charset="-120"/>
              </a:rPr>
              <a:t>Selected</a:t>
            </a:r>
            <a:endParaRPr lang="en-US" sz="2200" dirty="0"/>
          </a:p>
        </p:txBody>
      </p:sp>
      <p:sp>
        <p:nvSpPr>
          <p:cNvPr id="16" name="Text 13"/>
          <p:cNvSpPr/>
          <p:nvPr/>
        </p:nvSpPr>
        <p:spPr>
          <a:xfrm>
            <a:off x="7790688" y="2779776"/>
            <a:ext cx="6007608" cy="475488"/>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F1123</a:t>
            </a:r>
            <a:endParaRPr lang="en-US" sz="2000" dirty="0"/>
          </a:p>
        </p:txBody>
      </p:sp>
      <p:sp>
        <p:nvSpPr>
          <p:cNvPr id="17" name="Shape 14"/>
          <p:cNvSpPr/>
          <p:nvPr/>
        </p:nvSpPr>
        <p:spPr>
          <a:xfrm>
            <a:off x="7589520" y="3611880"/>
            <a:ext cx="6400800" cy="1371600"/>
          </a:xfrm>
          <a:prstGeom prst="roundRect">
            <a:avLst>
              <a:gd name="adj" fmla="val 8000"/>
            </a:avLst>
          </a:prstGeom>
          <a:solidFill>
            <a:srgbClr val="EDF3F7"/>
          </a:solidFill>
          <a:ln w="12700">
            <a:solidFill>
              <a:srgbClr val="EDF3F7"/>
            </a:solidFill>
            <a:prstDash val="solid"/>
          </a:ln>
        </p:spPr>
      </p:sp>
      <p:sp>
        <p:nvSpPr>
          <p:cNvPr id="18" name="Shape 15"/>
          <p:cNvSpPr/>
          <p:nvPr/>
        </p:nvSpPr>
        <p:spPr>
          <a:xfrm>
            <a:off x="7589520" y="3611880"/>
            <a:ext cx="50292" cy="1371600"/>
          </a:xfrm>
          <a:prstGeom prst="rect">
            <a:avLst>
              <a:gd name="adj" fmla="val 218182"/>
            </a:avLst>
          </a:prstGeom>
          <a:solidFill>
            <a:srgbClr val="966410"/>
          </a:solidFill>
          <a:ln w="12700">
            <a:solidFill>
              <a:srgbClr val="966410"/>
            </a:solidFill>
            <a:prstDash val="solid"/>
          </a:ln>
        </p:spPr>
      </p:sp>
      <p:sp>
        <p:nvSpPr>
          <p:cNvPr id="19" name="Text 16"/>
          <p:cNvSpPr/>
          <p:nvPr/>
        </p:nvSpPr>
        <p:spPr>
          <a:xfrm>
            <a:off x="7790688" y="3776472"/>
            <a:ext cx="6007608" cy="457200"/>
          </a:xfrm>
          <a:prstGeom prst="rect">
            <a:avLst/>
          </a:prstGeom>
          <a:noFill/>
          <a:ln/>
        </p:spPr>
        <p:txBody>
          <a:bodyPr wrap="square" lIns="0" tIns="0" rIns="0" bIns="0" rtlCol="0" anchor="ctr"/>
          <a:lstStyle/>
          <a:p>
            <a:pPr indent="0" marL="0">
              <a:buNone/>
            </a:pPr>
            <a:r>
              <a:rPr lang="en-US" sz="2200" b="1" dirty="0">
                <a:solidFill>
                  <a:srgbClr val="966410"/>
                </a:solidFill>
                <a:latin typeface="Arial" pitchFamily="34" charset="0"/>
                <a:ea typeface="Arial" pitchFamily="34" charset="-122"/>
                <a:cs typeface="Arial" pitchFamily="34" charset="-120"/>
              </a:rPr>
              <a:t>Not selected</a:t>
            </a:r>
            <a:endParaRPr lang="en-US" sz="2200" dirty="0"/>
          </a:p>
        </p:txBody>
      </p:sp>
      <p:sp>
        <p:nvSpPr>
          <p:cNvPr id="20" name="Text 17"/>
          <p:cNvSpPr/>
          <p:nvPr/>
        </p:nvSpPr>
        <p:spPr>
          <a:xfrm>
            <a:off x="7790688" y="4379976"/>
            <a:ext cx="6007608" cy="475488"/>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A4361, A4352 and F1120</a:t>
            </a:r>
            <a:endParaRPr lang="en-US" sz="2000" dirty="0"/>
          </a:p>
        </p:txBody>
      </p:sp>
      <p:sp>
        <p:nvSpPr>
          <p:cNvPr id="21" name="Shape 18"/>
          <p:cNvSpPr/>
          <p:nvPr/>
        </p:nvSpPr>
        <p:spPr>
          <a:xfrm>
            <a:off x="7589520" y="5202936"/>
            <a:ext cx="6400800" cy="1645920"/>
          </a:xfrm>
          <a:prstGeom prst="rect">
            <a:avLst>
              <a:gd name="adj" fmla="val 6667"/>
            </a:avLst>
          </a:prstGeom>
          <a:solidFill>
            <a:srgbClr val="FFF3D9"/>
          </a:solidFill>
          <a:ln w="12700">
            <a:solidFill>
              <a:srgbClr val="FFF3D9"/>
            </a:solidFill>
            <a:prstDash val="solid"/>
          </a:ln>
        </p:spPr>
      </p:sp>
      <p:sp>
        <p:nvSpPr>
          <p:cNvPr id="22" name="Text 19"/>
          <p:cNvSpPr/>
          <p:nvPr/>
        </p:nvSpPr>
        <p:spPr>
          <a:xfrm>
            <a:off x="7818120" y="5458968"/>
            <a:ext cx="5934456" cy="621792"/>
          </a:xfrm>
          <a:prstGeom prst="rect">
            <a:avLst/>
          </a:prstGeom>
          <a:noFill/>
          <a:ln/>
        </p:spPr>
        <p:txBody>
          <a:bodyPr wrap="square" lIns="0" tIns="0" rIns="0" bIns="0" rtlCol="0" anchor="ctr"/>
          <a:lstStyle/>
          <a:p>
            <a:pPr indent="0" marL="0">
              <a:buNone/>
            </a:pPr>
            <a:r>
              <a:rPr lang="en-US" sz="2400" b="1" dirty="0">
                <a:solidFill>
                  <a:srgbClr val="172E43"/>
                </a:solidFill>
                <a:latin typeface="Arial" pitchFamily="34" charset="0"/>
                <a:ea typeface="Arial" pitchFamily="34" charset="-122"/>
                <a:cs typeface="Arial" pitchFamily="34" charset="-120"/>
              </a:rPr>
              <a:t>Also activated an unrelated Staff 008 requirement.</a:t>
            </a:r>
            <a:endParaRPr lang="en-US" sz="2400" dirty="0"/>
          </a:p>
        </p:txBody>
      </p:sp>
      <p:sp>
        <p:nvSpPr>
          <p:cNvPr id="23" name="Text 20"/>
          <p:cNvSpPr/>
          <p:nvPr/>
        </p:nvSpPr>
        <p:spPr>
          <a:xfrm>
            <a:off x="7818120" y="6318504"/>
            <a:ext cx="5934456" cy="292608"/>
          </a:xfrm>
          <a:prstGeom prst="rect">
            <a:avLst/>
          </a:prstGeom>
          <a:noFill/>
          <a:ln/>
        </p:spPr>
        <p:txBody>
          <a:bodyPr wrap="square" lIns="0" tIns="0" rIns="0" bIns="0" rtlCol="0" anchor="ctr"/>
          <a:lstStyle/>
          <a:p>
            <a:pPr indent="0" marL="0">
              <a:buNone/>
            </a:pPr>
            <a:r>
              <a:rPr lang="en-US" sz="2100" b="1" dirty="0">
                <a:solidFill>
                  <a:srgbClr val="966410"/>
                </a:solidFill>
                <a:latin typeface="Arial" pitchFamily="34" charset="0"/>
                <a:ea typeface="Arial" pitchFamily="34" charset="-122"/>
                <a:cs typeface="Arial" pitchFamily="34" charset="-120"/>
              </a:rPr>
              <a:t>Result remained insufficient.</a:t>
            </a:r>
            <a:endParaRPr lang="en-US" sz="2100" dirty="0"/>
          </a:p>
        </p:txBody>
      </p:sp>
      <p:sp>
        <p:nvSpPr>
          <p:cNvPr id="24" name="Text 21">
            <a:hlinkClick r:id="rId2"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S05 • screenshot of a retained repository diagnostic • retrieval/routing evidence, not an answer-accuracy trial</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02 / SEPARATE SOURCE INSPECTION</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Open the missing source — and keep the exception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02 / Separate source inspection</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15</a:t>
            </a:r>
            <a:endParaRPr lang="en-US" sz="1100" dirty="0"/>
          </a:p>
        </p:txBody>
      </p:sp>
      <p:sp>
        <p:nvSpPr>
          <p:cNvPr id="9" name="Shape 7"/>
          <p:cNvSpPr/>
          <p:nvPr/>
        </p:nvSpPr>
        <p:spPr>
          <a:xfrm>
            <a:off x="621792" y="1490472"/>
            <a:ext cx="12161520" cy="301752"/>
          </a:xfrm>
          <a:prstGeom prst="roundRect">
            <a:avLst>
              <a:gd name="adj" fmla="val 36364"/>
            </a:avLst>
          </a:prstGeom>
          <a:solidFill>
            <a:srgbClr val="E7F2FA"/>
          </a:solidFill>
          <a:ln w="12700">
            <a:solidFill>
              <a:srgbClr val="E7F2FA"/>
            </a:solidFill>
            <a:prstDash val="solid"/>
          </a:ln>
        </p:spPr>
      </p:sp>
      <p:sp>
        <p:nvSpPr>
          <p:cNvPr id="10" name="Text 8"/>
          <p:cNvSpPr/>
          <p:nvPr/>
        </p:nvSpPr>
        <p:spPr>
          <a:xfrm>
            <a:off x="713232" y="1531620"/>
            <a:ext cx="11978640" cy="219456"/>
          </a:xfrm>
          <a:prstGeom prst="rect">
            <a:avLst/>
          </a:prstGeom>
          <a:noFill/>
          <a:ln/>
        </p:spPr>
        <p:txBody>
          <a:bodyPr wrap="square" lIns="0" tIns="0" rIns="0" bIns="0" rtlCol="0" anchor="ctr"/>
          <a:lstStyle/>
          <a:p>
            <a:pPr indent="0" marL="0">
              <a:buNone/>
            </a:pPr>
            <a:r>
              <a:rPr lang="en-US" sz="1250" b="1" dirty="0">
                <a:solidFill>
                  <a:srgbClr val="145F96"/>
                </a:solidFill>
                <a:latin typeface="Arial" pitchFamily="34" charset="0"/>
                <a:ea typeface="Arial" pitchFamily="34" charset="-122"/>
                <a:cs typeface="Arial" pitchFamily="34" charset="-120"/>
              </a:rPr>
              <a:t>HUMAN / SOURCE INSPECTION • NOT SELECTED BY THE PRECEDING REPLAY</a:t>
            </a:r>
            <a:endParaRPr lang="en-US" sz="1250" dirty="0"/>
          </a:p>
        </p:txBody>
      </p:sp>
      <p:sp>
        <p:nvSpPr>
          <p:cNvPr id="11" name="Shape 9"/>
          <p:cNvSpPr/>
          <p:nvPr/>
        </p:nvSpPr>
        <p:spPr>
          <a:xfrm>
            <a:off x="658368" y="2048256"/>
            <a:ext cx="13322808" cy="3858768"/>
          </a:xfrm>
          <a:prstGeom prst="rect">
            <a:avLst>
              <a:gd name="adj" fmla="val 2844"/>
            </a:avLst>
          </a:prstGeom>
          <a:solidFill>
            <a:srgbClr val="EDF3F7"/>
          </a:solidFill>
          <a:ln w="12700">
            <a:solidFill>
              <a:srgbClr val="D5E2E9"/>
            </a:solidFill>
            <a:prstDash val="solid"/>
          </a:ln>
        </p:spPr>
      </p:sp>
      <p:pic>
        <p:nvPicPr>
          <p:cNvPr id="12" name="Image 0" descr="S06-A4361: Human inspection of retained ADM A4 page 36; historical retrieval did not select this branch.">    </p:cNvPr>
          <p:cNvPicPr>
            <a:picLocks noChangeAspect="1"/>
          </p:cNvPicPr>
          <p:nvPr/>
        </p:nvPicPr>
        <p:blipFill>
          <a:blip r:embed="rId1"/>
          <a:stretch>
            <a:fillRect/>
          </a:stretch>
        </p:blipFill>
        <p:spPr>
          <a:xfrm>
            <a:off x="671436" y="2048256"/>
            <a:ext cx="13296671" cy="3858768"/>
          </a:xfrm>
          <a:prstGeom prst="rect">
            <a:avLst/>
          </a:prstGeom>
        </p:spPr>
      </p:pic>
      <p:sp>
        <p:nvSpPr>
          <p:cNvPr id="13" name="Shape 10"/>
          <p:cNvSpPr/>
          <p:nvPr/>
        </p:nvSpPr>
        <p:spPr>
          <a:xfrm>
            <a:off x="658368" y="6144768"/>
            <a:ext cx="13322808" cy="576072"/>
          </a:xfrm>
          <a:prstGeom prst="rect">
            <a:avLst>
              <a:gd name="adj" fmla="val 19048"/>
            </a:avLst>
          </a:prstGeom>
          <a:solidFill>
            <a:srgbClr val="E5F4F2"/>
          </a:solidFill>
          <a:ln w="12700">
            <a:solidFill>
              <a:srgbClr val="E5F4F2"/>
            </a:solidFill>
            <a:prstDash val="solid"/>
          </a:ln>
        </p:spPr>
      </p:sp>
      <p:sp>
        <p:nvSpPr>
          <p:cNvPr id="14" name="Text 11">
            <a:hlinkClick r:id="rId2" tooltip="" action="ppaction://hlinksldjump"/>
          </p:cNvPr>
          <p:cNvSpPr/>
          <p:nvPr/>
        </p:nvSpPr>
        <p:spPr>
          <a:xfrm>
            <a:off x="868680" y="6291072"/>
            <a:ext cx="12856464" cy="292608"/>
          </a:xfrm>
          <a:prstGeom prst="rect">
            <a:avLst/>
          </a:prstGeom>
          <a:noFill/>
          <a:ln/>
        </p:spPr>
        <p:txBody>
          <a:bodyPr wrap="square" lIns="0" tIns="0" rIns="0" bIns="0" rtlCol="0" anchor="ctr"/>
          <a:lstStyle/>
          <a:p>
            <a:pPr indent="0" marL="0">
              <a:buNone/>
            </a:pPr>
            <a:r>
              <a:rPr lang="en-US" sz="2100" b="1" u="sng" dirty="0">
                <a:solidFill>
                  <a:srgbClr val="087E87"/>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A4352 explicitly points to A4360–A4361. Read the exception with the ordinary late-notification rule.</a:t>
            </a:r>
            <a:endParaRPr lang="en-US" sz="2100" dirty="0"/>
          </a:p>
        </p:txBody>
      </p:sp>
      <p:sp>
        <p:nvSpPr>
          <p:cNvPr id="15" name="Text 12"/>
          <p:cNvSpPr/>
          <p:nvPr/>
        </p:nvSpPr>
        <p:spPr>
          <a:xfrm>
            <a:off x="621792" y="7068312"/>
            <a:ext cx="13350240" cy="301752"/>
          </a:xfrm>
          <a:prstGeom prst="rect">
            <a:avLst/>
          </a:prstGeom>
          <a:noFill/>
          <a:ln/>
        </p:spPr>
        <p:txBody>
          <a:bodyPr wrap="square" lIns="0" tIns="0" rIns="0" bIns="0" rtlCol="0" anchor="ctr"/>
          <a:lstStyle/>
          <a:p>
            <a:pPr indent="0" marL="0">
              <a:buNone/>
            </a:pPr>
            <a:r>
              <a:rPr lang="en-US" sz="1900" b="1" dirty="0">
                <a:solidFill>
                  <a:srgbClr val="966410"/>
                </a:solidFill>
                <a:latin typeface="Arial" pitchFamily="34" charset="0"/>
                <a:ea typeface="Arial" pitchFamily="34" charset="-122"/>
                <a:cs typeface="Arial" pitchFamily="34" charset="-120"/>
              </a:rPr>
              <a:t>Still needed: assessment-period boundaries, relevant facts and a reviewed applicability determination.</a:t>
            </a:r>
            <a:endParaRPr lang="en-US" sz="1900" dirty="0"/>
          </a:p>
        </p:txBody>
      </p:sp>
      <p:sp>
        <p:nvSpPr>
          <p:cNvPr id="16" name="Text 13">
            <a:hlinkClick r:id="rId3"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S06 • retained ADM A4, PDF pages 36 and 34 • printed references preserved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02 / FRESH CAPITAL ASSEMBLY</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A fresh question can expose a useful evidence path</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02 / Fresh capital assembly</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16</a:t>
            </a:r>
            <a:endParaRPr lang="en-US" sz="1100" dirty="0"/>
          </a:p>
        </p:txBody>
      </p:sp>
      <p:sp>
        <p:nvSpPr>
          <p:cNvPr id="9" name="Text 7"/>
          <p:cNvSpPr/>
          <p:nvPr/>
        </p:nvSpPr>
        <p:spPr>
          <a:xfrm>
            <a:off x="713232" y="1709928"/>
            <a:ext cx="13121640" cy="923544"/>
          </a:xfrm>
          <a:prstGeom prst="rect">
            <a:avLst/>
          </a:prstGeom>
          <a:noFill/>
          <a:ln/>
        </p:spPr>
        <p:txBody>
          <a:bodyPr wrap="square" lIns="0" tIns="0" rIns="0" bIns="0" rtlCol="0" anchor="ctr"/>
          <a:lstStyle/>
          <a:p>
            <a:pPr indent="0" marL="0">
              <a:buNone/>
            </a:pPr>
            <a:r>
              <a:rPr lang="en-US" sz="2900" b="1" dirty="0">
                <a:solidFill>
                  <a:srgbClr val="102B46"/>
                </a:solidFill>
                <a:latin typeface="Arial" pitchFamily="34" charset="0"/>
                <a:ea typeface="Arial" pitchFamily="34" charset="-122"/>
                <a:cs typeface="Arial" pitchFamily="34" charset="-120"/>
              </a:rPr>
              <a:t>“Can Pension Credit treat capital as still held after someone</a:t>
            </a:r>
            <a:endParaRPr lang="en-US" sz="2900" dirty="0"/>
          </a:p>
          <a:p>
            <a:pPr indent="0" marL="0">
              <a:buNone/>
            </a:pPr>
            <a:r>
              <a:rPr lang="en-US" sz="2900" b="1" dirty="0">
                <a:solidFill>
                  <a:srgbClr val="102B46"/>
                </a:solidFill>
                <a:latin typeface="Arial" pitchFamily="34" charset="0"/>
                <a:ea typeface="Arial" pitchFamily="34" charset="-122"/>
                <a:cs typeface="Arial" pitchFamily="34" charset="-120"/>
              </a:rPr>
              <a:t>has got rid of it, and are there exceptions?”</a:t>
            </a:r>
            <a:endParaRPr lang="en-US" sz="2900" dirty="0"/>
          </a:p>
        </p:txBody>
      </p:sp>
      <p:sp>
        <p:nvSpPr>
          <p:cNvPr id="10" name="Shape 8"/>
          <p:cNvSpPr/>
          <p:nvPr/>
        </p:nvSpPr>
        <p:spPr>
          <a:xfrm>
            <a:off x="640080" y="2944368"/>
            <a:ext cx="7936992" cy="3959352"/>
          </a:xfrm>
          <a:prstGeom prst="rect">
            <a:avLst>
              <a:gd name="adj" fmla="val 2771"/>
            </a:avLst>
          </a:prstGeom>
          <a:solidFill>
            <a:srgbClr val="EDF3F7"/>
          </a:solidFill>
          <a:ln w="12700">
            <a:solidFill>
              <a:srgbClr val="D5E2E9"/>
            </a:solidFill>
            <a:prstDash val="solid"/>
          </a:ln>
        </p:spPr>
      </p:sp>
      <p:pic>
        <p:nvPicPr>
          <p:cNvPr id="11" name="Image 0" descr="S07b-r1: DMG 84861 selection is observed now; it does not establish that every exception was retrieved.">    </p:cNvPr>
          <p:cNvPicPr>
            <a:picLocks noChangeAspect="1"/>
          </p:cNvPicPr>
          <p:nvPr/>
        </p:nvPicPr>
        <p:blipFill>
          <a:blip r:embed="rId1"/>
          <a:stretch>
            <a:fillRect/>
          </a:stretch>
        </p:blipFill>
        <p:spPr>
          <a:xfrm>
            <a:off x="1362082" y="2944368"/>
            <a:ext cx="6492987" cy="3959352"/>
          </a:xfrm>
          <a:prstGeom prst="rect">
            <a:avLst/>
          </a:prstGeom>
        </p:spPr>
      </p:pic>
      <p:sp>
        <p:nvSpPr>
          <p:cNvPr id="12" name="Shape 9"/>
          <p:cNvSpPr/>
          <p:nvPr/>
        </p:nvSpPr>
        <p:spPr>
          <a:xfrm>
            <a:off x="8979408" y="3008376"/>
            <a:ext cx="5001768" cy="301752"/>
          </a:xfrm>
          <a:prstGeom prst="roundRect">
            <a:avLst>
              <a:gd name="adj" fmla="val 36364"/>
            </a:avLst>
          </a:prstGeom>
          <a:solidFill>
            <a:srgbClr val="E5F4F2"/>
          </a:solidFill>
          <a:ln w="12700">
            <a:solidFill>
              <a:srgbClr val="E5F4F2"/>
            </a:solidFill>
            <a:prstDash val="solid"/>
          </a:ln>
        </p:spPr>
      </p:sp>
      <p:sp>
        <p:nvSpPr>
          <p:cNvPr id="13" name="Text 10"/>
          <p:cNvSpPr/>
          <p:nvPr/>
        </p:nvSpPr>
        <p:spPr>
          <a:xfrm>
            <a:off x="9070848" y="3049524"/>
            <a:ext cx="4818888" cy="219456"/>
          </a:xfrm>
          <a:prstGeom prst="rect">
            <a:avLst/>
          </a:prstGeom>
          <a:noFill/>
          <a:ln/>
        </p:spPr>
        <p:txBody>
          <a:bodyPr wrap="square" lIns="0" tIns="0" rIns="0" bIns="0" rtlCol="0" anchor="ctr"/>
          <a:lstStyle/>
          <a:p>
            <a:pPr indent="0" marL="0">
              <a:buNone/>
            </a:pPr>
            <a:r>
              <a:rPr lang="en-US" sz="1250" b="1" dirty="0">
                <a:solidFill>
                  <a:srgbClr val="087E87"/>
                </a:solidFill>
                <a:latin typeface="Arial" pitchFamily="34" charset="0"/>
                <a:ea typeface="Arial" pitchFamily="34" charset="-122"/>
                <a:cs typeface="Arial" pitchFamily="34" charset="-120"/>
              </a:rPr>
              <a:t>FRESH ASSEMBLY IN THE CAPTURE RUN</a:t>
            </a:r>
            <a:endParaRPr lang="en-US" sz="1250" dirty="0"/>
          </a:p>
        </p:txBody>
      </p:sp>
      <p:sp>
        <p:nvSpPr>
          <p:cNvPr id="14" name="Text 11"/>
          <p:cNvSpPr/>
          <p:nvPr/>
        </p:nvSpPr>
        <p:spPr>
          <a:xfrm>
            <a:off x="9025128" y="3639312"/>
            <a:ext cx="4892040" cy="960120"/>
          </a:xfrm>
          <a:prstGeom prst="rect">
            <a:avLst/>
          </a:prstGeom>
          <a:noFill/>
          <a:ln/>
        </p:spPr>
        <p:txBody>
          <a:bodyPr wrap="square" lIns="0" tIns="0" rIns="0" bIns="0" rtlCol="0" anchor="ctr"/>
          <a:lstStyle/>
          <a:p>
            <a:pPr indent="0" marL="0">
              <a:buNone/>
            </a:pPr>
            <a:r>
              <a:rPr lang="en-US" sz="2900" b="1" dirty="0">
                <a:solidFill>
                  <a:srgbClr val="087E87"/>
                </a:solidFill>
                <a:latin typeface="Arial" pitchFamily="34" charset="0"/>
                <a:ea typeface="Arial" pitchFamily="34" charset="-122"/>
                <a:cs typeface="Arial" pitchFamily="34" charset="-120"/>
              </a:rPr>
              <a:t>U07 + DMG 84861</a:t>
            </a:r>
            <a:endParaRPr lang="en-US" sz="2900" dirty="0"/>
          </a:p>
          <a:p>
            <a:pPr indent="0" marL="0">
              <a:buNone/>
            </a:pPr>
            <a:r>
              <a:rPr lang="en-US" sz="2900" b="1" dirty="0">
                <a:solidFill>
                  <a:srgbClr val="087E87"/>
                </a:solidFill>
                <a:latin typeface="Arial" pitchFamily="34" charset="0"/>
                <a:ea typeface="Arial" pitchFamily="34" charset="-122"/>
                <a:cs typeface="Arial" pitchFamily="34" charset="-120"/>
              </a:rPr>
              <a:t>were selected</a:t>
            </a:r>
            <a:endParaRPr lang="en-US" sz="2900" dirty="0"/>
          </a:p>
        </p:txBody>
      </p:sp>
      <p:sp>
        <p:nvSpPr>
          <p:cNvPr id="15" name="Text 12"/>
          <p:cNvSpPr/>
          <p:nvPr/>
        </p:nvSpPr>
        <p:spPr>
          <a:xfrm>
            <a:off x="9025128" y="4983480"/>
            <a:ext cx="4846320" cy="859536"/>
          </a:xfrm>
          <a:prstGeom prst="rect">
            <a:avLst/>
          </a:prstGeom>
          <a:noFill/>
          <a:ln/>
        </p:spPr>
        <p:txBody>
          <a:bodyPr wrap="square" lIns="0" tIns="0" rIns="0" bIns="0" rtlCol="0" anchor="ctr"/>
          <a:lstStyle/>
          <a:p>
            <a:pPr indent="0" marL="0">
              <a:buNone/>
            </a:pPr>
            <a:r>
              <a:rPr lang="en-US" sz="2800" b="1" dirty="0">
                <a:solidFill>
                  <a:srgbClr val="102B46"/>
                </a:solidFill>
                <a:latin typeface="Arial" pitchFamily="34" charset="0"/>
                <a:ea typeface="Arial" pitchFamily="34" charset="-122"/>
                <a:cs typeface="Arial" pitchFamily="34" charset="-120"/>
              </a:rPr>
              <a:t>44 records</a:t>
            </a:r>
            <a:endParaRPr lang="en-US" sz="2800" dirty="0"/>
          </a:p>
          <a:p>
            <a:pPr indent="0" marL="0">
              <a:buNone/>
            </a:pPr>
            <a:r>
              <a:rPr lang="en-US" sz="2800" b="1" dirty="0">
                <a:solidFill>
                  <a:srgbClr val="102B46"/>
                </a:solidFill>
                <a:latin typeface="Arial" pitchFamily="34" charset="0"/>
                <a:ea typeface="Arial" pitchFamily="34" charset="-122"/>
                <a:cs typeface="Arial" pitchFamily="34" charset="-120"/>
              </a:rPr>
              <a:t>68 relationships</a:t>
            </a:r>
            <a:endParaRPr lang="en-US" sz="2800" dirty="0"/>
          </a:p>
        </p:txBody>
      </p:sp>
      <p:sp>
        <p:nvSpPr>
          <p:cNvPr id="16" name="Shape 13"/>
          <p:cNvSpPr/>
          <p:nvPr/>
        </p:nvSpPr>
        <p:spPr>
          <a:xfrm>
            <a:off x="8997696" y="6419088"/>
            <a:ext cx="4965192" cy="301752"/>
          </a:xfrm>
          <a:prstGeom prst="roundRect">
            <a:avLst>
              <a:gd name="adj" fmla="val 36364"/>
            </a:avLst>
          </a:prstGeom>
          <a:solidFill>
            <a:srgbClr val="FFF3D9"/>
          </a:solidFill>
          <a:ln w="12700">
            <a:solidFill>
              <a:srgbClr val="FFF3D9"/>
            </a:solidFill>
            <a:prstDash val="solid"/>
          </a:ln>
        </p:spPr>
      </p:sp>
      <p:sp>
        <p:nvSpPr>
          <p:cNvPr id="17" name="Text 14"/>
          <p:cNvSpPr/>
          <p:nvPr/>
        </p:nvSpPr>
        <p:spPr>
          <a:xfrm>
            <a:off x="9089136" y="6460236"/>
            <a:ext cx="4782312" cy="219456"/>
          </a:xfrm>
          <a:prstGeom prst="rect">
            <a:avLst/>
          </a:prstGeom>
          <a:noFill/>
          <a:ln/>
        </p:spPr>
        <p:txBody>
          <a:bodyPr wrap="square" lIns="0" tIns="0" rIns="0" bIns="0" rtlCol="0" anchor="ctr"/>
          <a:lstStyle/>
          <a:p>
            <a:pPr indent="0" marL="0">
              <a:buNone/>
            </a:pPr>
            <a:r>
              <a:rPr lang="en-US" sz="1400" b="1" dirty="0">
                <a:solidFill>
                  <a:srgbClr val="966410"/>
                </a:solidFill>
                <a:latin typeface="Arial" pitchFamily="34" charset="0"/>
                <a:ea typeface="Arial" pitchFamily="34" charset="-122"/>
                <a:cs typeface="Arial" pitchFamily="34" charset="-120"/>
              </a:rPr>
              <a:t>INSUFFICIENT + TRUNCATED</a:t>
            </a:r>
            <a:endParaRPr lang="en-US" sz="1400" dirty="0"/>
          </a:p>
        </p:txBody>
      </p:sp>
      <p:sp>
        <p:nvSpPr>
          <p:cNvPr id="18" name="Text 15">
            <a:hlinkClick r:id="rId2"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S07 • deterministic evidence assembly, not an AI answer • complete limits in appendix</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02 / SAVED WORKBENCH EVIDENCE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Switch to a saved package to inspect provenance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02 / Saved workbench evidence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17</a:t>
            </a:r>
            <a:endParaRPr lang="en-US" sz="1100" dirty="0"/>
          </a:p>
        </p:txBody>
      </p:sp>
      <p:sp>
        <p:nvSpPr>
          <p:cNvPr id="9" name="Shape 7"/>
          <p:cNvSpPr/>
          <p:nvPr/>
        </p:nvSpPr>
        <p:spPr>
          <a:xfrm>
            <a:off x="621792" y="1490472"/>
            <a:ext cx="10149840" cy="301752"/>
          </a:xfrm>
          <a:prstGeom prst="roundRect">
            <a:avLst>
              <a:gd name="adj" fmla="val 36364"/>
            </a:avLst>
          </a:prstGeom>
          <a:solidFill>
            <a:srgbClr val="FFF3D9"/>
          </a:solidFill>
          <a:ln w="12700">
            <a:solidFill>
              <a:srgbClr val="FFF3D9"/>
            </a:solidFill>
            <a:prstDash val="solid"/>
          </a:ln>
        </p:spPr>
      </p:sp>
      <p:sp>
        <p:nvSpPr>
          <p:cNvPr id="10" name="Text 8"/>
          <p:cNvSpPr/>
          <p:nvPr/>
        </p:nvSpPr>
        <p:spPr>
          <a:xfrm>
            <a:off x="713232" y="1531620"/>
            <a:ext cx="9966960" cy="219456"/>
          </a:xfrm>
          <a:prstGeom prst="rect">
            <a:avLst/>
          </a:prstGeom>
          <a:noFill/>
          <a:ln/>
        </p:spPr>
        <p:txBody>
          <a:bodyPr wrap="square" lIns="0" tIns="0" rIns="0" bIns="0" rtlCol="0" anchor="ctr"/>
          <a:lstStyle/>
          <a:p>
            <a:pPr indent="0" marL="0">
              <a:buNone/>
            </a:pPr>
            <a:r>
              <a:rPr lang="en-US" sz="1250" b="1" dirty="0">
                <a:solidFill>
                  <a:srgbClr val="966410"/>
                </a:solidFill>
                <a:latin typeface="Arial" pitchFamily="34" charset="0"/>
                <a:ea typeface="Arial" pitchFamily="34" charset="-122"/>
                <a:cs typeface="Arial" pitchFamily="34" charset="-120"/>
              </a:rPr>
              <a:t>EXPLICIT SWITCH • STAFF-006 • NOT THE FRESH S07 PACKAGE</a:t>
            </a:r>
            <a:endParaRPr lang="en-US" sz="1250" dirty="0"/>
          </a:p>
        </p:txBody>
      </p:sp>
      <p:sp>
        <p:nvSpPr>
          <p:cNvPr id="11" name="Shape 9"/>
          <p:cNvSpPr/>
          <p:nvPr/>
        </p:nvSpPr>
        <p:spPr>
          <a:xfrm>
            <a:off x="640080" y="2029968"/>
            <a:ext cx="7333488" cy="5102352"/>
          </a:xfrm>
          <a:prstGeom prst="rect">
            <a:avLst>
              <a:gd name="adj" fmla="val 2151"/>
            </a:avLst>
          </a:prstGeom>
          <a:solidFill>
            <a:srgbClr val="EDF3F7"/>
          </a:solidFill>
          <a:ln w="12700">
            <a:solidFill>
              <a:srgbClr val="D5E2E9"/>
            </a:solidFill>
            <a:prstDash val="solid"/>
          </a:ln>
        </p:spPr>
      </p:sp>
      <p:pic>
        <p:nvPicPr>
          <p:cNvPr id="12" name="Image 0" descr="S08b: Source PDF locator and recorded capture hash; hashes establish identity, not interpretation.">    </p:cNvPr>
          <p:cNvPicPr>
            <a:picLocks noChangeAspect="1"/>
          </p:cNvPicPr>
          <p:nvPr/>
        </p:nvPicPr>
        <p:blipFill>
          <a:blip r:embed="rId1"/>
          <a:stretch>
            <a:fillRect/>
          </a:stretch>
        </p:blipFill>
        <p:spPr>
          <a:xfrm>
            <a:off x="937929" y="2029968"/>
            <a:ext cx="6737790" cy="5102352"/>
          </a:xfrm>
          <a:prstGeom prst="rect">
            <a:avLst/>
          </a:prstGeom>
        </p:spPr>
      </p:pic>
      <p:sp>
        <p:nvSpPr>
          <p:cNvPr id="13" name="Shape 10"/>
          <p:cNvSpPr/>
          <p:nvPr/>
        </p:nvSpPr>
        <p:spPr>
          <a:xfrm>
            <a:off x="8357616" y="2029968"/>
            <a:ext cx="5641848" cy="2350008"/>
          </a:xfrm>
          <a:prstGeom prst="roundRect">
            <a:avLst>
              <a:gd name="adj" fmla="val 4669"/>
            </a:avLst>
          </a:prstGeom>
          <a:solidFill>
            <a:srgbClr val="EDF3F7"/>
          </a:solidFill>
          <a:ln w="12700">
            <a:solidFill>
              <a:srgbClr val="EDF3F7"/>
            </a:solidFill>
            <a:prstDash val="solid"/>
          </a:ln>
        </p:spPr>
      </p:sp>
      <p:sp>
        <p:nvSpPr>
          <p:cNvPr id="14" name="Shape 11"/>
          <p:cNvSpPr/>
          <p:nvPr/>
        </p:nvSpPr>
        <p:spPr>
          <a:xfrm>
            <a:off x="8357616" y="2029968"/>
            <a:ext cx="50292" cy="2350008"/>
          </a:xfrm>
          <a:prstGeom prst="rect">
            <a:avLst>
              <a:gd name="adj" fmla="val 218182"/>
            </a:avLst>
          </a:prstGeom>
          <a:solidFill>
            <a:srgbClr val="145F96"/>
          </a:solidFill>
          <a:ln w="12700">
            <a:solidFill>
              <a:srgbClr val="145F96"/>
            </a:solidFill>
            <a:prstDash val="solid"/>
          </a:ln>
        </p:spPr>
      </p:sp>
      <p:sp>
        <p:nvSpPr>
          <p:cNvPr id="15" name="Text 12"/>
          <p:cNvSpPr/>
          <p:nvPr/>
        </p:nvSpPr>
        <p:spPr>
          <a:xfrm>
            <a:off x="8558784" y="2194560"/>
            <a:ext cx="5248656" cy="457200"/>
          </a:xfrm>
          <a:prstGeom prst="rect">
            <a:avLst/>
          </a:prstGeom>
          <a:noFill/>
          <a:ln/>
        </p:spPr>
        <p:txBody>
          <a:bodyPr wrap="square" lIns="0" tIns="0" rIns="0" bIns="0" rtlCol="0" anchor="ctr"/>
          <a:lstStyle/>
          <a:p>
            <a:pPr indent="0" marL="0">
              <a:buNone/>
            </a:pPr>
            <a:r>
              <a:rPr lang="en-US" sz="2200" b="1" dirty="0">
                <a:solidFill>
                  <a:srgbClr val="145F96"/>
                </a:solidFill>
                <a:latin typeface="Arial" pitchFamily="34" charset="0"/>
                <a:ea typeface="Arial" pitchFamily="34" charset="-122"/>
                <a:cs typeface="Arial" pitchFamily="34" charset="-120"/>
              </a:rPr>
              <a:t>Saved DMG 84001</a:t>
            </a:r>
            <a:endParaRPr lang="en-US" sz="2200" dirty="0"/>
          </a:p>
        </p:txBody>
      </p:sp>
      <p:sp>
        <p:nvSpPr>
          <p:cNvPr id="16" name="Text 13"/>
          <p:cNvSpPr/>
          <p:nvPr/>
        </p:nvSpPr>
        <p:spPr>
          <a:xfrm>
            <a:off x="8558784" y="2798064"/>
            <a:ext cx="5248656" cy="1453896"/>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The saved manifest has no selected U07 / 84861 route. This is a labelled capital-related fallback.</a:t>
            </a:r>
            <a:endParaRPr lang="en-US" sz="2000" dirty="0"/>
          </a:p>
        </p:txBody>
      </p:sp>
      <p:sp>
        <p:nvSpPr>
          <p:cNvPr id="17" name="Text 14"/>
          <p:cNvSpPr/>
          <p:nvPr/>
        </p:nvSpPr>
        <p:spPr>
          <a:xfrm>
            <a:off x="8513064" y="4782312"/>
            <a:ext cx="5303520" cy="1353312"/>
          </a:xfrm>
          <a:prstGeom prst="rect">
            <a:avLst/>
          </a:prstGeom>
          <a:noFill/>
          <a:ln/>
        </p:spPr>
        <p:txBody>
          <a:bodyPr wrap="square" lIns="0" tIns="0" rIns="0" bIns="0" rtlCol="0" anchor="ctr"/>
          <a:lstStyle/>
          <a:p>
            <a:pPr indent="0" marL="0">
              <a:buNone/>
            </a:pPr>
            <a:r>
              <a:rPr lang="en-US" sz="2800" b="1" dirty="0">
                <a:solidFill>
                  <a:srgbClr val="102B46"/>
                </a:solidFill>
                <a:latin typeface="Arial" pitchFamily="34" charset="0"/>
                <a:ea typeface="Arial" pitchFamily="34" charset="-122"/>
                <a:cs typeface="Arial" pitchFamily="34" charset="-120"/>
              </a:rPr>
              <a:t>Check the source URL,</a:t>
            </a:r>
            <a:endParaRPr lang="en-US" sz="2800" dirty="0"/>
          </a:p>
          <a:p>
            <a:pPr indent="0" marL="0">
              <a:buNone/>
            </a:pPr>
            <a:r>
              <a:rPr lang="en-US" sz="2800" b="1" dirty="0">
                <a:solidFill>
                  <a:srgbClr val="102B46"/>
                </a:solidFill>
                <a:latin typeface="Arial" pitchFamily="34" charset="0"/>
                <a:ea typeface="Arial" pitchFamily="34" charset="-122"/>
                <a:cs typeface="Arial" pitchFamily="34" charset="-120"/>
              </a:rPr>
              <a:t>page, captured bytes</a:t>
            </a:r>
            <a:endParaRPr lang="en-US" sz="2800" dirty="0"/>
          </a:p>
          <a:p>
            <a:pPr indent="0" marL="0">
              <a:buNone/>
            </a:pPr>
            <a:r>
              <a:rPr lang="en-US" sz="2800" b="1" dirty="0">
                <a:solidFill>
                  <a:srgbClr val="102B46"/>
                </a:solidFill>
                <a:latin typeface="Arial" pitchFamily="34" charset="0"/>
                <a:ea typeface="Arial" pitchFamily="34" charset="-122"/>
                <a:cs typeface="Arial" pitchFamily="34" charset="-120"/>
              </a:rPr>
              <a:t>and review status.</a:t>
            </a:r>
            <a:endParaRPr lang="en-US" sz="2800" dirty="0"/>
          </a:p>
        </p:txBody>
      </p:sp>
      <p:sp>
        <p:nvSpPr>
          <p:cNvPr id="18" name="Text 15"/>
          <p:cNvSpPr/>
          <p:nvPr/>
        </p:nvSpPr>
        <p:spPr>
          <a:xfrm>
            <a:off x="8513064" y="6574536"/>
            <a:ext cx="5303520" cy="347472"/>
          </a:xfrm>
          <a:prstGeom prst="rect">
            <a:avLst/>
          </a:prstGeom>
          <a:noFill/>
          <a:ln/>
        </p:spPr>
        <p:txBody>
          <a:bodyPr wrap="square" lIns="0" tIns="0" rIns="0" bIns="0" rtlCol="0" anchor="ctr"/>
          <a:lstStyle/>
          <a:p>
            <a:pPr indent="0" marL="0">
              <a:buNone/>
            </a:pPr>
            <a:r>
              <a:rPr lang="en-US" sz="2400" b="1" dirty="0">
                <a:solidFill>
                  <a:srgbClr val="087E87"/>
                </a:solidFill>
                <a:latin typeface="Arial" pitchFamily="34" charset="0"/>
                <a:ea typeface="Arial" pitchFamily="34" charset="-122"/>
                <a:cs typeface="Arial" pitchFamily="34" charset="-120"/>
              </a:rPr>
              <a:t>Identity is not correctness.</a:t>
            </a:r>
            <a:endParaRPr lang="en-US" sz="2400" dirty="0"/>
          </a:p>
        </p:txBody>
      </p:sp>
      <p:sp>
        <p:nvSpPr>
          <p:cNvPr id="19" name="Text 16">
            <a:hlinkClick r:id="rId2"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S08 • saved staff-006: 30 records, 47 relationships; insufficient and truncated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02 / INSPECT THE CONNECTION AND THE GAP</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A relationship is not an approved rule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02 / Inspect the connection and the gap</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18</a:t>
            </a:r>
            <a:endParaRPr lang="en-US" sz="1100" dirty="0"/>
          </a:p>
        </p:txBody>
      </p:sp>
      <p:sp>
        <p:nvSpPr>
          <p:cNvPr id="9" name="Shape 7"/>
          <p:cNvSpPr/>
          <p:nvPr/>
        </p:nvSpPr>
        <p:spPr>
          <a:xfrm>
            <a:off x="621792" y="1490472"/>
            <a:ext cx="12344400" cy="301752"/>
          </a:xfrm>
          <a:prstGeom prst="roundRect">
            <a:avLst>
              <a:gd name="adj" fmla="val 36364"/>
            </a:avLst>
          </a:prstGeom>
          <a:solidFill>
            <a:srgbClr val="E7F2FA"/>
          </a:solidFill>
          <a:ln w="12700">
            <a:solidFill>
              <a:srgbClr val="E7F2FA"/>
            </a:solidFill>
            <a:prstDash val="solid"/>
          </a:ln>
        </p:spPr>
      </p:sp>
      <p:sp>
        <p:nvSpPr>
          <p:cNvPr id="10" name="Text 8"/>
          <p:cNvSpPr/>
          <p:nvPr/>
        </p:nvSpPr>
        <p:spPr>
          <a:xfrm>
            <a:off x="713232" y="1531620"/>
            <a:ext cx="12161520" cy="219456"/>
          </a:xfrm>
          <a:prstGeom prst="rect">
            <a:avLst/>
          </a:prstGeom>
          <a:noFill/>
          <a:ln/>
        </p:spPr>
        <p:txBody>
          <a:bodyPr wrap="square" lIns="0" tIns="0" rIns="0" bIns="0" rtlCol="0" anchor="ctr"/>
          <a:lstStyle/>
          <a:p>
            <a:pPr indent="0" marL="0">
              <a:buNone/>
            </a:pPr>
            <a:r>
              <a:rPr lang="en-US" sz="1250" b="1" dirty="0">
                <a:solidFill>
                  <a:srgbClr val="145F96"/>
                </a:solidFill>
                <a:latin typeface="Arial" pitchFamily="34" charset="0"/>
                <a:ea typeface="Arial" pitchFamily="34" charset="-122"/>
                <a:cs typeface="Arial" pitchFamily="34" charset="-120"/>
              </a:rPr>
              <a:t>SAVED STAFF-006 • MODEL-DERIVED RELATIONSHIP • PARTIAL REQUIREMENTS</a:t>
            </a:r>
            <a:endParaRPr lang="en-US" sz="1250" dirty="0"/>
          </a:p>
        </p:txBody>
      </p:sp>
      <p:sp>
        <p:nvSpPr>
          <p:cNvPr id="11" name="Shape 9"/>
          <p:cNvSpPr/>
          <p:nvPr/>
        </p:nvSpPr>
        <p:spPr>
          <a:xfrm>
            <a:off x="640080" y="2084832"/>
            <a:ext cx="13350240" cy="1243584"/>
          </a:xfrm>
          <a:prstGeom prst="rect">
            <a:avLst>
              <a:gd name="adj" fmla="val 8824"/>
            </a:avLst>
          </a:prstGeom>
          <a:solidFill>
            <a:srgbClr val="EDF3F7"/>
          </a:solidFill>
          <a:ln w="12700">
            <a:solidFill>
              <a:srgbClr val="D5E2E9"/>
            </a:solidFill>
            <a:prstDash val="solid"/>
          </a:ln>
        </p:spPr>
      </p:sp>
      <p:pic>
        <p:nvPicPr>
          <p:cNvPr id="12" name="Image 0" descr="S09-connection: Model-derived connection; valuation and disregards remain dependencies. Saved staff-006 is insufficient.">    </p:cNvPr>
          <p:cNvPicPr>
            <a:picLocks noChangeAspect="1"/>
          </p:cNvPicPr>
          <p:nvPr/>
        </p:nvPicPr>
        <p:blipFill>
          <a:blip r:embed="rId1"/>
          <a:stretch>
            <a:fillRect/>
          </a:stretch>
        </p:blipFill>
        <p:spPr>
          <a:xfrm>
            <a:off x="692708" y="2084832"/>
            <a:ext cx="13244984" cy="1243584"/>
          </a:xfrm>
          <a:prstGeom prst="rect">
            <a:avLst/>
          </a:prstGeom>
        </p:spPr>
      </p:pic>
      <p:sp>
        <p:nvSpPr>
          <p:cNvPr id="13" name="Shape 10"/>
          <p:cNvSpPr/>
          <p:nvPr/>
        </p:nvSpPr>
        <p:spPr>
          <a:xfrm>
            <a:off x="640080" y="3785616"/>
            <a:ext cx="8549640" cy="3364992"/>
          </a:xfrm>
          <a:prstGeom prst="rect">
            <a:avLst>
              <a:gd name="adj" fmla="val 3261"/>
            </a:avLst>
          </a:prstGeom>
          <a:solidFill>
            <a:srgbClr val="EDF3F7"/>
          </a:solidFill>
          <a:ln w="12700">
            <a:solidFill>
              <a:srgbClr val="D5E2E9"/>
            </a:solidFill>
            <a:prstDash val="solid"/>
          </a:ln>
        </p:spPr>
      </p:sp>
      <p:pic>
        <p:nvPicPr>
          <p:cNvPr id="14" name="Image 1" descr="S09-requirement: Single native row excerpt. Insufficient; dates unknown; table rows 1–3 of 7 only. See S09b for warnings.">    </p:cNvPr>
          <p:cNvPicPr>
            <a:picLocks noChangeAspect="1"/>
          </p:cNvPicPr>
          <p:nvPr/>
        </p:nvPicPr>
        <p:blipFill>
          <a:blip r:embed="rId2"/>
          <a:stretch>
            <a:fillRect/>
          </a:stretch>
        </p:blipFill>
        <p:spPr>
          <a:xfrm>
            <a:off x="1463590" y="3785616"/>
            <a:ext cx="6902620" cy="3364992"/>
          </a:xfrm>
          <a:prstGeom prst="rect">
            <a:avLst/>
          </a:prstGeom>
        </p:spPr>
      </p:pic>
      <p:sp>
        <p:nvSpPr>
          <p:cNvPr id="15" name="Shape 11"/>
          <p:cNvSpPr/>
          <p:nvPr/>
        </p:nvSpPr>
        <p:spPr>
          <a:xfrm>
            <a:off x="9564624" y="3785616"/>
            <a:ext cx="4416552" cy="2020824"/>
          </a:xfrm>
          <a:prstGeom prst="roundRect">
            <a:avLst>
              <a:gd name="adj" fmla="val 5430"/>
            </a:avLst>
          </a:prstGeom>
          <a:solidFill>
            <a:srgbClr val="EDF3F7"/>
          </a:solidFill>
          <a:ln w="12700">
            <a:solidFill>
              <a:srgbClr val="EDF3F7"/>
            </a:solidFill>
            <a:prstDash val="solid"/>
          </a:ln>
        </p:spPr>
      </p:sp>
      <p:sp>
        <p:nvSpPr>
          <p:cNvPr id="16" name="Shape 12"/>
          <p:cNvSpPr/>
          <p:nvPr/>
        </p:nvSpPr>
        <p:spPr>
          <a:xfrm>
            <a:off x="9564624" y="3785616"/>
            <a:ext cx="50292" cy="2020824"/>
          </a:xfrm>
          <a:prstGeom prst="rect">
            <a:avLst>
              <a:gd name="adj" fmla="val 218182"/>
            </a:avLst>
          </a:prstGeom>
          <a:solidFill>
            <a:srgbClr val="966410"/>
          </a:solidFill>
          <a:ln w="12700">
            <a:solidFill>
              <a:srgbClr val="966410"/>
            </a:solidFill>
            <a:prstDash val="solid"/>
          </a:ln>
        </p:spPr>
      </p:sp>
      <p:sp>
        <p:nvSpPr>
          <p:cNvPr id="17" name="Text 13"/>
          <p:cNvSpPr/>
          <p:nvPr/>
        </p:nvSpPr>
        <p:spPr>
          <a:xfrm>
            <a:off x="9765792" y="3950208"/>
            <a:ext cx="4023360" cy="457200"/>
          </a:xfrm>
          <a:prstGeom prst="rect">
            <a:avLst/>
          </a:prstGeom>
          <a:noFill/>
          <a:ln/>
        </p:spPr>
        <p:txBody>
          <a:bodyPr wrap="square" lIns="0" tIns="0" rIns="0" bIns="0" rtlCol="0" anchor="ctr"/>
          <a:lstStyle/>
          <a:p>
            <a:pPr indent="0" marL="0">
              <a:buNone/>
            </a:pPr>
            <a:r>
              <a:rPr lang="en-US" sz="2200" b="1" dirty="0">
                <a:solidFill>
                  <a:srgbClr val="966410"/>
                </a:solidFill>
                <a:latin typeface="Arial" pitchFamily="34" charset="0"/>
                <a:ea typeface="Arial" pitchFamily="34" charset="-122"/>
                <a:cs typeface="Arial" pitchFamily="34" charset="-120"/>
              </a:rPr>
              <a:t>What remains open?</a:t>
            </a:r>
            <a:endParaRPr lang="en-US" sz="2200" dirty="0"/>
          </a:p>
        </p:txBody>
      </p:sp>
      <p:sp>
        <p:nvSpPr>
          <p:cNvPr id="18" name="Text 14"/>
          <p:cNvSpPr/>
          <p:nvPr/>
        </p:nvSpPr>
        <p:spPr>
          <a:xfrm>
            <a:off x="9765792" y="4553712"/>
            <a:ext cx="4023360" cy="1124712"/>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Capital valuation, disregards, deemed income, applicability and review.</a:t>
            </a:r>
            <a:endParaRPr lang="en-US" sz="2000" dirty="0"/>
          </a:p>
        </p:txBody>
      </p:sp>
      <p:sp>
        <p:nvSpPr>
          <p:cNvPr id="19" name="Text 15"/>
          <p:cNvSpPr/>
          <p:nvPr/>
        </p:nvSpPr>
        <p:spPr>
          <a:xfrm>
            <a:off x="9701784" y="6025896"/>
            <a:ext cx="4096512" cy="1106424"/>
          </a:xfrm>
          <a:prstGeom prst="rect">
            <a:avLst/>
          </a:prstGeom>
          <a:noFill/>
          <a:ln/>
        </p:spPr>
        <p:txBody>
          <a:bodyPr wrap="square" lIns="0" tIns="0" rIns="0" bIns="0" rtlCol="0" anchor="ctr"/>
          <a:lstStyle/>
          <a:p>
            <a:pPr indent="0" marL="0">
              <a:buNone/>
            </a:pPr>
            <a:r>
              <a:rPr lang="en-US" sz="1900" dirty="0">
                <a:solidFill>
                  <a:srgbClr val="536777"/>
                </a:solidFill>
                <a:latin typeface="Arial" pitchFamily="34" charset="0"/>
                <a:ea typeface="Arial" pitchFamily="34" charset="-122"/>
                <a:cs typeface="Arial" pitchFamily="34" charset="-120"/>
              </a:rPr>
              <a:t>Requirements view:</a:t>
            </a:r>
            <a:endParaRPr lang="en-US" sz="1900" dirty="0"/>
          </a:p>
          <a:p>
            <a:pPr indent="0" marL="0">
              <a:buNone/>
            </a:pPr>
            <a:r>
              <a:rPr lang="en-US" sz="1900" dirty="0">
                <a:solidFill>
                  <a:srgbClr val="536777"/>
                </a:solidFill>
                <a:latin typeface="Arial" pitchFamily="34" charset="0"/>
                <a:ea typeface="Arial" pitchFamily="34" charset="-122"/>
                <a:cs typeface="Arial" pitchFamily="34" charset="-120"/>
              </a:rPr>
              <a:t>rows 1–3 of 7</a:t>
            </a:r>
            <a:endParaRPr lang="en-US" sz="1900" dirty="0"/>
          </a:p>
          <a:p>
            <a:pPr indent="0" marL="0">
              <a:buNone/>
            </a:pPr>
            <a:r>
              <a:rPr lang="en-US" sz="1900" dirty="0">
                <a:solidFill>
                  <a:srgbClr val="536777"/>
                </a:solidFill>
                <a:latin typeface="Arial" pitchFamily="34" charset="0"/>
                <a:ea typeface="Arial" pitchFamily="34" charset="-122"/>
                <a:cs typeface="Arial" pitchFamily="34" charset="-120"/>
              </a:rPr>
              <a:t>Unknown dates</a:t>
            </a:r>
            <a:endParaRPr lang="en-US" sz="1900" dirty="0"/>
          </a:p>
          <a:p>
            <a:pPr indent="0" marL="0">
              <a:buNone/>
            </a:pPr>
            <a:r>
              <a:rPr lang="en-US" sz="1900" dirty="0">
                <a:solidFill>
                  <a:srgbClr val="536777"/>
                </a:solidFill>
                <a:latin typeface="Arial" pitchFamily="34" charset="0"/>
                <a:ea typeface="Arial" pitchFamily="34" charset="-122"/>
                <a:cs typeface="Arial" pitchFamily="34" charset="-120"/>
              </a:rPr>
              <a:t>Insufficient evidence</a:t>
            </a:r>
            <a:endParaRPr lang="en-US" sz="1900" dirty="0"/>
          </a:p>
        </p:txBody>
      </p:sp>
      <p:sp>
        <p:nvSpPr>
          <p:cNvPr id="20" name="Text 16">
            <a:hlinkClick r:id="rId3"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S09 • actual directed relationship and unresolved requirement • not a complete legal dependency set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03 / HELP ME INSPECT AND CHALLENGE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A useful calculation model can still be blocked</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03 / Help me inspect and challenge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19</a:t>
            </a:r>
            <a:endParaRPr lang="en-US" sz="1100" dirty="0"/>
          </a:p>
        </p:txBody>
      </p:sp>
      <p:sp>
        <p:nvSpPr>
          <p:cNvPr id="9" name="Shape 7"/>
          <p:cNvSpPr/>
          <p:nvPr/>
        </p:nvSpPr>
        <p:spPr>
          <a:xfrm>
            <a:off x="621792" y="1490472"/>
            <a:ext cx="10972800" cy="301752"/>
          </a:xfrm>
          <a:prstGeom prst="roundRect">
            <a:avLst>
              <a:gd name="adj" fmla="val 36364"/>
            </a:avLst>
          </a:prstGeom>
          <a:solidFill>
            <a:srgbClr val="FFF3D9"/>
          </a:solidFill>
          <a:ln w="12700">
            <a:solidFill>
              <a:srgbClr val="FFF3D9"/>
            </a:solidFill>
            <a:prstDash val="solid"/>
          </a:ln>
        </p:spPr>
      </p:sp>
      <p:sp>
        <p:nvSpPr>
          <p:cNvPr id="10" name="Text 8"/>
          <p:cNvSpPr/>
          <p:nvPr/>
        </p:nvSpPr>
        <p:spPr>
          <a:xfrm>
            <a:off x="713232" y="1531620"/>
            <a:ext cx="10789920" cy="219456"/>
          </a:xfrm>
          <a:prstGeom prst="rect">
            <a:avLst/>
          </a:prstGeom>
          <a:noFill/>
          <a:ln/>
        </p:spPr>
        <p:txBody>
          <a:bodyPr wrap="square" lIns="0" tIns="0" rIns="0" bIns="0" rtlCol="0" anchor="ctr"/>
          <a:lstStyle/>
          <a:p>
            <a:pPr indent="0" marL="0">
              <a:buNone/>
            </a:pPr>
            <a:r>
              <a:rPr lang="en-US" sz="1250" b="1" dirty="0">
                <a:solidFill>
                  <a:srgbClr val="966410"/>
                </a:solidFill>
                <a:latin typeface="Arial" pitchFamily="34" charset="0"/>
                <a:ea typeface="Arial" pitchFamily="34" charset="-122"/>
                <a:cs typeface="Arial" pitchFamily="34" charset="-120"/>
              </a:rPr>
              <a:t>STAFF-016 • AUTHORED, UNREVIEWED • NO AWARD CALCULATION</a:t>
            </a:r>
            <a:endParaRPr lang="en-US" sz="1250" dirty="0"/>
          </a:p>
        </p:txBody>
      </p:sp>
      <p:sp>
        <p:nvSpPr>
          <p:cNvPr id="11" name="Shape 9"/>
          <p:cNvSpPr/>
          <p:nvPr/>
        </p:nvSpPr>
        <p:spPr>
          <a:xfrm>
            <a:off x="649224" y="2103120"/>
            <a:ext cx="13322808" cy="4434840"/>
          </a:xfrm>
          <a:prstGeom prst="rect">
            <a:avLst>
              <a:gd name="adj" fmla="val 2474"/>
            </a:avLst>
          </a:prstGeom>
          <a:solidFill>
            <a:srgbClr val="EDF3F7"/>
          </a:solidFill>
          <a:ln w="12700">
            <a:solidFill>
              <a:srgbClr val="D5E2E9"/>
            </a:solidFill>
            <a:prstDash val="solid"/>
          </a:ln>
        </p:spPr>
      </p:sp>
      <p:pic>
        <p:nvPicPr>
          <p:cNvPr id="12" name="Image 0" descr="S10-stages: Enlarged native table. Authored and unreviewed; insufficient; partial. Read with the complete limitations in S10.">    </p:cNvPr>
          <p:cNvPicPr>
            <a:picLocks noChangeAspect="1"/>
          </p:cNvPicPr>
          <p:nvPr/>
        </p:nvPicPr>
        <p:blipFill>
          <a:blip r:embed="rId1"/>
          <a:stretch>
            <a:fillRect/>
          </a:stretch>
        </p:blipFill>
        <p:spPr>
          <a:xfrm>
            <a:off x="1162327" y="2103120"/>
            <a:ext cx="12296602" cy="4434840"/>
          </a:xfrm>
          <a:prstGeom prst="rect">
            <a:avLst/>
          </a:prstGeom>
        </p:spPr>
      </p:pic>
      <p:sp>
        <p:nvSpPr>
          <p:cNvPr id="13" name="Text 10"/>
          <p:cNvSpPr/>
          <p:nvPr/>
        </p:nvSpPr>
        <p:spPr>
          <a:xfrm>
            <a:off x="621792" y="6729984"/>
            <a:ext cx="13304520" cy="557784"/>
          </a:xfrm>
          <a:prstGeom prst="rect">
            <a:avLst/>
          </a:prstGeom>
          <a:noFill/>
          <a:ln/>
        </p:spPr>
        <p:txBody>
          <a:bodyPr wrap="square" lIns="0" tIns="0" rIns="0" bIns="0" rtlCol="0" anchor="ctr"/>
          <a:lstStyle/>
          <a:p>
            <a:pPr indent="0" marL="0">
              <a:buNone/>
            </a:pPr>
            <a:r>
              <a:rPr lang="en-US" sz="2500" b="1" dirty="0">
                <a:solidFill>
                  <a:srgbClr val="102B46"/>
                </a:solidFill>
                <a:latin typeface="Arial" pitchFamily="34" charset="0"/>
                <a:ea typeface="Arial" pitchFamily="34" charset="-122"/>
                <a:cs typeface="Arial" pitchFamily="34" charset="-120"/>
              </a:rPr>
              <a:t>Unknown inputs are not zero. Missing rules are not permission to invent them.</a:t>
            </a:r>
            <a:endParaRPr lang="en-US" sz="2500" dirty="0"/>
          </a:p>
        </p:txBody>
      </p:sp>
      <p:sp>
        <p:nvSpPr>
          <p:cNvPr id="14" name="Text 11">
            <a:hlinkClick r:id="rId2"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S10 • enlarged native stages excerpt, rows 1–3 of 18 • all cited packages remain insufficient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03 / DIRECTION MATTERS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Whose benefit affects whose?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03 / Direction matters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20</a:t>
            </a:r>
            <a:endParaRPr lang="en-US" sz="1100" dirty="0"/>
          </a:p>
        </p:txBody>
      </p:sp>
      <p:sp>
        <p:nvSpPr>
          <p:cNvPr id="9" name="Shape 7"/>
          <p:cNvSpPr/>
          <p:nvPr/>
        </p:nvSpPr>
        <p:spPr>
          <a:xfrm>
            <a:off x="621792" y="1490472"/>
            <a:ext cx="10058400" cy="301752"/>
          </a:xfrm>
          <a:prstGeom prst="roundRect">
            <a:avLst>
              <a:gd name="adj" fmla="val 36364"/>
            </a:avLst>
          </a:prstGeom>
          <a:solidFill>
            <a:srgbClr val="E5F4F2"/>
          </a:solidFill>
          <a:ln w="12700">
            <a:solidFill>
              <a:srgbClr val="E5F4F2"/>
            </a:solidFill>
            <a:prstDash val="solid"/>
          </a:ln>
        </p:spPr>
      </p:sp>
      <p:sp>
        <p:nvSpPr>
          <p:cNvPr id="10" name="Text 8"/>
          <p:cNvSpPr/>
          <p:nvPr/>
        </p:nvSpPr>
        <p:spPr>
          <a:xfrm>
            <a:off x="713232" y="1531620"/>
            <a:ext cx="9875520" cy="219456"/>
          </a:xfrm>
          <a:prstGeom prst="rect">
            <a:avLst/>
          </a:prstGeom>
          <a:noFill/>
          <a:ln/>
        </p:spPr>
        <p:txBody>
          <a:bodyPr wrap="square" lIns="0" tIns="0" rIns="0" bIns="0" rtlCol="0" anchor="ctr"/>
          <a:lstStyle/>
          <a:p>
            <a:pPr indent="0" marL="0">
              <a:buNone/>
            </a:pPr>
            <a:r>
              <a:rPr lang="en-US" sz="1250" b="1" dirty="0">
                <a:solidFill>
                  <a:srgbClr val="087E87"/>
                </a:solidFill>
                <a:latin typeface="Arial" pitchFamily="34" charset="0"/>
                <a:ea typeface="Arial" pitchFamily="34" charset="-122"/>
                <a:cs typeface="Arial" pitchFamily="34" charset="-120"/>
              </a:rPr>
              <a:t>STAFF-039 • SOURCE-LED PROPOSALS • ROWS 1–3 OF 4</a:t>
            </a:r>
            <a:endParaRPr lang="en-US" sz="1250" dirty="0"/>
          </a:p>
        </p:txBody>
      </p:sp>
      <p:sp>
        <p:nvSpPr>
          <p:cNvPr id="11" name="Shape 9"/>
          <p:cNvSpPr/>
          <p:nvPr/>
        </p:nvSpPr>
        <p:spPr>
          <a:xfrm>
            <a:off x="649224" y="2103120"/>
            <a:ext cx="13322808" cy="4434840"/>
          </a:xfrm>
          <a:prstGeom prst="rect">
            <a:avLst>
              <a:gd name="adj" fmla="val 2474"/>
            </a:avLst>
          </a:prstGeom>
          <a:solidFill>
            <a:srgbClr val="EDF3F7"/>
          </a:solidFill>
          <a:ln w="12700">
            <a:solidFill>
              <a:srgbClr val="D5E2E9"/>
            </a:solidFill>
            <a:prstDash val="solid"/>
          </a:ln>
        </p:spPr>
      </p:sp>
      <p:pic>
        <p:nvPicPr>
          <p:cNvPr id="12" name="Image 0" descr="S11-directions: Enlarged native table; partial and unreviewed. Each row retains its direction and unresolved conditions.">    </p:cNvPr>
          <p:cNvPicPr>
            <a:picLocks noChangeAspect="1"/>
          </p:cNvPicPr>
          <p:nvPr/>
        </p:nvPicPr>
        <p:blipFill>
          <a:blip r:embed="rId1"/>
          <a:stretch>
            <a:fillRect/>
          </a:stretch>
        </p:blipFill>
        <p:spPr>
          <a:xfrm>
            <a:off x="830982" y="2103120"/>
            <a:ext cx="12959293" cy="4434840"/>
          </a:xfrm>
          <a:prstGeom prst="rect">
            <a:avLst/>
          </a:prstGeom>
        </p:spPr>
      </p:pic>
      <p:sp>
        <p:nvSpPr>
          <p:cNvPr id="13" name="Text 10"/>
          <p:cNvSpPr/>
          <p:nvPr/>
        </p:nvSpPr>
        <p:spPr>
          <a:xfrm>
            <a:off x="704088" y="6858000"/>
            <a:ext cx="6492240" cy="365760"/>
          </a:xfrm>
          <a:prstGeom prst="rect">
            <a:avLst/>
          </a:prstGeom>
          <a:noFill/>
          <a:ln/>
        </p:spPr>
        <p:txBody>
          <a:bodyPr wrap="square" lIns="0" tIns="0" rIns="0" bIns="0" rtlCol="0" anchor="ctr"/>
          <a:lstStyle/>
          <a:p>
            <a:pPr indent="0" marL="0">
              <a:buNone/>
            </a:pPr>
            <a:r>
              <a:rPr lang="en-US" sz="2400" b="1" dirty="0">
                <a:solidFill>
                  <a:srgbClr val="145F96"/>
                </a:solidFill>
                <a:latin typeface="Arial" pitchFamily="34" charset="0"/>
                <a:ea typeface="Arial" pitchFamily="34" charset="-122"/>
                <a:cs typeface="Arial" pitchFamily="34" charset="-120"/>
              </a:rPr>
              <a:t>Carer → the carer’s own assessment</a:t>
            </a:r>
            <a:endParaRPr lang="en-US" sz="2400" dirty="0"/>
          </a:p>
        </p:txBody>
      </p:sp>
      <p:sp>
        <p:nvSpPr>
          <p:cNvPr id="14" name="Text 11"/>
          <p:cNvSpPr/>
          <p:nvPr/>
        </p:nvSpPr>
        <p:spPr>
          <a:xfrm>
            <a:off x="7498080" y="6858000"/>
            <a:ext cx="6492240" cy="457200"/>
          </a:xfrm>
          <a:prstGeom prst="rect">
            <a:avLst/>
          </a:prstGeom>
          <a:noFill/>
          <a:ln/>
        </p:spPr>
        <p:txBody>
          <a:bodyPr wrap="square" lIns="0" tIns="0" rIns="0" bIns="0" rtlCol="0" anchor="ctr"/>
          <a:lstStyle/>
          <a:p>
            <a:pPr indent="0" marL="0">
              <a:buNone/>
            </a:pPr>
            <a:r>
              <a:rPr lang="en-US" sz="2200" b="1" dirty="0">
                <a:solidFill>
                  <a:srgbClr val="087E87"/>
                </a:solidFill>
                <a:latin typeface="Arial" pitchFamily="34" charset="0"/>
                <a:ea typeface="Arial" pitchFamily="34" charset="-122"/>
                <a:cs typeface="Arial" pitchFamily="34" charset="-120"/>
              </a:rPr>
              <a:t>Carer → the cared-for person’s assessment</a:t>
            </a:r>
            <a:endParaRPr lang="en-US" sz="2200" dirty="0"/>
          </a:p>
        </p:txBody>
      </p:sp>
      <p:sp>
        <p:nvSpPr>
          <p:cNvPr id="15" name="Text 12">
            <a:hlinkClick r:id="rId2"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S11 • directions and qualifications are visible; unresolved scope and dates remain • not an award decision</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EVIDENCE BEFORE CONFIDENCE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What is established — and what remains open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Evidence before confidence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21</a:t>
            </a:r>
            <a:endParaRPr lang="en-US" sz="1100" dirty="0"/>
          </a:p>
        </p:txBody>
      </p:sp>
      <p:sp>
        <p:nvSpPr>
          <p:cNvPr id="9" name="Text 7"/>
          <p:cNvSpPr/>
          <p:nvPr/>
        </p:nvSpPr>
        <p:spPr>
          <a:xfrm>
            <a:off x="822960" y="1856232"/>
            <a:ext cx="6035040" cy="429768"/>
          </a:xfrm>
          <a:prstGeom prst="rect">
            <a:avLst/>
          </a:prstGeom>
          <a:noFill/>
          <a:ln/>
        </p:spPr>
        <p:txBody>
          <a:bodyPr wrap="square" lIns="0" tIns="0" rIns="0" bIns="0" rtlCol="0" anchor="ctr"/>
          <a:lstStyle/>
          <a:p>
            <a:pPr indent="0" marL="0">
              <a:buNone/>
            </a:pPr>
            <a:r>
              <a:rPr lang="en-US" sz="2700" b="1" dirty="0">
                <a:solidFill>
                  <a:srgbClr val="087E87"/>
                </a:solidFill>
                <a:latin typeface="Arial" pitchFamily="34" charset="0"/>
                <a:ea typeface="Arial" pitchFamily="34" charset="-122"/>
                <a:cs typeface="Arial" pitchFamily="34" charset="-120"/>
              </a:rPr>
              <a:t>Observed or recorded</a:t>
            </a:r>
            <a:endParaRPr lang="en-US" sz="2700" dirty="0"/>
          </a:p>
        </p:txBody>
      </p:sp>
      <p:sp>
        <p:nvSpPr>
          <p:cNvPr id="10" name="Text 8"/>
          <p:cNvSpPr/>
          <p:nvPr/>
        </p:nvSpPr>
        <p:spPr>
          <a:xfrm>
            <a:off x="7653528" y="1856232"/>
            <a:ext cx="6144768" cy="429768"/>
          </a:xfrm>
          <a:prstGeom prst="rect">
            <a:avLst/>
          </a:prstGeom>
          <a:noFill/>
          <a:ln/>
        </p:spPr>
        <p:txBody>
          <a:bodyPr wrap="square" lIns="0" tIns="0" rIns="0" bIns="0" rtlCol="0" anchor="ctr"/>
          <a:lstStyle/>
          <a:p>
            <a:pPr indent="0" marL="0">
              <a:buNone/>
            </a:pPr>
            <a:r>
              <a:rPr lang="en-US" sz="2700" b="1" dirty="0">
                <a:solidFill>
                  <a:srgbClr val="966410"/>
                </a:solidFill>
                <a:latin typeface="Arial" pitchFamily="34" charset="0"/>
                <a:ea typeface="Arial" pitchFamily="34" charset="-122"/>
                <a:cs typeface="Arial" pitchFamily="34" charset="-120"/>
              </a:rPr>
              <a:t>Not established</a:t>
            </a:r>
            <a:endParaRPr lang="en-US" sz="2700" dirty="0"/>
          </a:p>
        </p:txBody>
      </p:sp>
      <p:sp>
        <p:nvSpPr>
          <p:cNvPr id="11" name="Shape 9"/>
          <p:cNvSpPr/>
          <p:nvPr/>
        </p:nvSpPr>
        <p:spPr>
          <a:xfrm>
            <a:off x="649224" y="2670048"/>
            <a:ext cx="6409944" cy="603504"/>
          </a:xfrm>
          <a:prstGeom prst="rect">
            <a:avLst>
              <a:gd name="adj" fmla="val 18182"/>
            </a:avLst>
          </a:prstGeom>
          <a:solidFill>
            <a:srgbClr val="E5F4F2"/>
          </a:solidFill>
          <a:ln w="12700">
            <a:solidFill>
              <a:srgbClr val="E5F4F2"/>
            </a:solidFill>
            <a:prstDash val="solid"/>
          </a:ln>
        </p:spPr>
      </p:sp>
      <p:sp>
        <p:nvSpPr>
          <p:cNvPr id="12" name="Text 10"/>
          <p:cNvSpPr/>
          <p:nvPr/>
        </p:nvSpPr>
        <p:spPr>
          <a:xfrm>
            <a:off x="877824" y="2825496"/>
            <a:ext cx="5961888" cy="320040"/>
          </a:xfrm>
          <a:prstGeom prst="rect">
            <a:avLst/>
          </a:prstGeom>
          <a:noFill/>
          <a:ln/>
        </p:spPr>
        <p:txBody>
          <a:bodyPr wrap="square" lIns="0" tIns="0" rIns="0" bIns="0" rtlCol="0" anchor="ctr"/>
          <a:lstStyle/>
          <a:p>
            <a:pPr indent="0" marL="0">
              <a:buNone/>
            </a:pPr>
            <a:r>
              <a:rPr lang="en-US" sz="2100" dirty="0">
                <a:solidFill>
                  <a:srgbClr val="172E43"/>
                </a:solidFill>
                <a:latin typeface="Arial" pitchFamily="34" charset="0"/>
                <a:ea typeface="Arial" pitchFamily="34" charset="-122"/>
                <a:cs typeface="Arial" pitchFamily="34" charset="-120"/>
              </a:rPr>
              <a:t>Source and occurrence navigation</a:t>
            </a:r>
            <a:endParaRPr lang="en-US" sz="2100" dirty="0"/>
          </a:p>
        </p:txBody>
      </p:sp>
      <p:sp>
        <p:nvSpPr>
          <p:cNvPr id="13" name="Shape 11"/>
          <p:cNvSpPr/>
          <p:nvPr/>
        </p:nvSpPr>
        <p:spPr>
          <a:xfrm>
            <a:off x="649224" y="3438144"/>
            <a:ext cx="6409944" cy="603504"/>
          </a:xfrm>
          <a:prstGeom prst="rect">
            <a:avLst>
              <a:gd name="adj" fmla="val 18182"/>
            </a:avLst>
          </a:prstGeom>
          <a:solidFill>
            <a:srgbClr val="E5F4F2"/>
          </a:solidFill>
          <a:ln w="12700">
            <a:solidFill>
              <a:srgbClr val="E5F4F2"/>
            </a:solidFill>
            <a:prstDash val="solid"/>
          </a:ln>
        </p:spPr>
      </p:sp>
      <p:sp>
        <p:nvSpPr>
          <p:cNvPr id="14" name="Text 12"/>
          <p:cNvSpPr/>
          <p:nvPr/>
        </p:nvSpPr>
        <p:spPr>
          <a:xfrm>
            <a:off x="877824" y="3593592"/>
            <a:ext cx="5961888" cy="320040"/>
          </a:xfrm>
          <a:prstGeom prst="rect">
            <a:avLst/>
          </a:prstGeom>
          <a:noFill/>
          <a:ln/>
        </p:spPr>
        <p:txBody>
          <a:bodyPr wrap="square" lIns="0" tIns="0" rIns="0" bIns="0" rtlCol="0" anchor="ctr"/>
          <a:lstStyle/>
          <a:p>
            <a:pPr indent="0" marL="0">
              <a:buNone/>
            </a:pPr>
            <a:r>
              <a:rPr lang="en-US" sz="2100" dirty="0">
                <a:solidFill>
                  <a:srgbClr val="172E43"/>
                </a:solidFill>
                <a:latin typeface="Arial" pitchFamily="34" charset="0"/>
                <a:ea typeface="Arial" pitchFamily="34" charset="-122"/>
                <a:cs typeface="Arial" pitchFamily="34" charset="-120"/>
              </a:rPr>
              <a:t>Inspectable selection and provenance</a:t>
            </a:r>
            <a:endParaRPr lang="en-US" sz="2100" dirty="0"/>
          </a:p>
        </p:txBody>
      </p:sp>
      <p:sp>
        <p:nvSpPr>
          <p:cNvPr id="15" name="Shape 13"/>
          <p:cNvSpPr/>
          <p:nvPr/>
        </p:nvSpPr>
        <p:spPr>
          <a:xfrm>
            <a:off x="649224" y="4206240"/>
            <a:ext cx="6409944" cy="603504"/>
          </a:xfrm>
          <a:prstGeom prst="rect">
            <a:avLst>
              <a:gd name="adj" fmla="val 18182"/>
            </a:avLst>
          </a:prstGeom>
          <a:solidFill>
            <a:srgbClr val="E5F4F2"/>
          </a:solidFill>
          <a:ln w="12700">
            <a:solidFill>
              <a:srgbClr val="E5F4F2"/>
            </a:solidFill>
            <a:prstDash val="solid"/>
          </a:ln>
        </p:spPr>
      </p:sp>
      <p:sp>
        <p:nvSpPr>
          <p:cNvPr id="16" name="Text 14"/>
          <p:cNvSpPr/>
          <p:nvPr/>
        </p:nvSpPr>
        <p:spPr>
          <a:xfrm>
            <a:off x="877824" y="4361688"/>
            <a:ext cx="5961888" cy="320040"/>
          </a:xfrm>
          <a:prstGeom prst="rect">
            <a:avLst/>
          </a:prstGeom>
          <a:noFill/>
          <a:ln/>
        </p:spPr>
        <p:txBody>
          <a:bodyPr wrap="square" lIns="0" tIns="0" rIns="0" bIns="0" rtlCol="0" anchor="ctr"/>
          <a:lstStyle/>
          <a:p>
            <a:pPr indent="0" marL="0">
              <a:buNone/>
            </a:pPr>
            <a:r>
              <a:rPr lang="en-US" sz="2100" dirty="0">
                <a:solidFill>
                  <a:srgbClr val="172E43"/>
                </a:solidFill>
                <a:latin typeface="Arial" pitchFamily="34" charset="0"/>
                <a:ea typeface="Arial" pitchFamily="34" charset="-122"/>
                <a:cs typeface="Arial" pitchFamily="34" charset="-120"/>
              </a:rPr>
              <a:t>Visible requirements and blocked stages</a:t>
            </a:r>
            <a:endParaRPr lang="en-US" sz="2100" dirty="0"/>
          </a:p>
        </p:txBody>
      </p:sp>
      <p:sp>
        <p:nvSpPr>
          <p:cNvPr id="17" name="Shape 15"/>
          <p:cNvSpPr/>
          <p:nvPr/>
        </p:nvSpPr>
        <p:spPr>
          <a:xfrm>
            <a:off x="7342632" y="2670048"/>
            <a:ext cx="6647688" cy="603504"/>
          </a:xfrm>
          <a:prstGeom prst="rect">
            <a:avLst>
              <a:gd name="adj" fmla="val 18182"/>
            </a:avLst>
          </a:prstGeom>
          <a:solidFill>
            <a:srgbClr val="FFF3D9"/>
          </a:solidFill>
          <a:ln w="12700">
            <a:solidFill>
              <a:srgbClr val="FFF3D9"/>
            </a:solidFill>
            <a:prstDash val="solid"/>
          </a:ln>
        </p:spPr>
      </p:sp>
      <p:sp>
        <p:nvSpPr>
          <p:cNvPr id="18" name="Text 16"/>
          <p:cNvSpPr/>
          <p:nvPr/>
        </p:nvSpPr>
        <p:spPr>
          <a:xfrm>
            <a:off x="7571232" y="2798064"/>
            <a:ext cx="6181344" cy="393192"/>
          </a:xfrm>
          <a:prstGeom prst="rect">
            <a:avLst/>
          </a:prstGeom>
          <a:noFill/>
          <a:ln/>
        </p:spPr>
        <p:txBody>
          <a:bodyPr wrap="square" lIns="0" tIns="0" rIns="0" bIns="0" rtlCol="0" anchor="ctr"/>
          <a:lstStyle/>
          <a:p>
            <a:pPr indent="0" marL="0">
              <a:buNone/>
            </a:pPr>
            <a:r>
              <a:rPr lang="en-US" sz="2000" dirty="0">
                <a:solidFill>
                  <a:srgbClr val="172E43"/>
                </a:solidFill>
                <a:latin typeface="Arial" pitchFamily="34" charset="0"/>
                <a:ea typeface="Arial" pitchFamily="34" charset="-122"/>
                <a:cs typeface="Arial" pitchFamily="34" charset="-120"/>
              </a:rPr>
              <a:t>Complete legal coverage or applicability</a:t>
            </a:r>
            <a:endParaRPr lang="en-US" sz="2000" dirty="0"/>
          </a:p>
        </p:txBody>
      </p:sp>
      <p:sp>
        <p:nvSpPr>
          <p:cNvPr id="19" name="Shape 17"/>
          <p:cNvSpPr/>
          <p:nvPr/>
        </p:nvSpPr>
        <p:spPr>
          <a:xfrm>
            <a:off x="7342632" y="3438144"/>
            <a:ext cx="6647688" cy="603504"/>
          </a:xfrm>
          <a:prstGeom prst="rect">
            <a:avLst>
              <a:gd name="adj" fmla="val 18182"/>
            </a:avLst>
          </a:prstGeom>
          <a:solidFill>
            <a:srgbClr val="FFF3D9"/>
          </a:solidFill>
          <a:ln w="12700">
            <a:solidFill>
              <a:srgbClr val="FFF3D9"/>
            </a:solidFill>
            <a:prstDash val="solid"/>
          </a:ln>
        </p:spPr>
      </p:sp>
      <p:sp>
        <p:nvSpPr>
          <p:cNvPr id="20" name="Text 18"/>
          <p:cNvSpPr/>
          <p:nvPr/>
        </p:nvSpPr>
        <p:spPr>
          <a:xfrm>
            <a:off x="7571232" y="3566160"/>
            <a:ext cx="6181344" cy="393192"/>
          </a:xfrm>
          <a:prstGeom prst="rect">
            <a:avLst/>
          </a:prstGeom>
          <a:noFill/>
          <a:ln/>
        </p:spPr>
        <p:txBody>
          <a:bodyPr wrap="square" lIns="0" tIns="0" rIns="0" bIns="0" rtlCol="0" anchor="ctr"/>
          <a:lstStyle/>
          <a:p>
            <a:pPr indent="0" marL="0">
              <a:buNone/>
            </a:pPr>
            <a:r>
              <a:rPr lang="en-US" sz="2000" dirty="0">
                <a:solidFill>
                  <a:srgbClr val="172E43"/>
                </a:solidFill>
                <a:latin typeface="Arial" pitchFamily="34" charset="0"/>
                <a:ea typeface="Arial" pitchFamily="34" charset="-122"/>
                <a:cs typeface="Arial" pitchFamily="34" charset="-120"/>
              </a:rPr>
              <a:t>Improved decision or answer accuracy</a:t>
            </a:r>
            <a:endParaRPr lang="en-US" sz="2000" dirty="0"/>
          </a:p>
        </p:txBody>
      </p:sp>
      <p:sp>
        <p:nvSpPr>
          <p:cNvPr id="21" name="Shape 19"/>
          <p:cNvSpPr/>
          <p:nvPr/>
        </p:nvSpPr>
        <p:spPr>
          <a:xfrm>
            <a:off x="7342632" y="4206240"/>
            <a:ext cx="6647688" cy="603504"/>
          </a:xfrm>
          <a:prstGeom prst="rect">
            <a:avLst>
              <a:gd name="adj" fmla="val 18182"/>
            </a:avLst>
          </a:prstGeom>
          <a:solidFill>
            <a:srgbClr val="FFF3D9"/>
          </a:solidFill>
          <a:ln w="12700">
            <a:solidFill>
              <a:srgbClr val="FFF3D9"/>
            </a:solidFill>
            <a:prstDash val="solid"/>
          </a:ln>
        </p:spPr>
      </p:sp>
      <p:sp>
        <p:nvSpPr>
          <p:cNvPr id="22" name="Text 20"/>
          <p:cNvSpPr/>
          <p:nvPr/>
        </p:nvSpPr>
        <p:spPr>
          <a:xfrm>
            <a:off x="7571232" y="4334256"/>
            <a:ext cx="6181344" cy="393192"/>
          </a:xfrm>
          <a:prstGeom prst="rect">
            <a:avLst/>
          </a:prstGeom>
          <a:noFill/>
          <a:ln/>
        </p:spPr>
        <p:txBody>
          <a:bodyPr wrap="square" lIns="0" tIns="0" rIns="0" bIns="0" rtlCol="0" anchor="ctr"/>
          <a:lstStyle/>
          <a:p>
            <a:pPr indent="0" marL="0">
              <a:buNone/>
            </a:pPr>
            <a:r>
              <a:rPr lang="en-US" sz="2000" dirty="0">
                <a:solidFill>
                  <a:srgbClr val="172E43"/>
                </a:solidFill>
                <a:latin typeface="Arial" pitchFamily="34" charset="0"/>
                <a:ea typeface="Arial" pitchFamily="34" charset="-122"/>
                <a:cs typeface="Arial" pitchFamily="34" charset="-120"/>
              </a:rPr>
              <a:t>An operational calculator or universal host support</a:t>
            </a:r>
            <a:endParaRPr lang="en-US" sz="2000" dirty="0"/>
          </a:p>
        </p:txBody>
      </p:sp>
      <p:sp>
        <p:nvSpPr>
          <p:cNvPr id="23" name="Shape 21"/>
          <p:cNvSpPr/>
          <p:nvPr/>
        </p:nvSpPr>
        <p:spPr>
          <a:xfrm>
            <a:off x="649224" y="5522976"/>
            <a:ext cx="13341096" cy="1161288"/>
          </a:xfrm>
          <a:prstGeom prst="rect">
            <a:avLst>
              <a:gd name="adj" fmla="val 9449"/>
            </a:avLst>
          </a:prstGeom>
          <a:solidFill>
            <a:srgbClr val="102B46"/>
          </a:solidFill>
          <a:ln w="12700">
            <a:solidFill>
              <a:srgbClr val="102B46"/>
            </a:solidFill>
            <a:prstDash val="solid"/>
          </a:ln>
        </p:spPr>
      </p:sp>
      <p:sp>
        <p:nvSpPr>
          <p:cNvPr id="24" name="Text 22"/>
          <p:cNvSpPr/>
          <p:nvPr/>
        </p:nvSpPr>
        <p:spPr>
          <a:xfrm>
            <a:off x="914400" y="5705856"/>
            <a:ext cx="12783312"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The fresh sidebar transition failed twice.</a:t>
            </a:r>
            <a:endParaRPr lang="en-US" sz="2600" dirty="0"/>
          </a:p>
        </p:txBody>
      </p:sp>
      <p:sp>
        <p:nvSpPr>
          <p:cNvPr id="25" name="Text 23"/>
          <p:cNvSpPr/>
          <p:nvPr/>
        </p:nvSpPr>
        <p:spPr>
          <a:xfrm>
            <a:off x="914400" y="6263640"/>
            <a:ext cx="12783312" cy="246888"/>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Manual inspection remains the main demonstration. The real failure is retained in the appendix.</a:t>
            </a:r>
            <a:endParaRPr lang="en-US" sz="1800" dirty="0"/>
          </a:p>
        </p:txBody>
      </p:sp>
      <p:sp>
        <p:nvSpPr>
          <p:cNvPr id="26" name="Text 24">
            <a:hlinkClick r:id="rId1"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Capture receipts and release records • all 40 retained workbench packages remain insufficient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FROM DEMONSTRATION TO INSPECTION</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Try the public learning route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From demonstration to inspection</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22</a:t>
            </a:r>
            <a:endParaRPr lang="en-US" sz="1100" dirty="0"/>
          </a:p>
        </p:txBody>
      </p:sp>
      <p:sp>
        <p:nvSpPr>
          <p:cNvPr id="9" name="Shape 7"/>
          <p:cNvSpPr/>
          <p:nvPr/>
        </p:nvSpPr>
        <p:spPr>
          <a:xfrm>
            <a:off x="640080" y="1856232"/>
            <a:ext cx="8641080" cy="5038344"/>
          </a:xfrm>
          <a:prstGeom prst="rect">
            <a:avLst>
              <a:gd name="adj" fmla="val 2178"/>
            </a:avLst>
          </a:prstGeom>
          <a:solidFill>
            <a:srgbClr val="EDF3F7"/>
          </a:solidFill>
          <a:ln w="12700">
            <a:solidFill>
              <a:srgbClr val="D5E2E9"/>
            </a:solidFill>
            <a:prstDash val="solid"/>
          </a:ln>
        </p:spPr>
      </p:sp>
      <p:pic>
        <p:nvPicPr>
          <p:cNvPr id="10" name="Image 0" descr="S16: Independent experiment, not an official DWP service or entitlement calculator.">    </p:cNvPr>
          <p:cNvPicPr>
            <a:picLocks noChangeAspect="1"/>
          </p:cNvPicPr>
          <p:nvPr/>
        </p:nvPicPr>
        <p:blipFill>
          <a:blip r:embed="rId1"/>
          <a:stretch>
            <a:fillRect/>
          </a:stretch>
        </p:blipFill>
        <p:spPr>
          <a:xfrm>
            <a:off x="640080" y="1970061"/>
            <a:ext cx="8641080" cy="4810685"/>
          </a:xfrm>
          <a:prstGeom prst="rect">
            <a:avLst/>
          </a:prstGeom>
        </p:spPr>
      </p:pic>
      <p:sp>
        <p:nvSpPr>
          <p:cNvPr id="11" name="Shape 8"/>
          <p:cNvSpPr/>
          <p:nvPr/>
        </p:nvSpPr>
        <p:spPr>
          <a:xfrm>
            <a:off x="9701784" y="1856232"/>
            <a:ext cx="4279392" cy="5038344"/>
          </a:xfrm>
          <a:prstGeom prst="rect">
            <a:avLst>
              <a:gd name="adj" fmla="val 2564"/>
            </a:avLst>
          </a:prstGeom>
          <a:solidFill>
            <a:srgbClr val="EDF3F7"/>
          </a:solidFill>
          <a:ln w="12700">
            <a:solidFill>
              <a:srgbClr val="EDF3F7"/>
            </a:solidFill>
            <a:prstDash val="solid"/>
          </a:ln>
        </p:spPr>
      </p:sp>
      <p:sp>
        <p:nvSpPr>
          <p:cNvPr id="12" name="Shape 9"/>
          <p:cNvSpPr/>
          <p:nvPr/>
        </p:nvSpPr>
        <p:spPr>
          <a:xfrm>
            <a:off x="10652760" y="2221992"/>
            <a:ext cx="2377440" cy="2377440"/>
          </a:xfrm>
          <a:prstGeom prst="rect">
            <a:avLst>
              <a:gd name="adj" fmla="val 4615"/>
            </a:avLst>
          </a:prstGeom>
          <a:solidFill>
            <a:srgbClr val="FFFFFF"/>
          </a:solidFill>
          <a:ln w="12700">
            <a:solidFill>
              <a:srgbClr val="FFFFFF"/>
            </a:solidFill>
            <a:prstDash val="solid"/>
          </a:ln>
        </p:spPr>
      </p:sp>
      <p:sp>
        <p:nvSpPr>
          <p:cNvPr id="13" name="Shape 10"/>
          <p:cNvSpPr/>
          <p:nvPr/>
        </p:nvSpPr>
        <p:spPr>
          <a:xfrm>
            <a:off x="10864088" y="2433320"/>
            <a:ext cx="370281" cy="53289"/>
          </a:xfrm>
          <a:prstGeom prst="rect">
            <a:avLst/>
          </a:prstGeom>
          <a:solidFill>
            <a:srgbClr val="000000"/>
          </a:solidFill>
          <a:ln w="12700">
            <a:solidFill>
              <a:srgbClr val="000000">
                <a:alpha val="0"/>
              </a:srgbClr>
            </a:solidFill>
            <a:prstDash val="solid"/>
          </a:ln>
        </p:spPr>
      </p:sp>
      <p:sp>
        <p:nvSpPr>
          <p:cNvPr id="14" name="Shape 11"/>
          <p:cNvSpPr/>
          <p:nvPr/>
        </p:nvSpPr>
        <p:spPr>
          <a:xfrm>
            <a:off x="11339576" y="2433320"/>
            <a:ext cx="53289" cy="53289"/>
          </a:xfrm>
          <a:prstGeom prst="rect">
            <a:avLst/>
          </a:prstGeom>
          <a:solidFill>
            <a:srgbClr val="000000"/>
          </a:solidFill>
          <a:ln w="12700">
            <a:solidFill>
              <a:srgbClr val="000000">
                <a:alpha val="0"/>
              </a:srgbClr>
            </a:solidFill>
            <a:prstDash val="solid"/>
          </a:ln>
        </p:spPr>
      </p:sp>
      <p:sp>
        <p:nvSpPr>
          <p:cNvPr id="15" name="Shape 12"/>
          <p:cNvSpPr/>
          <p:nvPr/>
        </p:nvSpPr>
        <p:spPr>
          <a:xfrm>
            <a:off x="11550904" y="2433320"/>
            <a:ext cx="106121" cy="53289"/>
          </a:xfrm>
          <a:prstGeom prst="rect">
            <a:avLst/>
          </a:prstGeom>
          <a:solidFill>
            <a:srgbClr val="000000"/>
          </a:solidFill>
          <a:ln w="12700">
            <a:solidFill>
              <a:srgbClr val="000000">
                <a:alpha val="0"/>
              </a:srgbClr>
            </a:solidFill>
            <a:prstDash val="solid"/>
          </a:ln>
        </p:spPr>
      </p:sp>
      <p:sp>
        <p:nvSpPr>
          <p:cNvPr id="16" name="Shape 13"/>
          <p:cNvSpPr/>
          <p:nvPr/>
        </p:nvSpPr>
        <p:spPr>
          <a:xfrm>
            <a:off x="11762232" y="2433320"/>
            <a:ext cx="53289" cy="53289"/>
          </a:xfrm>
          <a:prstGeom prst="rect">
            <a:avLst/>
          </a:prstGeom>
          <a:solidFill>
            <a:srgbClr val="000000"/>
          </a:solidFill>
          <a:ln w="12700">
            <a:solidFill>
              <a:srgbClr val="000000">
                <a:alpha val="0"/>
              </a:srgbClr>
            </a:solidFill>
            <a:prstDash val="solid"/>
          </a:ln>
        </p:spPr>
      </p:sp>
      <p:sp>
        <p:nvSpPr>
          <p:cNvPr id="17" name="Shape 14"/>
          <p:cNvSpPr/>
          <p:nvPr/>
        </p:nvSpPr>
        <p:spPr>
          <a:xfrm>
            <a:off x="12343384" y="2433320"/>
            <a:ext cx="53289" cy="53289"/>
          </a:xfrm>
          <a:prstGeom prst="rect">
            <a:avLst/>
          </a:prstGeom>
          <a:solidFill>
            <a:srgbClr val="000000"/>
          </a:solidFill>
          <a:ln w="12700">
            <a:solidFill>
              <a:srgbClr val="000000">
                <a:alpha val="0"/>
              </a:srgbClr>
            </a:solidFill>
            <a:prstDash val="solid"/>
          </a:ln>
        </p:spPr>
      </p:sp>
      <p:sp>
        <p:nvSpPr>
          <p:cNvPr id="18" name="Shape 15"/>
          <p:cNvSpPr/>
          <p:nvPr/>
        </p:nvSpPr>
        <p:spPr>
          <a:xfrm>
            <a:off x="12449048" y="2433320"/>
            <a:ext cx="370281" cy="53289"/>
          </a:xfrm>
          <a:prstGeom prst="rect">
            <a:avLst/>
          </a:prstGeom>
          <a:solidFill>
            <a:srgbClr val="000000"/>
          </a:solidFill>
          <a:ln w="12700">
            <a:solidFill>
              <a:srgbClr val="000000">
                <a:alpha val="0"/>
              </a:srgbClr>
            </a:solidFill>
            <a:prstDash val="solid"/>
          </a:ln>
        </p:spPr>
      </p:sp>
      <p:sp>
        <p:nvSpPr>
          <p:cNvPr id="19" name="Shape 16"/>
          <p:cNvSpPr/>
          <p:nvPr/>
        </p:nvSpPr>
        <p:spPr>
          <a:xfrm>
            <a:off x="10864088" y="2486152"/>
            <a:ext cx="53289" cy="53289"/>
          </a:xfrm>
          <a:prstGeom prst="rect">
            <a:avLst/>
          </a:prstGeom>
          <a:solidFill>
            <a:srgbClr val="000000"/>
          </a:solidFill>
          <a:ln w="12700">
            <a:solidFill>
              <a:srgbClr val="000000">
                <a:alpha val="0"/>
              </a:srgbClr>
            </a:solidFill>
            <a:prstDash val="solid"/>
          </a:ln>
        </p:spPr>
      </p:sp>
      <p:sp>
        <p:nvSpPr>
          <p:cNvPr id="20" name="Shape 17"/>
          <p:cNvSpPr/>
          <p:nvPr/>
        </p:nvSpPr>
        <p:spPr>
          <a:xfrm>
            <a:off x="11181080" y="2486152"/>
            <a:ext cx="53289" cy="53289"/>
          </a:xfrm>
          <a:prstGeom prst="rect">
            <a:avLst/>
          </a:prstGeom>
          <a:solidFill>
            <a:srgbClr val="000000"/>
          </a:solidFill>
          <a:ln w="12700">
            <a:solidFill>
              <a:srgbClr val="000000">
                <a:alpha val="0"/>
              </a:srgbClr>
            </a:solidFill>
            <a:prstDash val="solid"/>
          </a:ln>
        </p:spPr>
      </p:sp>
      <p:sp>
        <p:nvSpPr>
          <p:cNvPr id="21" name="Shape 18"/>
          <p:cNvSpPr/>
          <p:nvPr/>
        </p:nvSpPr>
        <p:spPr>
          <a:xfrm>
            <a:off x="11392408" y="2486152"/>
            <a:ext cx="53289" cy="53289"/>
          </a:xfrm>
          <a:prstGeom prst="rect">
            <a:avLst/>
          </a:prstGeom>
          <a:solidFill>
            <a:srgbClr val="000000"/>
          </a:solidFill>
          <a:ln w="12700">
            <a:solidFill>
              <a:srgbClr val="000000">
                <a:alpha val="0"/>
              </a:srgbClr>
            </a:solidFill>
            <a:prstDash val="solid"/>
          </a:ln>
        </p:spPr>
      </p:sp>
      <p:sp>
        <p:nvSpPr>
          <p:cNvPr id="22" name="Shape 19"/>
          <p:cNvSpPr/>
          <p:nvPr/>
        </p:nvSpPr>
        <p:spPr>
          <a:xfrm>
            <a:off x="11498072" y="2486152"/>
            <a:ext cx="106121" cy="53289"/>
          </a:xfrm>
          <a:prstGeom prst="rect">
            <a:avLst/>
          </a:prstGeom>
          <a:solidFill>
            <a:srgbClr val="000000"/>
          </a:solidFill>
          <a:ln w="12700">
            <a:solidFill>
              <a:srgbClr val="000000">
                <a:alpha val="0"/>
              </a:srgbClr>
            </a:solidFill>
            <a:prstDash val="solid"/>
          </a:ln>
        </p:spPr>
      </p:sp>
      <p:sp>
        <p:nvSpPr>
          <p:cNvPr id="23" name="Shape 20"/>
          <p:cNvSpPr/>
          <p:nvPr/>
        </p:nvSpPr>
        <p:spPr>
          <a:xfrm>
            <a:off x="11709400" y="2486152"/>
            <a:ext cx="106121" cy="53289"/>
          </a:xfrm>
          <a:prstGeom prst="rect">
            <a:avLst/>
          </a:prstGeom>
          <a:solidFill>
            <a:srgbClr val="000000"/>
          </a:solidFill>
          <a:ln w="12700">
            <a:solidFill>
              <a:srgbClr val="000000">
                <a:alpha val="0"/>
              </a:srgbClr>
            </a:solidFill>
            <a:prstDash val="solid"/>
          </a:ln>
        </p:spPr>
      </p:sp>
      <p:sp>
        <p:nvSpPr>
          <p:cNvPr id="24" name="Shape 21"/>
          <p:cNvSpPr/>
          <p:nvPr/>
        </p:nvSpPr>
        <p:spPr>
          <a:xfrm>
            <a:off x="11920728" y="2486152"/>
            <a:ext cx="106121" cy="53289"/>
          </a:xfrm>
          <a:prstGeom prst="rect">
            <a:avLst/>
          </a:prstGeom>
          <a:solidFill>
            <a:srgbClr val="000000"/>
          </a:solidFill>
          <a:ln w="12700">
            <a:solidFill>
              <a:srgbClr val="000000">
                <a:alpha val="0"/>
              </a:srgbClr>
            </a:solidFill>
            <a:prstDash val="solid"/>
          </a:ln>
        </p:spPr>
      </p:sp>
      <p:sp>
        <p:nvSpPr>
          <p:cNvPr id="25" name="Shape 22"/>
          <p:cNvSpPr/>
          <p:nvPr/>
        </p:nvSpPr>
        <p:spPr>
          <a:xfrm>
            <a:off x="12079224" y="2486152"/>
            <a:ext cx="106121" cy="53289"/>
          </a:xfrm>
          <a:prstGeom prst="rect">
            <a:avLst/>
          </a:prstGeom>
          <a:solidFill>
            <a:srgbClr val="000000"/>
          </a:solidFill>
          <a:ln w="12700">
            <a:solidFill>
              <a:srgbClr val="000000">
                <a:alpha val="0"/>
              </a:srgbClr>
            </a:solidFill>
            <a:prstDash val="solid"/>
          </a:ln>
        </p:spPr>
      </p:sp>
      <p:sp>
        <p:nvSpPr>
          <p:cNvPr id="26" name="Shape 23"/>
          <p:cNvSpPr/>
          <p:nvPr/>
        </p:nvSpPr>
        <p:spPr>
          <a:xfrm>
            <a:off x="12290552" y="2486152"/>
            <a:ext cx="53289" cy="53289"/>
          </a:xfrm>
          <a:prstGeom prst="rect">
            <a:avLst/>
          </a:prstGeom>
          <a:solidFill>
            <a:srgbClr val="000000"/>
          </a:solidFill>
          <a:ln w="12700">
            <a:solidFill>
              <a:srgbClr val="000000">
                <a:alpha val="0"/>
              </a:srgbClr>
            </a:solidFill>
            <a:prstDash val="solid"/>
          </a:ln>
        </p:spPr>
      </p:sp>
      <p:sp>
        <p:nvSpPr>
          <p:cNvPr id="27" name="Shape 24"/>
          <p:cNvSpPr/>
          <p:nvPr/>
        </p:nvSpPr>
        <p:spPr>
          <a:xfrm>
            <a:off x="12449048" y="2486152"/>
            <a:ext cx="53289" cy="53289"/>
          </a:xfrm>
          <a:prstGeom prst="rect">
            <a:avLst/>
          </a:prstGeom>
          <a:solidFill>
            <a:srgbClr val="000000"/>
          </a:solidFill>
          <a:ln w="12700">
            <a:solidFill>
              <a:srgbClr val="000000">
                <a:alpha val="0"/>
              </a:srgbClr>
            </a:solidFill>
            <a:prstDash val="solid"/>
          </a:ln>
        </p:spPr>
      </p:sp>
      <p:sp>
        <p:nvSpPr>
          <p:cNvPr id="28" name="Shape 25"/>
          <p:cNvSpPr/>
          <p:nvPr/>
        </p:nvSpPr>
        <p:spPr>
          <a:xfrm>
            <a:off x="12766040" y="2486152"/>
            <a:ext cx="53289" cy="53289"/>
          </a:xfrm>
          <a:prstGeom prst="rect">
            <a:avLst/>
          </a:prstGeom>
          <a:solidFill>
            <a:srgbClr val="000000"/>
          </a:solidFill>
          <a:ln w="12700">
            <a:solidFill>
              <a:srgbClr val="000000">
                <a:alpha val="0"/>
              </a:srgbClr>
            </a:solidFill>
            <a:prstDash val="solid"/>
          </a:ln>
        </p:spPr>
      </p:sp>
      <p:sp>
        <p:nvSpPr>
          <p:cNvPr id="29" name="Shape 26"/>
          <p:cNvSpPr/>
          <p:nvPr/>
        </p:nvSpPr>
        <p:spPr>
          <a:xfrm>
            <a:off x="10864088" y="2538984"/>
            <a:ext cx="53289" cy="53289"/>
          </a:xfrm>
          <a:prstGeom prst="rect">
            <a:avLst/>
          </a:prstGeom>
          <a:solidFill>
            <a:srgbClr val="000000"/>
          </a:solidFill>
          <a:ln w="12700">
            <a:solidFill>
              <a:srgbClr val="000000">
                <a:alpha val="0"/>
              </a:srgbClr>
            </a:solidFill>
            <a:prstDash val="solid"/>
          </a:ln>
        </p:spPr>
      </p:sp>
      <p:sp>
        <p:nvSpPr>
          <p:cNvPr id="30" name="Shape 27"/>
          <p:cNvSpPr/>
          <p:nvPr/>
        </p:nvSpPr>
        <p:spPr>
          <a:xfrm>
            <a:off x="10969752" y="2538984"/>
            <a:ext cx="158953" cy="53289"/>
          </a:xfrm>
          <a:prstGeom prst="rect">
            <a:avLst/>
          </a:prstGeom>
          <a:solidFill>
            <a:srgbClr val="000000"/>
          </a:solidFill>
          <a:ln w="12700">
            <a:solidFill>
              <a:srgbClr val="000000">
                <a:alpha val="0"/>
              </a:srgbClr>
            </a:solidFill>
            <a:prstDash val="solid"/>
          </a:ln>
        </p:spPr>
      </p:sp>
      <p:sp>
        <p:nvSpPr>
          <p:cNvPr id="31" name="Shape 28"/>
          <p:cNvSpPr/>
          <p:nvPr/>
        </p:nvSpPr>
        <p:spPr>
          <a:xfrm>
            <a:off x="11181080" y="2538984"/>
            <a:ext cx="53289" cy="53289"/>
          </a:xfrm>
          <a:prstGeom prst="rect">
            <a:avLst/>
          </a:prstGeom>
          <a:solidFill>
            <a:srgbClr val="000000"/>
          </a:solidFill>
          <a:ln w="12700">
            <a:solidFill>
              <a:srgbClr val="000000">
                <a:alpha val="0"/>
              </a:srgbClr>
            </a:solidFill>
            <a:prstDash val="solid"/>
          </a:ln>
        </p:spPr>
      </p:sp>
      <p:sp>
        <p:nvSpPr>
          <p:cNvPr id="32" name="Shape 29"/>
          <p:cNvSpPr/>
          <p:nvPr/>
        </p:nvSpPr>
        <p:spPr>
          <a:xfrm>
            <a:off x="11286744" y="2538984"/>
            <a:ext cx="158953" cy="53289"/>
          </a:xfrm>
          <a:prstGeom prst="rect">
            <a:avLst/>
          </a:prstGeom>
          <a:solidFill>
            <a:srgbClr val="000000"/>
          </a:solidFill>
          <a:ln w="12700">
            <a:solidFill>
              <a:srgbClr val="000000">
                <a:alpha val="0"/>
              </a:srgbClr>
            </a:solidFill>
            <a:prstDash val="solid"/>
          </a:ln>
        </p:spPr>
      </p:sp>
      <p:sp>
        <p:nvSpPr>
          <p:cNvPr id="33" name="Shape 30"/>
          <p:cNvSpPr/>
          <p:nvPr/>
        </p:nvSpPr>
        <p:spPr>
          <a:xfrm>
            <a:off x="11498072" y="2538984"/>
            <a:ext cx="53289" cy="53289"/>
          </a:xfrm>
          <a:prstGeom prst="rect">
            <a:avLst/>
          </a:prstGeom>
          <a:solidFill>
            <a:srgbClr val="000000"/>
          </a:solidFill>
          <a:ln w="12700">
            <a:solidFill>
              <a:srgbClr val="000000">
                <a:alpha val="0"/>
              </a:srgbClr>
            </a:solidFill>
            <a:prstDash val="solid"/>
          </a:ln>
        </p:spPr>
      </p:sp>
      <p:sp>
        <p:nvSpPr>
          <p:cNvPr id="34" name="Shape 31"/>
          <p:cNvSpPr/>
          <p:nvPr/>
        </p:nvSpPr>
        <p:spPr>
          <a:xfrm>
            <a:off x="11603736" y="2538984"/>
            <a:ext cx="106121" cy="53289"/>
          </a:xfrm>
          <a:prstGeom prst="rect">
            <a:avLst/>
          </a:prstGeom>
          <a:solidFill>
            <a:srgbClr val="000000"/>
          </a:solidFill>
          <a:ln w="12700">
            <a:solidFill>
              <a:srgbClr val="000000">
                <a:alpha val="0"/>
              </a:srgbClr>
            </a:solidFill>
            <a:prstDash val="solid"/>
          </a:ln>
        </p:spPr>
      </p:sp>
      <p:sp>
        <p:nvSpPr>
          <p:cNvPr id="35" name="Shape 32"/>
          <p:cNvSpPr/>
          <p:nvPr/>
        </p:nvSpPr>
        <p:spPr>
          <a:xfrm>
            <a:off x="11973560" y="2538984"/>
            <a:ext cx="158953" cy="53289"/>
          </a:xfrm>
          <a:prstGeom prst="rect">
            <a:avLst/>
          </a:prstGeom>
          <a:solidFill>
            <a:srgbClr val="000000"/>
          </a:solidFill>
          <a:ln w="12700">
            <a:solidFill>
              <a:srgbClr val="000000">
                <a:alpha val="0"/>
              </a:srgbClr>
            </a:solidFill>
            <a:prstDash val="solid"/>
          </a:ln>
        </p:spPr>
      </p:sp>
      <p:sp>
        <p:nvSpPr>
          <p:cNvPr id="36" name="Shape 33"/>
          <p:cNvSpPr/>
          <p:nvPr/>
        </p:nvSpPr>
        <p:spPr>
          <a:xfrm>
            <a:off x="12237720" y="2538984"/>
            <a:ext cx="158953" cy="53289"/>
          </a:xfrm>
          <a:prstGeom prst="rect">
            <a:avLst/>
          </a:prstGeom>
          <a:solidFill>
            <a:srgbClr val="000000"/>
          </a:solidFill>
          <a:ln w="12700">
            <a:solidFill>
              <a:srgbClr val="000000">
                <a:alpha val="0"/>
              </a:srgbClr>
            </a:solidFill>
            <a:prstDash val="solid"/>
          </a:ln>
        </p:spPr>
      </p:sp>
      <p:sp>
        <p:nvSpPr>
          <p:cNvPr id="37" name="Shape 34"/>
          <p:cNvSpPr/>
          <p:nvPr/>
        </p:nvSpPr>
        <p:spPr>
          <a:xfrm>
            <a:off x="12449048" y="2538984"/>
            <a:ext cx="53289" cy="53289"/>
          </a:xfrm>
          <a:prstGeom prst="rect">
            <a:avLst/>
          </a:prstGeom>
          <a:solidFill>
            <a:srgbClr val="000000"/>
          </a:solidFill>
          <a:ln w="12700">
            <a:solidFill>
              <a:srgbClr val="000000">
                <a:alpha val="0"/>
              </a:srgbClr>
            </a:solidFill>
            <a:prstDash val="solid"/>
          </a:ln>
        </p:spPr>
      </p:sp>
      <p:sp>
        <p:nvSpPr>
          <p:cNvPr id="38" name="Shape 35"/>
          <p:cNvSpPr/>
          <p:nvPr/>
        </p:nvSpPr>
        <p:spPr>
          <a:xfrm>
            <a:off x="12554712" y="2538984"/>
            <a:ext cx="158953" cy="53289"/>
          </a:xfrm>
          <a:prstGeom prst="rect">
            <a:avLst/>
          </a:prstGeom>
          <a:solidFill>
            <a:srgbClr val="000000"/>
          </a:solidFill>
          <a:ln w="12700">
            <a:solidFill>
              <a:srgbClr val="000000">
                <a:alpha val="0"/>
              </a:srgbClr>
            </a:solidFill>
            <a:prstDash val="solid"/>
          </a:ln>
        </p:spPr>
      </p:sp>
      <p:sp>
        <p:nvSpPr>
          <p:cNvPr id="39" name="Shape 36"/>
          <p:cNvSpPr/>
          <p:nvPr/>
        </p:nvSpPr>
        <p:spPr>
          <a:xfrm>
            <a:off x="12766040" y="2538984"/>
            <a:ext cx="53289" cy="53289"/>
          </a:xfrm>
          <a:prstGeom prst="rect">
            <a:avLst/>
          </a:prstGeom>
          <a:solidFill>
            <a:srgbClr val="000000"/>
          </a:solidFill>
          <a:ln w="12700">
            <a:solidFill>
              <a:srgbClr val="000000">
                <a:alpha val="0"/>
              </a:srgbClr>
            </a:solidFill>
            <a:prstDash val="solid"/>
          </a:ln>
        </p:spPr>
      </p:sp>
      <p:sp>
        <p:nvSpPr>
          <p:cNvPr id="40" name="Shape 37"/>
          <p:cNvSpPr/>
          <p:nvPr/>
        </p:nvSpPr>
        <p:spPr>
          <a:xfrm>
            <a:off x="10864088" y="2591816"/>
            <a:ext cx="53289" cy="53289"/>
          </a:xfrm>
          <a:prstGeom prst="rect">
            <a:avLst/>
          </a:prstGeom>
          <a:solidFill>
            <a:srgbClr val="000000"/>
          </a:solidFill>
          <a:ln w="12700">
            <a:solidFill>
              <a:srgbClr val="000000">
                <a:alpha val="0"/>
              </a:srgbClr>
            </a:solidFill>
            <a:prstDash val="solid"/>
          </a:ln>
        </p:spPr>
      </p:sp>
      <p:sp>
        <p:nvSpPr>
          <p:cNvPr id="41" name="Shape 38"/>
          <p:cNvSpPr/>
          <p:nvPr/>
        </p:nvSpPr>
        <p:spPr>
          <a:xfrm>
            <a:off x="10969752" y="2591816"/>
            <a:ext cx="158953" cy="53289"/>
          </a:xfrm>
          <a:prstGeom prst="rect">
            <a:avLst/>
          </a:prstGeom>
          <a:solidFill>
            <a:srgbClr val="000000"/>
          </a:solidFill>
          <a:ln w="12700">
            <a:solidFill>
              <a:srgbClr val="000000">
                <a:alpha val="0"/>
              </a:srgbClr>
            </a:solidFill>
            <a:prstDash val="solid"/>
          </a:ln>
        </p:spPr>
      </p:sp>
      <p:sp>
        <p:nvSpPr>
          <p:cNvPr id="42" name="Shape 39"/>
          <p:cNvSpPr/>
          <p:nvPr/>
        </p:nvSpPr>
        <p:spPr>
          <a:xfrm>
            <a:off x="11181080" y="2591816"/>
            <a:ext cx="53289" cy="53289"/>
          </a:xfrm>
          <a:prstGeom prst="rect">
            <a:avLst/>
          </a:prstGeom>
          <a:solidFill>
            <a:srgbClr val="000000"/>
          </a:solidFill>
          <a:ln w="12700">
            <a:solidFill>
              <a:srgbClr val="000000">
                <a:alpha val="0"/>
              </a:srgbClr>
            </a:solidFill>
            <a:prstDash val="solid"/>
          </a:ln>
        </p:spPr>
      </p:sp>
      <p:sp>
        <p:nvSpPr>
          <p:cNvPr id="43" name="Shape 40"/>
          <p:cNvSpPr/>
          <p:nvPr/>
        </p:nvSpPr>
        <p:spPr>
          <a:xfrm>
            <a:off x="11286744" y="2591816"/>
            <a:ext cx="158953" cy="53289"/>
          </a:xfrm>
          <a:prstGeom prst="rect">
            <a:avLst/>
          </a:prstGeom>
          <a:solidFill>
            <a:srgbClr val="000000"/>
          </a:solidFill>
          <a:ln w="12700">
            <a:solidFill>
              <a:srgbClr val="000000">
                <a:alpha val="0"/>
              </a:srgbClr>
            </a:solidFill>
            <a:prstDash val="solid"/>
          </a:ln>
        </p:spPr>
      </p:sp>
      <p:sp>
        <p:nvSpPr>
          <p:cNvPr id="44" name="Shape 41"/>
          <p:cNvSpPr/>
          <p:nvPr/>
        </p:nvSpPr>
        <p:spPr>
          <a:xfrm>
            <a:off x="11550904" y="2591816"/>
            <a:ext cx="53289" cy="53289"/>
          </a:xfrm>
          <a:prstGeom prst="rect">
            <a:avLst/>
          </a:prstGeom>
          <a:solidFill>
            <a:srgbClr val="000000"/>
          </a:solidFill>
          <a:ln w="12700">
            <a:solidFill>
              <a:srgbClr val="000000">
                <a:alpha val="0"/>
              </a:srgbClr>
            </a:solidFill>
            <a:prstDash val="solid"/>
          </a:ln>
        </p:spPr>
      </p:sp>
      <p:sp>
        <p:nvSpPr>
          <p:cNvPr id="45" name="Shape 42"/>
          <p:cNvSpPr/>
          <p:nvPr/>
        </p:nvSpPr>
        <p:spPr>
          <a:xfrm>
            <a:off x="11656568" y="2591816"/>
            <a:ext cx="158953" cy="53289"/>
          </a:xfrm>
          <a:prstGeom prst="rect">
            <a:avLst/>
          </a:prstGeom>
          <a:solidFill>
            <a:srgbClr val="000000"/>
          </a:solidFill>
          <a:ln w="12700">
            <a:solidFill>
              <a:srgbClr val="000000">
                <a:alpha val="0"/>
              </a:srgbClr>
            </a:solidFill>
            <a:prstDash val="solid"/>
          </a:ln>
        </p:spPr>
      </p:sp>
      <p:sp>
        <p:nvSpPr>
          <p:cNvPr id="46" name="Shape 43"/>
          <p:cNvSpPr/>
          <p:nvPr/>
        </p:nvSpPr>
        <p:spPr>
          <a:xfrm>
            <a:off x="12026392" y="2591816"/>
            <a:ext cx="317449" cy="53289"/>
          </a:xfrm>
          <a:prstGeom prst="rect">
            <a:avLst/>
          </a:prstGeom>
          <a:solidFill>
            <a:srgbClr val="000000"/>
          </a:solidFill>
          <a:ln w="12700">
            <a:solidFill>
              <a:srgbClr val="000000">
                <a:alpha val="0"/>
              </a:srgbClr>
            </a:solidFill>
            <a:prstDash val="solid"/>
          </a:ln>
        </p:spPr>
      </p:sp>
      <p:sp>
        <p:nvSpPr>
          <p:cNvPr id="47" name="Shape 44"/>
          <p:cNvSpPr/>
          <p:nvPr/>
        </p:nvSpPr>
        <p:spPr>
          <a:xfrm>
            <a:off x="12449048" y="2591816"/>
            <a:ext cx="53289" cy="53289"/>
          </a:xfrm>
          <a:prstGeom prst="rect">
            <a:avLst/>
          </a:prstGeom>
          <a:solidFill>
            <a:srgbClr val="000000"/>
          </a:solidFill>
          <a:ln w="12700">
            <a:solidFill>
              <a:srgbClr val="000000">
                <a:alpha val="0"/>
              </a:srgbClr>
            </a:solidFill>
            <a:prstDash val="solid"/>
          </a:ln>
        </p:spPr>
      </p:sp>
      <p:sp>
        <p:nvSpPr>
          <p:cNvPr id="48" name="Shape 45"/>
          <p:cNvSpPr/>
          <p:nvPr/>
        </p:nvSpPr>
        <p:spPr>
          <a:xfrm>
            <a:off x="12554712" y="2591816"/>
            <a:ext cx="158953" cy="53289"/>
          </a:xfrm>
          <a:prstGeom prst="rect">
            <a:avLst/>
          </a:prstGeom>
          <a:solidFill>
            <a:srgbClr val="000000"/>
          </a:solidFill>
          <a:ln w="12700">
            <a:solidFill>
              <a:srgbClr val="000000">
                <a:alpha val="0"/>
              </a:srgbClr>
            </a:solidFill>
            <a:prstDash val="solid"/>
          </a:ln>
        </p:spPr>
      </p:sp>
      <p:sp>
        <p:nvSpPr>
          <p:cNvPr id="49" name="Shape 46"/>
          <p:cNvSpPr/>
          <p:nvPr/>
        </p:nvSpPr>
        <p:spPr>
          <a:xfrm>
            <a:off x="12766040" y="2591816"/>
            <a:ext cx="53289" cy="53289"/>
          </a:xfrm>
          <a:prstGeom prst="rect">
            <a:avLst/>
          </a:prstGeom>
          <a:solidFill>
            <a:srgbClr val="000000"/>
          </a:solidFill>
          <a:ln w="12700">
            <a:solidFill>
              <a:srgbClr val="000000">
                <a:alpha val="0"/>
              </a:srgbClr>
            </a:solidFill>
            <a:prstDash val="solid"/>
          </a:ln>
        </p:spPr>
      </p:sp>
      <p:sp>
        <p:nvSpPr>
          <p:cNvPr id="50" name="Shape 47"/>
          <p:cNvSpPr/>
          <p:nvPr/>
        </p:nvSpPr>
        <p:spPr>
          <a:xfrm>
            <a:off x="10864088" y="2644648"/>
            <a:ext cx="53289" cy="53289"/>
          </a:xfrm>
          <a:prstGeom prst="rect">
            <a:avLst/>
          </a:prstGeom>
          <a:solidFill>
            <a:srgbClr val="000000"/>
          </a:solidFill>
          <a:ln w="12700">
            <a:solidFill>
              <a:srgbClr val="000000">
                <a:alpha val="0"/>
              </a:srgbClr>
            </a:solidFill>
            <a:prstDash val="solid"/>
          </a:ln>
        </p:spPr>
      </p:sp>
      <p:sp>
        <p:nvSpPr>
          <p:cNvPr id="51" name="Shape 48"/>
          <p:cNvSpPr/>
          <p:nvPr/>
        </p:nvSpPr>
        <p:spPr>
          <a:xfrm>
            <a:off x="10969752" y="2644648"/>
            <a:ext cx="158953" cy="53289"/>
          </a:xfrm>
          <a:prstGeom prst="rect">
            <a:avLst/>
          </a:prstGeom>
          <a:solidFill>
            <a:srgbClr val="000000"/>
          </a:solidFill>
          <a:ln w="12700">
            <a:solidFill>
              <a:srgbClr val="000000">
                <a:alpha val="0"/>
              </a:srgbClr>
            </a:solidFill>
            <a:prstDash val="solid"/>
          </a:ln>
        </p:spPr>
      </p:sp>
      <p:sp>
        <p:nvSpPr>
          <p:cNvPr id="52" name="Shape 49"/>
          <p:cNvSpPr/>
          <p:nvPr/>
        </p:nvSpPr>
        <p:spPr>
          <a:xfrm>
            <a:off x="11181080" y="2644648"/>
            <a:ext cx="53289" cy="53289"/>
          </a:xfrm>
          <a:prstGeom prst="rect">
            <a:avLst/>
          </a:prstGeom>
          <a:solidFill>
            <a:srgbClr val="000000"/>
          </a:solidFill>
          <a:ln w="12700">
            <a:solidFill>
              <a:srgbClr val="000000">
                <a:alpha val="0"/>
              </a:srgbClr>
            </a:solidFill>
            <a:prstDash val="solid"/>
          </a:ln>
        </p:spPr>
      </p:sp>
      <p:sp>
        <p:nvSpPr>
          <p:cNvPr id="53" name="Shape 50"/>
          <p:cNvSpPr/>
          <p:nvPr/>
        </p:nvSpPr>
        <p:spPr>
          <a:xfrm>
            <a:off x="11286744" y="2644648"/>
            <a:ext cx="53289" cy="53289"/>
          </a:xfrm>
          <a:prstGeom prst="rect">
            <a:avLst/>
          </a:prstGeom>
          <a:solidFill>
            <a:srgbClr val="000000"/>
          </a:solidFill>
          <a:ln w="12700">
            <a:solidFill>
              <a:srgbClr val="000000">
                <a:alpha val="0"/>
              </a:srgbClr>
            </a:solidFill>
            <a:prstDash val="solid"/>
          </a:ln>
        </p:spPr>
      </p:sp>
      <p:sp>
        <p:nvSpPr>
          <p:cNvPr id="54" name="Shape 51"/>
          <p:cNvSpPr/>
          <p:nvPr/>
        </p:nvSpPr>
        <p:spPr>
          <a:xfrm>
            <a:off x="11392408" y="2644648"/>
            <a:ext cx="106121" cy="53289"/>
          </a:xfrm>
          <a:prstGeom prst="rect">
            <a:avLst/>
          </a:prstGeom>
          <a:solidFill>
            <a:srgbClr val="000000"/>
          </a:solidFill>
          <a:ln w="12700">
            <a:solidFill>
              <a:srgbClr val="000000">
                <a:alpha val="0"/>
              </a:srgbClr>
            </a:solidFill>
            <a:prstDash val="solid"/>
          </a:ln>
        </p:spPr>
      </p:sp>
      <p:sp>
        <p:nvSpPr>
          <p:cNvPr id="55" name="Shape 52"/>
          <p:cNvSpPr/>
          <p:nvPr/>
        </p:nvSpPr>
        <p:spPr>
          <a:xfrm>
            <a:off x="11550904" y="2644648"/>
            <a:ext cx="158953" cy="53289"/>
          </a:xfrm>
          <a:prstGeom prst="rect">
            <a:avLst/>
          </a:prstGeom>
          <a:solidFill>
            <a:srgbClr val="000000"/>
          </a:solidFill>
          <a:ln w="12700">
            <a:solidFill>
              <a:srgbClr val="000000">
                <a:alpha val="0"/>
              </a:srgbClr>
            </a:solidFill>
            <a:prstDash val="solid"/>
          </a:ln>
        </p:spPr>
      </p:sp>
      <p:sp>
        <p:nvSpPr>
          <p:cNvPr id="56" name="Shape 53"/>
          <p:cNvSpPr/>
          <p:nvPr/>
        </p:nvSpPr>
        <p:spPr>
          <a:xfrm>
            <a:off x="11762232" y="2644648"/>
            <a:ext cx="370281" cy="53289"/>
          </a:xfrm>
          <a:prstGeom prst="rect">
            <a:avLst/>
          </a:prstGeom>
          <a:solidFill>
            <a:srgbClr val="000000"/>
          </a:solidFill>
          <a:ln w="12700">
            <a:solidFill>
              <a:srgbClr val="000000">
                <a:alpha val="0"/>
              </a:srgbClr>
            </a:solidFill>
            <a:prstDash val="solid"/>
          </a:ln>
        </p:spPr>
      </p:sp>
      <p:sp>
        <p:nvSpPr>
          <p:cNvPr id="57" name="Shape 54"/>
          <p:cNvSpPr/>
          <p:nvPr/>
        </p:nvSpPr>
        <p:spPr>
          <a:xfrm>
            <a:off x="12184888" y="2644648"/>
            <a:ext cx="53289" cy="53289"/>
          </a:xfrm>
          <a:prstGeom prst="rect">
            <a:avLst/>
          </a:prstGeom>
          <a:solidFill>
            <a:srgbClr val="000000"/>
          </a:solidFill>
          <a:ln w="12700">
            <a:solidFill>
              <a:srgbClr val="000000">
                <a:alpha val="0"/>
              </a:srgbClr>
            </a:solidFill>
            <a:prstDash val="solid"/>
          </a:ln>
        </p:spPr>
      </p:sp>
      <p:sp>
        <p:nvSpPr>
          <p:cNvPr id="58" name="Shape 55"/>
          <p:cNvSpPr/>
          <p:nvPr/>
        </p:nvSpPr>
        <p:spPr>
          <a:xfrm>
            <a:off x="12343384" y="2644648"/>
            <a:ext cx="53289" cy="53289"/>
          </a:xfrm>
          <a:prstGeom prst="rect">
            <a:avLst/>
          </a:prstGeom>
          <a:solidFill>
            <a:srgbClr val="000000"/>
          </a:solidFill>
          <a:ln w="12700">
            <a:solidFill>
              <a:srgbClr val="000000">
                <a:alpha val="0"/>
              </a:srgbClr>
            </a:solidFill>
            <a:prstDash val="solid"/>
          </a:ln>
        </p:spPr>
      </p:sp>
      <p:sp>
        <p:nvSpPr>
          <p:cNvPr id="59" name="Shape 56"/>
          <p:cNvSpPr/>
          <p:nvPr/>
        </p:nvSpPr>
        <p:spPr>
          <a:xfrm>
            <a:off x="12449048" y="2644648"/>
            <a:ext cx="53289" cy="53289"/>
          </a:xfrm>
          <a:prstGeom prst="rect">
            <a:avLst/>
          </a:prstGeom>
          <a:solidFill>
            <a:srgbClr val="000000"/>
          </a:solidFill>
          <a:ln w="12700">
            <a:solidFill>
              <a:srgbClr val="000000">
                <a:alpha val="0"/>
              </a:srgbClr>
            </a:solidFill>
            <a:prstDash val="solid"/>
          </a:ln>
        </p:spPr>
      </p:sp>
      <p:sp>
        <p:nvSpPr>
          <p:cNvPr id="60" name="Shape 57"/>
          <p:cNvSpPr/>
          <p:nvPr/>
        </p:nvSpPr>
        <p:spPr>
          <a:xfrm>
            <a:off x="12554712" y="2644648"/>
            <a:ext cx="158953" cy="53289"/>
          </a:xfrm>
          <a:prstGeom prst="rect">
            <a:avLst/>
          </a:prstGeom>
          <a:solidFill>
            <a:srgbClr val="000000"/>
          </a:solidFill>
          <a:ln w="12700">
            <a:solidFill>
              <a:srgbClr val="000000">
                <a:alpha val="0"/>
              </a:srgbClr>
            </a:solidFill>
            <a:prstDash val="solid"/>
          </a:ln>
        </p:spPr>
      </p:sp>
      <p:sp>
        <p:nvSpPr>
          <p:cNvPr id="61" name="Shape 58"/>
          <p:cNvSpPr/>
          <p:nvPr/>
        </p:nvSpPr>
        <p:spPr>
          <a:xfrm>
            <a:off x="12766040" y="2644648"/>
            <a:ext cx="53289" cy="53289"/>
          </a:xfrm>
          <a:prstGeom prst="rect">
            <a:avLst/>
          </a:prstGeom>
          <a:solidFill>
            <a:srgbClr val="000000"/>
          </a:solidFill>
          <a:ln w="12700">
            <a:solidFill>
              <a:srgbClr val="000000">
                <a:alpha val="0"/>
              </a:srgbClr>
            </a:solidFill>
            <a:prstDash val="solid"/>
          </a:ln>
        </p:spPr>
      </p:sp>
      <p:sp>
        <p:nvSpPr>
          <p:cNvPr id="62" name="Shape 59"/>
          <p:cNvSpPr/>
          <p:nvPr/>
        </p:nvSpPr>
        <p:spPr>
          <a:xfrm>
            <a:off x="10864088" y="2697480"/>
            <a:ext cx="53289" cy="53289"/>
          </a:xfrm>
          <a:prstGeom prst="rect">
            <a:avLst/>
          </a:prstGeom>
          <a:solidFill>
            <a:srgbClr val="000000"/>
          </a:solidFill>
          <a:ln w="12700">
            <a:solidFill>
              <a:srgbClr val="000000">
                <a:alpha val="0"/>
              </a:srgbClr>
            </a:solidFill>
            <a:prstDash val="solid"/>
          </a:ln>
        </p:spPr>
      </p:sp>
      <p:sp>
        <p:nvSpPr>
          <p:cNvPr id="63" name="Shape 60"/>
          <p:cNvSpPr/>
          <p:nvPr/>
        </p:nvSpPr>
        <p:spPr>
          <a:xfrm>
            <a:off x="11181080" y="2697480"/>
            <a:ext cx="53289" cy="53289"/>
          </a:xfrm>
          <a:prstGeom prst="rect">
            <a:avLst/>
          </a:prstGeom>
          <a:solidFill>
            <a:srgbClr val="000000"/>
          </a:solidFill>
          <a:ln w="12700">
            <a:solidFill>
              <a:srgbClr val="000000">
                <a:alpha val="0"/>
              </a:srgbClr>
            </a:solidFill>
            <a:prstDash val="solid"/>
          </a:ln>
        </p:spPr>
      </p:sp>
      <p:sp>
        <p:nvSpPr>
          <p:cNvPr id="64" name="Shape 61"/>
          <p:cNvSpPr/>
          <p:nvPr/>
        </p:nvSpPr>
        <p:spPr>
          <a:xfrm>
            <a:off x="11286744" y="2697480"/>
            <a:ext cx="528777" cy="53289"/>
          </a:xfrm>
          <a:prstGeom prst="rect">
            <a:avLst/>
          </a:prstGeom>
          <a:solidFill>
            <a:srgbClr val="000000"/>
          </a:solidFill>
          <a:ln w="12700">
            <a:solidFill>
              <a:srgbClr val="000000">
                <a:alpha val="0"/>
              </a:srgbClr>
            </a:solidFill>
            <a:prstDash val="solid"/>
          </a:ln>
        </p:spPr>
      </p:sp>
      <p:sp>
        <p:nvSpPr>
          <p:cNvPr id="65" name="Shape 62"/>
          <p:cNvSpPr/>
          <p:nvPr/>
        </p:nvSpPr>
        <p:spPr>
          <a:xfrm>
            <a:off x="11920728" y="2697480"/>
            <a:ext cx="106121" cy="53289"/>
          </a:xfrm>
          <a:prstGeom prst="rect">
            <a:avLst/>
          </a:prstGeom>
          <a:solidFill>
            <a:srgbClr val="000000"/>
          </a:solidFill>
          <a:ln w="12700">
            <a:solidFill>
              <a:srgbClr val="000000">
                <a:alpha val="0"/>
              </a:srgbClr>
            </a:solidFill>
            <a:prstDash val="solid"/>
          </a:ln>
        </p:spPr>
      </p:sp>
      <p:sp>
        <p:nvSpPr>
          <p:cNvPr id="66" name="Shape 63"/>
          <p:cNvSpPr/>
          <p:nvPr/>
        </p:nvSpPr>
        <p:spPr>
          <a:xfrm>
            <a:off x="12290552" y="2697480"/>
            <a:ext cx="53289" cy="53289"/>
          </a:xfrm>
          <a:prstGeom prst="rect">
            <a:avLst/>
          </a:prstGeom>
          <a:solidFill>
            <a:srgbClr val="000000"/>
          </a:solidFill>
          <a:ln w="12700">
            <a:solidFill>
              <a:srgbClr val="000000">
                <a:alpha val="0"/>
              </a:srgbClr>
            </a:solidFill>
            <a:prstDash val="solid"/>
          </a:ln>
        </p:spPr>
      </p:sp>
      <p:sp>
        <p:nvSpPr>
          <p:cNvPr id="67" name="Shape 64"/>
          <p:cNvSpPr/>
          <p:nvPr/>
        </p:nvSpPr>
        <p:spPr>
          <a:xfrm>
            <a:off x="12449048" y="2697480"/>
            <a:ext cx="53289" cy="53289"/>
          </a:xfrm>
          <a:prstGeom prst="rect">
            <a:avLst/>
          </a:prstGeom>
          <a:solidFill>
            <a:srgbClr val="000000"/>
          </a:solidFill>
          <a:ln w="12700">
            <a:solidFill>
              <a:srgbClr val="000000">
                <a:alpha val="0"/>
              </a:srgbClr>
            </a:solidFill>
            <a:prstDash val="solid"/>
          </a:ln>
        </p:spPr>
      </p:sp>
      <p:sp>
        <p:nvSpPr>
          <p:cNvPr id="68" name="Shape 65"/>
          <p:cNvSpPr/>
          <p:nvPr/>
        </p:nvSpPr>
        <p:spPr>
          <a:xfrm>
            <a:off x="12766040" y="2697480"/>
            <a:ext cx="53289" cy="53289"/>
          </a:xfrm>
          <a:prstGeom prst="rect">
            <a:avLst/>
          </a:prstGeom>
          <a:solidFill>
            <a:srgbClr val="000000"/>
          </a:solidFill>
          <a:ln w="12700">
            <a:solidFill>
              <a:srgbClr val="000000">
                <a:alpha val="0"/>
              </a:srgbClr>
            </a:solidFill>
            <a:prstDash val="solid"/>
          </a:ln>
        </p:spPr>
      </p:sp>
      <p:sp>
        <p:nvSpPr>
          <p:cNvPr id="69" name="Shape 66"/>
          <p:cNvSpPr/>
          <p:nvPr/>
        </p:nvSpPr>
        <p:spPr>
          <a:xfrm>
            <a:off x="10864088" y="2750312"/>
            <a:ext cx="370281" cy="53289"/>
          </a:xfrm>
          <a:prstGeom prst="rect">
            <a:avLst/>
          </a:prstGeom>
          <a:solidFill>
            <a:srgbClr val="000000"/>
          </a:solidFill>
          <a:ln w="12700">
            <a:solidFill>
              <a:srgbClr val="000000">
                <a:alpha val="0"/>
              </a:srgbClr>
            </a:solidFill>
            <a:prstDash val="solid"/>
          </a:ln>
        </p:spPr>
      </p:sp>
      <p:sp>
        <p:nvSpPr>
          <p:cNvPr id="70" name="Shape 67"/>
          <p:cNvSpPr/>
          <p:nvPr/>
        </p:nvSpPr>
        <p:spPr>
          <a:xfrm>
            <a:off x="11286744" y="2750312"/>
            <a:ext cx="53289" cy="53289"/>
          </a:xfrm>
          <a:prstGeom prst="rect">
            <a:avLst/>
          </a:prstGeom>
          <a:solidFill>
            <a:srgbClr val="000000"/>
          </a:solidFill>
          <a:ln w="12700">
            <a:solidFill>
              <a:srgbClr val="000000">
                <a:alpha val="0"/>
              </a:srgbClr>
            </a:solidFill>
            <a:prstDash val="solid"/>
          </a:ln>
        </p:spPr>
      </p:sp>
      <p:sp>
        <p:nvSpPr>
          <p:cNvPr id="71" name="Shape 68"/>
          <p:cNvSpPr/>
          <p:nvPr/>
        </p:nvSpPr>
        <p:spPr>
          <a:xfrm>
            <a:off x="11392408" y="2750312"/>
            <a:ext cx="53289" cy="53289"/>
          </a:xfrm>
          <a:prstGeom prst="rect">
            <a:avLst/>
          </a:prstGeom>
          <a:solidFill>
            <a:srgbClr val="000000"/>
          </a:solidFill>
          <a:ln w="12700">
            <a:solidFill>
              <a:srgbClr val="000000">
                <a:alpha val="0"/>
              </a:srgbClr>
            </a:solidFill>
            <a:prstDash val="solid"/>
          </a:ln>
        </p:spPr>
      </p:sp>
      <p:sp>
        <p:nvSpPr>
          <p:cNvPr id="72" name="Shape 69"/>
          <p:cNvSpPr/>
          <p:nvPr/>
        </p:nvSpPr>
        <p:spPr>
          <a:xfrm>
            <a:off x="11498072" y="2750312"/>
            <a:ext cx="53289" cy="53289"/>
          </a:xfrm>
          <a:prstGeom prst="rect">
            <a:avLst/>
          </a:prstGeom>
          <a:solidFill>
            <a:srgbClr val="000000"/>
          </a:solidFill>
          <a:ln w="12700">
            <a:solidFill>
              <a:srgbClr val="000000">
                <a:alpha val="0"/>
              </a:srgbClr>
            </a:solidFill>
            <a:prstDash val="solid"/>
          </a:ln>
        </p:spPr>
      </p:sp>
      <p:sp>
        <p:nvSpPr>
          <p:cNvPr id="73" name="Shape 70"/>
          <p:cNvSpPr/>
          <p:nvPr/>
        </p:nvSpPr>
        <p:spPr>
          <a:xfrm>
            <a:off x="11603736" y="2750312"/>
            <a:ext cx="53289" cy="53289"/>
          </a:xfrm>
          <a:prstGeom prst="rect">
            <a:avLst/>
          </a:prstGeom>
          <a:solidFill>
            <a:srgbClr val="000000"/>
          </a:solidFill>
          <a:ln w="12700">
            <a:solidFill>
              <a:srgbClr val="000000">
                <a:alpha val="0"/>
              </a:srgbClr>
            </a:solidFill>
            <a:prstDash val="solid"/>
          </a:ln>
        </p:spPr>
      </p:sp>
      <p:sp>
        <p:nvSpPr>
          <p:cNvPr id="74" name="Shape 71"/>
          <p:cNvSpPr/>
          <p:nvPr/>
        </p:nvSpPr>
        <p:spPr>
          <a:xfrm>
            <a:off x="11709400" y="2750312"/>
            <a:ext cx="53289" cy="53289"/>
          </a:xfrm>
          <a:prstGeom prst="rect">
            <a:avLst/>
          </a:prstGeom>
          <a:solidFill>
            <a:srgbClr val="000000"/>
          </a:solidFill>
          <a:ln w="12700">
            <a:solidFill>
              <a:srgbClr val="000000">
                <a:alpha val="0"/>
              </a:srgbClr>
            </a:solidFill>
            <a:prstDash val="solid"/>
          </a:ln>
        </p:spPr>
      </p:sp>
      <p:sp>
        <p:nvSpPr>
          <p:cNvPr id="75" name="Shape 72"/>
          <p:cNvSpPr/>
          <p:nvPr/>
        </p:nvSpPr>
        <p:spPr>
          <a:xfrm>
            <a:off x="11815064" y="2750312"/>
            <a:ext cx="53289" cy="53289"/>
          </a:xfrm>
          <a:prstGeom prst="rect">
            <a:avLst/>
          </a:prstGeom>
          <a:solidFill>
            <a:srgbClr val="000000"/>
          </a:solidFill>
          <a:ln w="12700">
            <a:solidFill>
              <a:srgbClr val="000000">
                <a:alpha val="0"/>
              </a:srgbClr>
            </a:solidFill>
            <a:prstDash val="solid"/>
          </a:ln>
        </p:spPr>
      </p:sp>
      <p:sp>
        <p:nvSpPr>
          <p:cNvPr id="76" name="Shape 73"/>
          <p:cNvSpPr/>
          <p:nvPr/>
        </p:nvSpPr>
        <p:spPr>
          <a:xfrm>
            <a:off x="11920728" y="2750312"/>
            <a:ext cx="53289" cy="53289"/>
          </a:xfrm>
          <a:prstGeom prst="rect">
            <a:avLst/>
          </a:prstGeom>
          <a:solidFill>
            <a:srgbClr val="000000"/>
          </a:solidFill>
          <a:ln w="12700">
            <a:solidFill>
              <a:srgbClr val="000000">
                <a:alpha val="0"/>
              </a:srgbClr>
            </a:solidFill>
            <a:prstDash val="solid"/>
          </a:ln>
        </p:spPr>
      </p:sp>
      <p:sp>
        <p:nvSpPr>
          <p:cNvPr id="77" name="Shape 74"/>
          <p:cNvSpPr/>
          <p:nvPr/>
        </p:nvSpPr>
        <p:spPr>
          <a:xfrm>
            <a:off x="12026392" y="2750312"/>
            <a:ext cx="53289" cy="53289"/>
          </a:xfrm>
          <a:prstGeom prst="rect">
            <a:avLst/>
          </a:prstGeom>
          <a:solidFill>
            <a:srgbClr val="000000"/>
          </a:solidFill>
          <a:ln w="12700">
            <a:solidFill>
              <a:srgbClr val="000000">
                <a:alpha val="0"/>
              </a:srgbClr>
            </a:solidFill>
            <a:prstDash val="solid"/>
          </a:ln>
        </p:spPr>
      </p:sp>
      <p:sp>
        <p:nvSpPr>
          <p:cNvPr id="78" name="Shape 75"/>
          <p:cNvSpPr/>
          <p:nvPr/>
        </p:nvSpPr>
        <p:spPr>
          <a:xfrm>
            <a:off x="12132056" y="2750312"/>
            <a:ext cx="53289" cy="53289"/>
          </a:xfrm>
          <a:prstGeom prst="rect">
            <a:avLst/>
          </a:prstGeom>
          <a:solidFill>
            <a:srgbClr val="000000"/>
          </a:solidFill>
          <a:ln w="12700">
            <a:solidFill>
              <a:srgbClr val="000000">
                <a:alpha val="0"/>
              </a:srgbClr>
            </a:solidFill>
            <a:prstDash val="solid"/>
          </a:ln>
        </p:spPr>
      </p:sp>
      <p:sp>
        <p:nvSpPr>
          <p:cNvPr id="79" name="Shape 76"/>
          <p:cNvSpPr/>
          <p:nvPr/>
        </p:nvSpPr>
        <p:spPr>
          <a:xfrm>
            <a:off x="12237720" y="2750312"/>
            <a:ext cx="53289" cy="53289"/>
          </a:xfrm>
          <a:prstGeom prst="rect">
            <a:avLst/>
          </a:prstGeom>
          <a:solidFill>
            <a:srgbClr val="000000"/>
          </a:solidFill>
          <a:ln w="12700">
            <a:solidFill>
              <a:srgbClr val="000000">
                <a:alpha val="0"/>
              </a:srgbClr>
            </a:solidFill>
            <a:prstDash val="solid"/>
          </a:ln>
        </p:spPr>
      </p:sp>
      <p:sp>
        <p:nvSpPr>
          <p:cNvPr id="80" name="Shape 77"/>
          <p:cNvSpPr/>
          <p:nvPr/>
        </p:nvSpPr>
        <p:spPr>
          <a:xfrm>
            <a:off x="12343384" y="2750312"/>
            <a:ext cx="53289" cy="53289"/>
          </a:xfrm>
          <a:prstGeom prst="rect">
            <a:avLst/>
          </a:prstGeom>
          <a:solidFill>
            <a:srgbClr val="000000"/>
          </a:solidFill>
          <a:ln w="12700">
            <a:solidFill>
              <a:srgbClr val="000000">
                <a:alpha val="0"/>
              </a:srgbClr>
            </a:solidFill>
            <a:prstDash val="solid"/>
          </a:ln>
        </p:spPr>
      </p:sp>
      <p:sp>
        <p:nvSpPr>
          <p:cNvPr id="81" name="Shape 78"/>
          <p:cNvSpPr/>
          <p:nvPr/>
        </p:nvSpPr>
        <p:spPr>
          <a:xfrm>
            <a:off x="12449048" y="2750312"/>
            <a:ext cx="370281" cy="53289"/>
          </a:xfrm>
          <a:prstGeom prst="rect">
            <a:avLst/>
          </a:prstGeom>
          <a:solidFill>
            <a:srgbClr val="000000"/>
          </a:solidFill>
          <a:ln w="12700">
            <a:solidFill>
              <a:srgbClr val="000000">
                <a:alpha val="0"/>
              </a:srgbClr>
            </a:solidFill>
            <a:prstDash val="solid"/>
          </a:ln>
        </p:spPr>
      </p:sp>
      <p:sp>
        <p:nvSpPr>
          <p:cNvPr id="82" name="Shape 79"/>
          <p:cNvSpPr/>
          <p:nvPr/>
        </p:nvSpPr>
        <p:spPr>
          <a:xfrm>
            <a:off x="11286744" y="2803144"/>
            <a:ext cx="106121" cy="53289"/>
          </a:xfrm>
          <a:prstGeom prst="rect">
            <a:avLst/>
          </a:prstGeom>
          <a:solidFill>
            <a:srgbClr val="000000"/>
          </a:solidFill>
          <a:ln w="12700">
            <a:solidFill>
              <a:srgbClr val="000000">
                <a:alpha val="0"/>
              </a:srgbClr>
            </a:solidFill>
            <a:prstDash val="solid"/>
          </a:ln>
        </p:spPr>
      </p:sp>
      <p:sp>
        <p:nvSpPr>
          <p:cNvPr id="83" name="Shape 80"/>
          <p:cNvSpPr/>
          <p:nvPr/>
        </p:nvSpPr>
        <p:spPr>
          <a:xfrm>
            <a:off x="11498072" y="2803144"/>
            <a:ext cx="53289" cy="53289"/>
          </a:xfrm>
          <a:prstGeom prst="rect">
            <a:avLst/>
          </a:prstGeom>
          <a:solidFill>
            <a:srgbClr val="000000"/>
          </a:solidFill>
          <a:ln w="12700">
            <a:solidFill>
              <a:srgbClr val="000000">
                <a:alpha val="0"/>
              </a:srgbClr>
            </a:solidFill>
            <a:prstDash val="solid"/>
          </a:ln>
        </p:spPr>
      </p:sp>
      <p:sp>
        <p:nvSpPr>
          <p:cNvPr id="84" name="Shape 81"/>
          <p:cNvSpPr/>
          <p:nvPr/>
        </p:nvSpPr>
        <p:spPr>
          <a:xfrm>
            <a:off x="11656568" y="2803144"/>
            <a:ext cx="53289" cy="53289"/>
          </a:xfrm>
          <a:prstGeom prst="rect">
            <a:avLst/>
          </a:prstGeom>
          <a:solidFill>
            <a:srgbClr val="000000"/>
          </a:solidFill>
          <a:ln w="12700">
            <a:solidFill>
              <a:srgbClr val="000000">
                <a:alpha val="0"/>
              </a:srgbClr>
            </a:solidFill>
            <a:prstDash val="solid"/>
          </a:ln>
        </p:spPr>
      </p:sp>
      <p:sp>
        <p:nvSpPr>
          <p:cNvPr id="85" name="Shape 82"/>
          <p:cNvSpPr/>
          <p:nvPr/>
        </p:nvSpPr>
        <p:spPr>
          <a:xfrm>
            <a:off x="11762232" y="2803144"/>
            <a:ext cx="370281" cy="53289"/>
          </a:xfrm>
          <a:prstGeom prst="rect">
            <a:avLst/>
          </a:prstGeom>
          <a:solidFill>
            <a:srgbClr val="000000"/>
          </a:solidFill>
          <a:ln w="12700">
            <a:solidFill>
              <a:srgbClr val="000000">
                <a:alpha val="0"/>
              </a:srgbClr>
            </a:solidFill>
            <a:prstDash val="solid"/>
          </a:ln>
        </p:spPr>
      </p:sp>
      <p:sp>
        <p:nvSpPr>
          <p:cNvPr id="86" name="Shape 83"/>
          <p:cNvSpPr/>
          <p:nvPr/>
        </p:nvSpPr>
        <p:spPr>
          <a:xfrm>
            <a:off x="12290552" y="2803144"/>
            <a:ext cx="53289" cy="53289"/>
          </a:xfrm>
          <a:prstGeom prst="rect">
            <a:avLst/>
          </a:prstGeom>
          <a:solidFill>
            <a:srgbClr val="000000"/>
          </a:solidFill>
          <a:ln w="12700">
            <a:solidFill>
              <a:srgbClr val="000000">
                <a:alpha val="0"/>
              </a:srgbClr>
            </a:solidFill>
            <a:prstDash val="solid"/>
          </a:ln>
        </p:spPr>
      </p:sp>
      <p:sp>
        <p:nvSpPr>
          <p:cNvPr id="87" name="Shape 84"/>
          <p:cNvSpPr/>
          <p:nvPr/>
        </p:nvSpPr>
        <p:spPr>
          <a:xfrm>
            <a:off x="10864088" y="2855976"/>
            <a:ext cx="53289" cy="53289"/>
          </a:xfrm>
          <a:prstGeom prst="rect">
            <a:avLst/>
          </a:prstGeom>
          <a:solidFill>
            <a:srgbClr val="000000"/>
          </a:solidFill>
          <a:ln w="12700">
            <a:solidFill>
              <a:srgbClr val="000000">
                <a:alpha val="0"/>
              </a:srgbClr>
            </a:solidFill>
            <a:prstDash val="solid"/>
          </a:ln>
        </p:spPr>
      </p:sp>
      <p:sp>
        <p:nvSpPr>
          <p:cNvPr id="88" name="Shape 85"/>
          <p:cNvSpPr/>
          <p:nvPr/>
        </p:nvSpPr>
        <p:spPr>
          <a:xfrm>
            <a:off x="10969752" y="2855976"/>
            <a:ext cx="264617" cy="53289"/>
          </a:xfrm>
          <a:prstGeom prst="rect">
            <a:avLst/>
          </a:prstGeom>
          <a:solidFill>
            <a:srgbClr val="000000"/>
          </a:solidFill>
          <a:ln w="12700">
            <a:solidFill>
              <a:srgbClr val="000000">
                <a:alpha val="0"/>
              </a:srgbClr>
            </a:solidFill>
            <a:prstDash val="solid"/>
          </a:ln>
        </p:spPr>
      </p:sp>
      <p:sp>
        <p:nvSpPr>
          <p:cNvPr id="89" name="Shape 86"/>
          <p:cNvSpPr/>
          <p:nvPr/>
        </p:nvSpPr>
        <p:spPr>
          <a:xfrm>
            <a:off x="11392408" y="2855976"/>
            <a:ext cx="106121" cy="53289"/>
          </a:xfrm>
          <a:prstGeom prst="rect">
            <a:avLst/>
          </a:prstGeom>
          <a:solidFill>
            <a:srgbClr val="000000"/>
          </a:solidFill>
          <a:ln w="12700">
            <a:solidFill>
              <a:srgbClr val="000000">
                <a:alpha val="0"/>
              </a:srgbClr>
            </a:solidFill>
            <a:prstDash val="solid"/>
          </a:ln>
        </p:spPr>
      </p:sp>
      <p:sp>
        <p:nvSpPr>
          <p:cNvPr id="90" name="Shape 87"/>
          <p:cNvSpPr/>
          <p:nvPr/>
        </p:nvSpPr>
        <p:spPr>
          <a:xfrm>
            <a:off x="11603736" y="2855976"/>
            <a:ext cx="53289" cy="53289"/>
          </a:xfrm>
          <a:prstGeom prst="rect">
            <a:avLst/>
          </a:prstGeom>
          <a:solidFill>
            <a:srgbClr val="000000"/>
          </a:solidFill>
          <a:ln w="12700">
            <a:solidFill>
              <a:srgbClr val="000000">
                <a:alpha val="0"/>
              </a:srgbClr>
            </a:solidFill>
            <a:prstDash val="solid"/>
          </a:ln>
        </p:spPr>
      </p:sp>
      <p:sp>
        <p:nvSpPr>
          <p:cNvPr id="91" name="Shape 88"/>
          <p:cNvSpPr/>
          <p:nvPr/>
        </p:nvSpPr>
        <p:spPr>
          <a:xfrm>
            <a:off x="11709400" y="2855976"/>
            <a:ext cx="53289" cy="53289"/>
          </a:xfrm>
          <a:prstGeom prst="rect">
            <a:avLst/>
          </a:prstGeom>
          <a:solidFill>
            <a:srgbClr val="000000"/>
          </a:solidFill>
          <a:ln w="12700">
            <a:solidFill>
              <a:srgbClr val="000000">
                <a:alpha val="0"/>
              </a:srgbClr>
            </a:solidFill>
            <a:prstDash val="solid"/>
          </a:ln>
        </p:spPr>
      </p:sp>
      <p:sp>
        <p:nvSpPr>
          <p:cNvPr id="92" name="Shape 89"/>
          <p:cNvSpPr/>
          <p:nvPr/>
        </p:nvSpPr>
        <p:spPr>
          <a:xfrm>
            <a:off x="11867896" y="2855976"/>
            <a:ext cx="53289" cy="53289"/>
          </a:xfrm>
          <a:prstGeom prst="rect">
            <a:avLst/>
          </a:prstGeom>
          <a:solidFill>
            <a:srgbClr val="000000"/>
          </a:solidFill>
          <a:ln w="12700">
            <a:solidFill>
              <a:srgbClr val="000000">
                <a:alpha val="0"/>
              </a:srgbClr>
            </a:solidFill>
            <a:prstDash val="solid"/>
          </a:ln>
        </p:spPr>
      </p:sp>
      <p:sp>
        <p:nvSpPr>
          <p:cNvPr id="93" name="Shape 90"/>
          <p:cNvSpPr/>
          <p:nvPr/>
        </p:nvSpPr>
        <p:spPr>
          <a:xfrm>
            <a:off x="11973560" y="2855976"/>
            <a:ext cx="53289" cy="53289"/>
          </a:xfrm>
          <a:prstGeom prst="rect">
            <a:avLst/>
          </a:prstGeom>
          <a:solidFill>
            <a:srgbClr val="000000"/>
          </a:solidFill>
          <a:ln w="12700">
            <a:solidFill>
              <a:srgbClr val="000000">
                <a:alpha val="0"/>
              </a:srgbClr>
            </a:solidFill>
            <a:prstDash val="solid"/>
          </a:ln>
        </p:spPr>
      </p:sp>
      <p:sp>
        <p:nvSpPr>
          <p:cNvPr id="94" name="Shape 91"/>
          <p:cNvSpPr/>
          <p:nvPr/>
        </p:nvSpPr>
        <p:spPr>
          <a:xfrm>
            <a:off x="12184888" y="2855976"/>
            <a:ext cx="53289" cy="53289"/>
          </a:xfrm>
          <a:prstGeom prst="rect">
            <a:avLst/>
          </a:prstGeom>
          <a:solidFill>
            <a:srgbClr val="000000"/>
          </a:solidFill>
          <a:ln w="12700">
            <a:solidFill>
              <a:srgbClr val="000000">
                <a:alpha val="0"/>
              </a:srgbClr>
            </a:solidFill>
            <a:prstDash val="solid"/>
          </a:ln>
        </p:spPr>
      </p:sp>
      <p:sp>
        <p:nvSpPr>
          <p:cNvPr id="95" name="Shape 92"/>
          <p:cNvSpPr/>
          <p:nvPr/>
        </p:nvSpPr>
        <p:spPr>
          <a:xfrm>
            <a:off x="12290552" y="2855976"/>
            <a:ext cx="106121" cy="53289"/>
          </a:xfrm>
          <a:prstGeom prst="rect">
            <a:avLst/>
          </a:prstGeom>
          <a:solidFill>
            <a:srgbClr val="000000"/>
          </a:solidFill>
          <a:ln w="12700">
            <a:solidFill>
              <a:srgbClr val="000000">
                <a:alpha val="0"/>
              </a:srgbClr>
            </a:solidFill>
            <a:prstDash val="solid"/>
          </a:ln>
        </p:spPr>
      </p:sp>
      <p:sp>
        <p:nvSpPr>
          <p:cNvPr id="96" name="Shape 93"/>
          <p:cNvSpPr/>
          <p:nvPr/>
        </p:nvSpPr>
        <p:spPr>
          <a:xfrm>
            <a:off x="12449048" y="2855976"/>
            <a:ext cx="264617" cy="53289"/>
          </a:xfrm>
          <a:prstGeom prst="rect">
            <a:avLst/>
          </a:prstGeom>
          <a:solidFill>
            <a:srgbClr val="000000"/>
          </a:solidFill>
          <a:ln w="12700">
            <a:solidFill>
              <a:srgbClr val="000000">
                <a:alpha val="0"/>
              </a:srgbClr>
            </a:solidFill>
            <a:prstDash val="solid"/>
          </a:ln>
        </p:spPr>
      </p:sp>
      <p:sp>
        <p:nvSpPr>
          <p:cNvPr id="97" name="Shape 94"/>
          <p:cNvSpPr/>
          <p:nvPr/>
        </p:nvSpPr>
        <p:spPr>
          <a:xfrm>
            <a:off x="10864088" y="2908808"/>
            <a:ext cx="158953" cy="53289"/>
          </a:xfrm>
          <a:prstGeom prst="rect">
            <a:avLst/>
          </a:prstGeom>
          <a:solidFill>
            <a:srgbClr val="000000"/>
          </a:solidFill>
          <a:ln w="12700">
            <a:solidFill>
              <a:srgbClr val="000000">
                <a:alpha val="0"/>
              </a:srgbClr>
            </a:solidFill>
            <a:prstDash val="solid"/>
          </a:ln>
        </p:spPr>
      </p:sp>
      <p:sp>
        <p:nvSpPr>
          <p:cNvPr id="98" name="Shape 95"/>
          <p:cNvSpPr/>
          <p:nvPr/>
        </p:nvSpPr>
        <p:spPr>
          <a:xfrm>
            <a:off x="11075416" y="2908808"/>
            <a:ext cx="53289" cy="53289"/>
          </a:xfrm>
          <a:prstGeom prst="rect">
            <a:avLst/>
          </a:prstGeom>
          <a:solidFill>
            <a:srgbClr val="000000"/>
          </a:solidFill>
          <a:ln w="12700">
            <a:solidFill>
              <a:srgbClr val="000000">
                <a:alpha val="0"/>
              </a:srgbClr>
            </a:solidFill>
            <a:prstDash val="solid"/>
          </a:ln>
        </p:spPr>
      </p:sp>
      <p:sp>
        <p:nvSpPr>
          <p:cNvPr id="99" name="Shape 96"/>
          <p:cNvSpPr/>
          <p:nvPr/>
        </p:nvSpPr>
        <p:spPr>
          <a:xfrm>
            <a:off x="11286744" y="2908808"/>
            <a:ext cx="423113" cy="53289"/>
          </a:xfrm>
          <a:prstGeom prst="rect">
            <a:avLst/>
          </a:prstGeom>
          <a:solidFill>
            <a:srgbClr val="000000"/>
          </a:solidFill>
          <a:ln w="12700">
            <a:solidFill>
              <a:srgbClr val="000000">
                <a:alpha val="0"/>
              </a:srgbClr>
            </a:solidFill>
            <a:prstDash val="solid"/>
          </a:ln>
        </p:spPr>
      </p:sp>
      <p:sp>
        <p:nvSpPr>
          <p:cNvPr id="100" name="Shape 97"/>
          <p:cNvSpPr/>
          <p:nvPr/>
        </p:nvSpPr>
        <p:spPr>
          <a:xfrm>
            <a:off x="11762232" y="2908808"/>
            <a:ext cx="106121" cy="53289"/>
          </a:xfrm>
          <a:prstGeom prst="rect">
            <a:avLst/>
          </a:prstGeom>
          <a:solidFill>
            <a:srgbClr val="000000"/>
          </a:solidFill>
          <a:ln w="12700">
            <a:solidFill>
              <a:srgbClr val="000000">
                <a:alpha val="0"/>
              </a:srgbClr>
            </a:solidFill>
            <a:prstDash val="solid"/>
          </a:ln>
        </p:spPr>
      </p:sp>
      <p:sp>
        <p:nvSpPr>
          <p:cNvPr id="101" name="Shape 98"/>
          <p:cNvSpPr/>
          <p:nvPr/>
        </p:nvSpPr>
        <p:spPr>
          <a:xfrm>
            <a:off x="11920728" y="2908808"/>
            <a:ext cx="158953" cy="53289"/>
          </a:xfrm>
          <a:prstGeom prst="rect">
            <a:avLst/>
          </a:prstGeom>
          <a:solidFill>
            <a:srgbClr val="000000"/>
          </a:solidFill>
          <a:ln w="12700">
            <a:solidFill>
              <a:srgbClr val="000000">
                <a:alpha val="0"/>
              </a:srgbClr>
            </a:solidFill>
            <a:prstDash val="solid"/>
          </a:ln>
        </p:spPr>
      </p:sp>
      <p:sp>
        <p:nvSpPr>
          <p:cNvPr id="102" name="Shape 99"/>
          <p:cNvSpPr/>
          <p:nvPr/>
        </p:nvSpPr>
        <p:spPr>
          <a:xfrm>
            <a:off x="12132056" y="2908808"/>
            <a:ext cx="53289" cy="53289"/>
          </a:xfrm>
          <a:prstGeom prst="rect">
            <a:avLst/>
          </a:prstGeom>
          <a:solidFill>
            <a:srgbClr val="000000"/>
          </a:solidFill>
          <a:ln w="12700">
            <a:solidFill>
              <a:srgbClr val="000000">
                <a:alpha val="0"/>
              </a:srgbClr>
            </a:solidFill>
            <a:prstDash val="solid"/>
          </a:ln>
        </p:spPr>
      </p:sp>
      <p:sp>
        <p:nvSpPr>
          <p:cNvPr id="103" name="Shape 100"/>
          <p:cNvSpPr/>
          <p:nvPr/>
        </p:nvSpPr>
        <p:spPr>
          <a:xfrm>
            <a:off x="12343384" y="2908808"/>
            <a:ext cx="53289" cy="53289"/>
          </a:xfrm>
          <a:prstGeom prst="rect">
            <a:avLst/>
          </a:prstGeom>
          <a:solidFill>
            <a:srgbClr val="000000"/>
          </a:solidFill>
          <a:ln w="12700">
            <a:solidFill>
              <a:srgbClr val="000000">
                <a:alpha val="0"/>
              </a:srgbClr>
            </a:solidFill>
            <a:prstDash val="solid"/>
          </a:ln>
        </p:spPr>
      </p:sp>
      <p:sp>
        <p:nvSpPr>
          <p:cNvPr id="104" name="Shape 101"/>
          <p:cNvSpPr/>
          <p:nvPr/>
        </p:nvSpPr>
        <p:spPr>
          <a:xfrm>
            <a:off x="12501880" y="2908808"/>
            <a:ext cx="53289" cy="53289"/>
          </a:xfrm>
          <a:prstGeom prst="rect">
            <a:avLst/>
          </a:prstGeom>
          <a:solidFill>
            <a:srgbClr val="000000"/>
          </a:solidFill>
          <a:ln w="12700">
            <a:solidFill>
              <a:srgbClr val="000000">
                <a:alpha val="0"/>
              </a:srgbClr>
            </a:solidFill>
            <a:prstDash val="solid"/>
          </a:ln>
        </p:spPr>
      </p:sp>
      <p:sp>
        <p:nvSpPr>
          <p:cNvPr id="105" name="Shape 102"/>
          <p:cNvSpPr/>
          <p:nvPr/>
        </p:nvSpPr>
        <p:spPr>
          <a:xfrm>
            <a:off x="12607544" y="2908808"/>
            <a:ext cx="53289" cy="53289"/>
          </a:xfrm>
          <a:prstGeom prst="rect">
            <a:avLst/>
          </a:prstGeom>
          <a:solidFill>
            <a:srgbClr val="000000"/>
          </a:solidFill>
          <a:ln w="12700">
            <a:solidFill>
              <a:srgbClr val="000000">
                <a:alpha val="0"/>
              </a:srgbClr>
            </a:solidFill>
            <a:prstDash val="solid"/>
          </a:ln>
        </p:spPr>
      </p:sp>
      <p:sp>
        <p:nvSpPr>
          <p:cNvPr id="106" name="Shape 103"/>
          <p:cNvSpPr/>
          <p:nvPr/>
        </p:nvSpPr>
        <p:spPr>
          <a:xfrm>
            <a:off x="12713208" y="2908808"/>
            <a:ext cx="53289" cy="53289"/>
          </a:xfrm>
          <a:prstGeom prst="rect">
            <a:avLst/>
          </a:prstGeom>
          <a:solidFill>
            <a:srgbClr val="000000"/>
          </a:solidFill>
          <a:ln w="12700">
            <a:solidFill>
              <a:srgbClr val="000000">
                <a:alpha val="0"/>
              </a:srgbClr>
            </a:solidFill>
            <a:prstDash val="solid"/>
          </a:ln>
        </p:spPr>
      </p:sp>
      <p:sp>
        <p:nvSpPr>
          <p:cNvPr id="107" name="Shape 104"/>
          <p:cNvSpPr/>
          <p:nvPr/>
        </p:nvSpPr>
        <p:spPr>
          <a:xfrm>
            <a:off x="10916920" y="2961640"/>
            <a:ext cx="211785" cy="53289"/>
          </a:xfrm>
          <a:prstGeom prst="rect">
            <a:avLst/>
          </a:prstGeom>
          <a:solidFill>
            <a:srgbClr val="000000"/>
          </a:solidFill>
          <a:ln w="12700">
            <a:solidFill>
              <a:srgbClr val="000000">
                <a:alpha val="0"/>
              </a:srgbClr>
            </a:solidFill>
            <a:prstDash val="solid"/>
          </a:ln>
        </p:spPr>
      </p:sp>
      <p:sp>
        <p:nvSpPr>
          <p:cNvPr id="108" name="Shape 105"/>
          <p:cNvSpPr/>
          <p:nvPr/>
        </p:nvSpPr>
        <p:spPr>
          <a:xfrm>
            <a:off x="11181080" y="2961640"/>
            <a:ext cx="106121" cy="53289"/>
          </a:xfrm>
          <a:prstGeom prst="rect">
            <a:avLst/>
          </a:prstGeom>
          <a:solidFill>
            <a:srgbClr val="000000"/>
          </a:solidFill>
          <a:ln w="12700">
            <a:solidFill>
              <a:srgbClr val="000000">
                <a:alpha val="0"/>
              </a:srgbClr>
            </a:solidFill>
            <a:prstDash val="solid"/>
          </a:ln>
        </p:spPr>
      </p:sp>
      <p:sp>
        <p:nvSpPr>
          <p:cNvPr id="109" name="Shape 106"/>
          <p:cNvSpPr/>
          <p:nvPr/>
        </p:nvSpPr>
        <p:spPr>
          <a:xfrm>
            <a:off x="11392408" y="2961640"/>
            <a:ext cx="53289" cy="53289"/>
          </a:xfrm>
          <a:prstGeom prst="rect">
            <a:avLst/>
          </a:prstGeom>
          <a:solidFill>
            <a:srgbClr val="000000"/>
          </a:solidFill>
          <a:ln w="12700">
            <a:solidFill>
              <a:srgbClr val="000000">
                <a:alpha val="0"/>
              </a:srgbClr>
            </a:solidFill>
            <a:prstDash val="solid"/>
          </a:ln>
        </p:spPr>
      </p:sp>
      <p:sp>
        <p:nvSpPr>
          <p:cNvPr id="110" name="Shape 107"/>
          <p:cNvSpPr/>
          <p:nvPr/>
        </p:nvSpPr>
        <p:spPr>
          <a:xfrm>
            <a:off x="11498072" y="2961640"/>
            <a:ext cx="53289" cy="53289"/>
          </a:xfrm>
          <a:prstGeom prst="rect">
            <a:avLst/>
          </a:prstGeom>
          <a:solidFill>
            <a:srgbClr val="000000"/>
          </a:solidFill>
          <a:ln w="12700">
            <a:solidFill>
              <a:srgbClr val="000000">
                <a:alpha val="0"/>
              </a:srgbClr>
            </a:solidFill>
            <a:prstDash val="solid"/>
          </a:ln>
        </p:spPr>
      </p:sp>
      <p:sp>
        <p:nvSpPr>
          <p:cNvPr id="111" name="Shape 108"/>
          <p:cNvSpPr/>
          <p:nvPr/>
        </p:nvSpPr>
        <p:spPr>
          <a:xfrm>
            <a:off x="11656568" y="2961640"/>
            <a:ext cx="264617" cy="53289"/>
          </a:xfrm>
          <a:prstGeom prst="rect">
            <a:avLst/>
          </a:prstGeom>
          <a:solidFill>
            <a:srgbClr val="000000"/>
          </a:solidFill>
          <a:ln w="12700">
            <a:solidFill>
              <a:srgbClr val="000000">
                <a:alpha val="0"/>
              </a:srgbClr>
            </a:solidFill>
            <a:prstDash val="solid"/>
          </a:ln>
        </p:spPr>
      </p:sp>
      <p:sp>
        <p:nvSpPr>
          <p:cNvPr id="112" name="Shape 109"/>
          <p:cNvSpPr/>
          <p:nvPr/>
        </p:nvSpPr>
        <p:spPr>
          <a:xfrm>
            <a:off x="11973560" y="2961640"/>
            <a:ext cx="106121" cy="53289"/>
          </a:xfrm>
          <a:prstGeom prst="rect">
            <a:avLst/>
          </a:prstGeom>
          <a:solidFill>
            <a:srgbClr val="000000"/>
          </a:solidFill>
          <a:ln w="12700">
            <a:solidFill>
              <a:srgbClr val="000000">
                <a:alpha val="0"/>
              </a:srgbClr>
            </a:solidFill>
            <a:prstDash val="solid"/>
          </a:ln>
        </p:spPr>
      </p:sp>
      <p:sp>
        <p:nvSpPr>
          <p:cNvPr id="113" name="Shape 110"/>
          <p:cNvSpPr/>
          <p:nvPr/>
        </p:nvSpPr>
        <p:spPr>
          <a:xfrm>
            <a:off x="12184888" y="2961640"/>
            <a:ext cx="211785" cy="53289"/>
          </a:xfrm>
          <a:prstGeom prst="rect">
            <a:avLst/>
          </a:prstGeom>
          <a:solidFill>
            <a:srgbClr val="000000"/>
          </a:solidFill>
          <a:ln w="12700">
            <a:solidFill>
              <a:srgbClr val="000000">
                <a:alpha val="0"/>
              </a:srgbClr>
            </a:solidFill>
            <a:prstDash val="solid"/>
          </a:ln>
        </p:spPr>
      </p:sp>
      <p:sp>
        <p:nvSpPr>
          <p:cNvPr id="114" name="Shape 111"/>
          <p:cNvSpPr/>
          <p:nvPr/>
        </p:nvSpPr>
        <p:spPr>
          <a:xfrm>
            <a:off x="12449048" y="2961640"/>
            <a:ext cx="53289" cy="53289"/>
          </a:xfrm>
          <a:prstGeom prst="rect">
            <a:avLst/>
          </a:prstGeom>
          <a:solidFill>
            <a:srgbClr val="000000"/>
          </a:solidFill>
          <a:ln w="12700">
            <a:solidFill>
              <a:srgbClr val="000000">
                <a:alpha val="0"/>
              </a:srgbClr>
            </a:solidFill>
            <a:prstDash val="solid"/>
          </a:ln>
        </p:spPr>
      </p:sp>
      <p:sp>
        <p:nvSpPr>
          <p:cNvPr id="115" name="Shape 112"/>
          <p:cNvSpPr/>
          <p:nvPr/>
        </p:nvSpPr>
        <p:spPr>
          <a:xfrm>
            <a:off x="12554712" y="2961640"/>
            <a:ext cx="53289" cy="53289"/>
          </a:xfrm>
          <a:prstGeom prst="rect">
            <a:avLst/>
          </a:prstGeom>
          <a:solidFill>
            <a:srgbClr val="000000"/>
          </a:solidFill>
          <a:ln w="12700">
            <a:solidFill>
              <a:srgbClr val="000000">
                <a:alpha val="0"/>
              </a:srgbClr>
            </a:solidFill>
            <a:prstDash val="solid"/>
          </a:ln>
        </p:spPr>
      </p:sp>
      <p:sp>
        <p:nvSpPr>
          <p:cNvPr id="116" name="Shape 113"/>
          <p:cNvSpPr/>
          <p:nvPr/>
        </p:nvSpPr>
        <p:spPr>
          <a:xfrm>
            <a:off x="12660376" y="2961640"/>
            <a:ext cx="158953" cy="53289"/>
          </a:xfrm>
          <a:prstGeom prst="rect">
            <a:avLst/>
          </a:prstGeom>
          <a:solidFill>
            <a:srgbClr val="000000"/>
          </a:solidFill>
          <a:ln w="12700">
            <a:solidFill>
              <a:srgbClr val="000000">
                <a:alpha val="0"/>
              </a:srgbClr>
            </a:solidFill>
            <a:prstDash val="solid"/>
          </a:ln>
        </p:spPr>
      </p:sp>
      <p:sp>
        <p:nvSpPr>
          <p:cNvPr id="117" name="Shape 114"/>
          <p:cNvSpPr/>
          <p:nvPr/>
        </p:nvSpPr>
        <p:spPr>
          <a:xfrm>
            <a:off x="10864088" y="3014472"/>
            <a:ext cx="53289" cy="53289"/>
          </a:xfrm>
          <a:prstGeom prst="rect">
            <a:avLst/>
          </a:prstGeom>
          <a:solidFill>
            <a:srgbClr val="000000"/>
          </a:solidFill>
          <a:ln w="12700">
            <a:solidFill>
              <a:srgbClr val="000000">
                <a:alpha val="0"/>
              </a:srgbClr>
            </a:solidFill>
            <a:prstDash val="solid"/>
          </a:ln>
        </p:spPr>
      </p:sp>
      <p:sp>
        <p:nvSpPr>
          <p:cNvPr id="118" name="Shape 115"/>
          <p:cNvSpPr/>
          <p:nvPr/>
        </p:nvSpPr>
        <p:spPr>
          <a:xfrm>
            <a:off x="11075416" y="3014472"/>
            <a:ext cx="106121" cy="53289"/>
          </a:xfrm>
          <a:prstGeom prst="rect">
            <a:avLst/>
          </a:prstGeom>
          <a:solidFill>
            <a:srgbClr val="000000"/>
          </a:solidFill>
          <a:ln w="12700">
            <a:solidFill>
              <a:srgbClr val="000000">
                <a:alpha val="0"/>
              </a:srgbClr>
            </a:solidFill>
            <a:prstDash val="solid"/>
          </a:ln>
        </p:spPr>
      </p:sp>
      <p:sp>
        <p:nvSpPr>
          <p:cNvPr id="119" name="Shape 116"/>
          <p:cNvSpPr/>
          <p:nvPr/>
        </p:nvSpPr>
        <p:spPr>
          <a:xfrm>
            <a:off x="11233912" y="3014472"/>
            <a:ext cx="53289" cy="53289"/>
          </a:xfrm>
          <a:prstGeom prst="rect">
            <a:avLst/>
          </a:prstGeom>
          <a:solidFill>
            <a:srgbClr val="000000"/>
          </a:solidFill>
          <a:ln w="12700">
            <a:solidFill>
              <a:srgbClr val="000000">
                <a:alpha val="0"/>
              </a:srgbClr>
            </a:solidFill>
            <a:prstDash val="solid"/>
          </a:ln>
        </p:spPr>
      </p:sp>
      <p:sp>
        <p:nvSpPr>
          <p:cNvPr id="120" name="Shape 117"/>
          <p:cNvSpPr/>
          <p:nvPr/>
        </p:nvSpPr>
        <p:spPr>
          <a:xfrm>
            <a:off x="11339576" y="3014472"/>
            <a:ext cx="53289" cy="53289"/>
          </a:xfrm>
          <a:prstGeom prst="rect">
            <a:avLst/>
          </a:prstGeom>
          <a:solidFill>
            <a:srgbClr val="000000"/>
          </a:solidFill>
          <a:ln w="12700">
            <a:solidFill>
              <a:srgbClr val="000000">
                <a:alpha val="0"/>
              </a:srgbClr>
            </a:solidFill>
            <a:prstDash val="solid"/>
          </a:ln>
        </p:spPr>
      </p:sp>
      <p:sp>
        <p:nvSpPr>
          <p:cNvPr id="121" name="Shape 118"/>
          <p:cNvSpPr/>
          <p:nvPr/>
        </p:nvSpPr>
        <p:spPr>
          <a:xfrm>
            <a:off x="11498072" y="3014472"/>
            <a:ext cx="211785" cy="53289"/>
          </a:xfrm>
          <a:prstGeom prst="rect">
            <a:avLst/>
          </a:prstGeom>
          <a:solidFill>
            <a:srgbClr val="000000"/>
          </a:solidFill>
          <a:ln w="12700">
            <a:solidFill>
              <a:srgbClr val="000000">
                <a:alpha val="0"/>
              </a:srgbClr>
            </a:solidFill>
            <a:prstDash val="solid"/>
          </a:ln>
        </p:spPr>
      </p:sp>
      <p:sp>
        <p:nvSpPr>
          <p:cNvPr id="122" name="Shape 119"/>
          <p:cNvSpPr/>
          <p:nvPr/>
        </p:nvSpPr>
        <p:spPr>
          <a:xfrm>
            <a:off x="11867896" y="3014472"/>
            <a:ext cx="158953" cy="53289"/>
          </a:xfrm>
          <a:prstGeom prst="rect">
            <a:avLst/>
          </a:prstGeom>
          <a:solidFill>
            <a:srgbClr val="000000"/>
          </a:solidFill>
          <a:ln w="12700">
            <a:solidFill>
              <a:srgbClr val="000000">
                <a:alpha val="0"/>
              </a:srgbClr>
            </a:solidFill>
            <a:prstDash val="solid"/>
          </a:ln>
        </p:spPr>
      </p:sp>
      <p:sp>
        <p:nvSpPr>
          <p:cNvPr id="123" name="Shape 120"/>
          <p:cNvSpPr/>
          <p:nvPr/>
        </p:nvSpPr>
        <p:spPr>
          <a:xfrm>
            <a:off x="12132056" y="3014472"/>
            <a:ext cx="53289" cy="53289"/>
          </a:xfrm>
          <a:prstGeom prst="rect">
            <a:avLst/>
          </a:prstGeom>
          <a:solidFill>
            <a:srgbClr val="000000"/>
          </a:solidFill>
          <a:ln w="12700">
            <a:solidFill>
              <a:srgbClr val="000000">
                <a:alpha val="0"/>
              </a:srgbClr>
            </a:solidFill>
            <a:prstDash val="solid"/>
          </a:ln>
        </p:spPr>
      </p:sp>
      <p:sp>
        <p:nvSpPr>
          <p:cNvPr id="124" name="Shape 121"/>
          <p:cNvSpPr/>
          <p:nvPr/>
        </p:nvSpPr>
        <p:spPr>
          <a:xfrm>
            <a:off x="12237720" y="3014472"/>
            <a:ext cx="106121" cy="53289"/>
          </a:xfrm>
          <a:prstGeom prst="rect">
            <a:avLst/>
          </a:prstGeom>
          <a:solidFill>
            <a:srgbClr val="000000"/>
          </a:solidFill>
          <a:ln w="12700">
            <a:solidFill>
              <a:srgbClr val="000000">
                <a:alpha val="0"/>
              </a:srgbClr>
            </a:solidFill>
            <a:prstDash val="solid"/>
          </a:ln>
        </p:spPr>
      </p:sp>
      <p:sp>
        <p:nvSpPr>
          <p:cNvPr id="125" name="Shape 122"/>
          <p:cNvSpPr/>
          <p:nvPr/>
        </p:nvSpPr>
        <p:spPr>
          <a:xfrm>
            <a:off x="12396216" y="3014472"/>
            <a:ext cx="53289" cy="53289"/>
          </a:xfrm>
          <a:prstGeom prst="rect">
            <a:avLst/>
          </a:prstGeom>
          <a:solidFill>
            <a:srgbClr val="000000"/>
          </a:solidFill>
          <a:ln w="12700">
            <a:solidFill>
              <a:srgbClr val="000000">
                <a:alpha val="0"/>
              </a:srgbClr>
            </a:solidFill>
            <a:prstDash val="solid"/>
          </a:ln>
        </p:spPr>
      </p:sp>
      <p:sp>
        <p:nvSpPr>
          <p:cNvPr id="126" name="Shape 123"/>
          <p:cNvSpPr/>
          <p:nvPr/>
        </p:nvSpPr>
        <p:spPr>
          <a:xfrm>
            <a:off x="12501880" y="3014472"/>
            <a:ext cx="158953" cy="53289"/>
          </a:xfrm>
          <a:prstGeom prst="rect">
            <a:avLst/>
          </a:prstGeom>
          <a:solidFill>
            <a:srgbClr val="000000"/>
          </a:solidFill>
          <a:ln w="12700">
            <a:solidFill>
              <a:srgbClr val="000000">
                <a:alpha val="0"/>
              </a:srgbClr>
            </a:solidFill>
            <a:prstDash val="solid"/>
          </a:ln>
        </p:spPr>
      </p:sp>
      <p:sp>
        <p:nvSpPr>
          <p:cNvPr id="127" name="Shape 124"/>
          <p:cNvSpPr/>
          <p:nvPr/>
        </p:nvSpPr>
        <p:spPr>
          <a:xfrm>
            <a:off x="12766040" y="3014472"/>
            <a:ext cx="53289" cy="53289"/>
          </a:xfrm>
          <a:prstGeom prst="rect">
            <a:avLst/>
          </a:prstGeom>
          <a:solidFill>
            <a:srgbClr val="000000"/>
          </a:solidFill>
          <a:ln w="12700">
            <a:solidFill>
              <a:srgbClr val="000000">
                <a:alpha val="0"/>
              </a:srgbClr>
            </a:solidFill>
            <a:prstDash val="solid"/>
          </a:ln>
        </p:spPr>
      </p:sp>
      <p:sp>
        <p:nvSpPr>
          <p:cNvPr id="128" name="Shape 125"/>
          <p:cNvSpPr/>
          <p:nvPr/>
        </p:nvSpPr>
        <p:spPr>
          <a:xfrm>
            <a:off x="11022584" y="3067304"/>
            <a:ext cx="53289" cy="53289"/>
          </a:xfrm>
          <a:prstGeom prst="rect">
            <a:avLst/>
          </a:prstGeom>
          <a:solidFill>
            <a:srgbClr val="000000"/>
          </a:solidFill>
          <a:ln w="12700">
            <a:solidFill>
              <a:srgbClr val="000000">
                <a:alpha val="0"/>
              </a:srgbClr>
            </a:solidFill>
            <a:prstDash val="solid"/>
          </a:ln>
        </p:spPr>
      </p:sp>
      <p:sp>
        <p:nvSpPr>
          <p:cNvPr id="129" name="Shape 126"/>
          <p:cNvSpPr/>
          <p:nvPr/>
        </p:nvSpPr>
        <p:spPr>
          <a:xfrm>
            <a:off x="11128248" y="3067304"/>
            <a:ext cx="106121" cy="53289"/>
          </a:xfrm>
          <a:prstGeom prst="rect">
            <a:avLst/>
          </a:prstGeom>
          <a:solidFill>
            <a:srgbClr val="000000"/>
          </a:solidFill>
          <a:ln w="12700">
            <a:solidFill>
              <a:srgbClr val="000000">
                <a:alpha val="0"/>
              </a:srgbClr>
            </a:solidFill>
            <a:prstDash val="solid"/>
          </a:ln>
        </p:spPr>
      </p:sp>
      <p:sp>
        <p:nvSpPr>
          <p:cNvPr id="130" name="Shape 127"/>
          <p:cNvSpPr/>
          <p:nvPr/>
        </p:nvSpPr>
        <p:spPr>
          <a:xfrm>
            <a:off x="11339576" y="3067304"/>
            <a:ext cx="53289" cy="53289"/>
          </a:xfrm>
          <a:prstGeom prst="rect">
            <a:avLst/>
          </a:prstGeom>
          <a:solidFill>
            <a:srgbClr val="000000"/>
          </a:solidFill>
          <a:ln w="12700">
            <a:solidFill>
              <a:srgbClr val="000000">
                <a:alpha val="0"/>
              </a:srgbClr>
            </a:solidFill>
            <a:prstDash val="solid"/>
          </a:ln>
        </p:spPr>
      </p:sp>
      <p:sp>
        <p:nvSpPr>
          <p:cNvPr id="131" name="Shape 128"/>
          <p:cNvSpPr/>
          <p:nvPr/>
        </p:nvSpPr>
        <p:spPr>
          <a:xfrm>
            <a:off x="11498072" y="3067304"/>
            <a:ext cx="53289" cy="53289"/>
          </a:xfrm>
          <a:prstGeom prst="rect">
            <a:avLst/>
          </a:prstGeom>
          <a:solidFill>
            <a:srgbClr val="000000"/>
          </a:solidFill>
          <a:ln w="12700">
            <a:solidFill>
              <a:srgbClr val="000000">
                <a:alpha val="0"/>
              </a:srgbClr>
            </a:solidFill>
            <a:prstDash val="solid"/>
          </a:ln>
        </p:spPr>
      </p:sp>
      <p:sp>
        <p:nvSpPr>
          <p:cNvPr id="132" name="Shape 129"/>
          <p:cNvSpPr/>
          <p:nvPr/>
        </p:nvSpPr>
        <p:spPr>
          <a:xfrm>
            <a:off x="11656568" y="3067304"/>
            <a:ext cx="53289" cy="53289"/>
          </a:xfrm>
          <a:prstGeom prst="rect">
            <a:avLst/>
          </a:prstGeom>
          <a:solidFill>
            <a:srgbClr val="000000"/>
          </a:solidFill>
          <a:ln w="12700">
            <a:solidFill>
              <a:srgbClr val="000000">
                <a:alpha val="0"/>
              </a:srgbClr>
            </a:solidFill>
            <a:prstDash val="solid"/>
          </a:ln>
        </p:spPr>
      </p:sp>
      <p:sp>
        <p:nvSpPr>
          <p:cNvPr id="133" name="Shape 130"/>
          <p:cNvSpPr/>
          <p:nvPr/>
        </p:nvSpPr>
        <p:spPr>
          <a:xfrm>
            <a:off x="11762232" y="3067304"/>
            <a:ext cx="53289" cy="53289"/>
          </a:xfrm>
          <a:prstGeom prst="rect">
            <a:avLst/>
          </a:prstGeom>
          <a:solidFill>
            <a:srgbClr val="000000"/>
          </a:solidFill>
          <a:ln w="12700">
            <a:solidFill>
              <a:srgbClr val="000000">
                <a:alpha val="0"/>
              </a:srgbClr>
            </a:solidFill>
            <a:prstDash val="solid"/>
          </a:ln>
        </p:spPr>
      </p:sp>
      <p:sp>
        <p:nvSpPr>
          <p:cNvPr id="134" name="Shape 131"/>
          <p:cNvSpPr/>
          <p:nvPr/>
        </p:nvSpPr>
        <p:spPr>
          <a:xfrm>
            <a:off x="11867896" y="3067304"/>
            <a:ext cx="53289" cy="53289"/>
          </a:xfrm>
          <a:prstGeom prst="rect">
            <a:avLst/>
          </a:prstGeom>
          <a:solidFill>
            <a:srgbClr val="000000"/>
          </a:solidFill>
          <a:ln w="12700">
            <a:solidFill>
              <a:srgbClr val="000000">
                <a:alpha val="0"/>
              </a:srgbClr>
            </a:solidFill>
            <a:prstDash val="solid"/>
          </a:ln>
        </p:spPr>
      </p:sp>
      <p:sp>
        <p:nvSpPr>
          <p:cNvPr id="135" name="Shape 132"/>
          <p:cNvSpPr/>
          <p:nvPr/>
        </p:nvSpPr>
        <p:spPr>
          <a:xfrm>
            <a:off x="12026392" y="3067304"/>
            <a:ext cx="53289" cy="53289"/>
          </a:xfrm>
          <a:prstGeom prst="rect">
            <a:avLst/>
          </a:prstGeom>
          <a:solidFill>
            <a:srgbClr val="000000"/>
          </a:solidFill>
          <a:ln w="12700">
            <a:solidFill>
              <a:srgbClr val="000000">
                <a:alpha val="0"/>
              </a:srgbClr>
            </a:solidFill>
            <a:prstDash val="solid"/>
          </a:ln>
        </p:spPr>
      </p:sp>
      <p:sp>
        <p:nvSpPr>
          <p:cNvPr id="136" name="Shape 133"/>
          <p:cNvSpPr/>
          <p:nvPr/>
        </p:nvSpPr>
        <p:spPr>
          <a:xfrm>
            <a:off x="12132056" y="3067304"/>
            <a:ext cx="370281" cy="53289"/>
          </a:xfrm>
          <a:prstGeom prst="rect">
            <a:avLst/>
          </a:prstGeom>
          <a:solidFill>
            <a:srgbClr val="000000"/>
          </a:solidFill>
          <a:ln w="12700">
            <a:solidFill>
              <a:srgbClr val="000000">
                <a:alpha val="0"/>
              </a:srgbClr>
            </a:solidFill>
            <a:prstDash val="solid"/>
          </a:ln>
        </p:spPr>
      </p:sp>
      <p:sp>
        <p:nvSpPr>
          <p:cNvPr id="137" name="Shape 134"/>
          <p:cNvSpPr/>
          <p:nvPr/>
        </p:nvSpPr>
        <p:spPr>
          <a:xfrm>
            <a:off x="12554712" y="3067304"/>
            <a:ext cx="264617" cy="53289"/>
          </a:xfrm>
          <a:prstGeom prst="rect">
            <a:avLst/>
          </a:prstGeom>
          <a:solidFill>
            <a:srgbClr val="000000"/>
          </a:solidFill>
          <a:ln w="12700">
            <a:solidFill>
              <a:srgbClr val="000000">
                <a:alpha val="0"/>
              </a:srgbClr>
            </a:solidFill>
            <a:prstDash val="solid"/>
          </a:ln>
        </p:spPr>
      </p:sp>
      <p:sp>
        <p:nvSpPr>
          <p:cNvPr id="138" name="Shape 135"/>
          <p:cNvSpPr/>
          <p:nvPr/>
        </p:nvSpPr>
        <p:spPr>
          <a:xfrm>
            <a:off x="10864088" y="3120136"/>
            <a:ext cx="53289" cy="53289"/>
          </a:xfrm>
          <a:prstGeom prst="rect">
            <a:avLst/>
          </a:prstGeom>
          <a:solidFill>
            <a:srgbClr val="000000"/>
          </a:solidFill>
          <a:ln w="12700">
            <a:solidFill>
              <a:srgbClr val="000000">
                <a:alpha val="0"/>
              </a:srgbClr>
            </a:solidFill>
            <a:prstDash val="solid"/>
          </a:ln>
        </p:spPr>
      </p:sp>
      <p:sp>
        <p:nvSpPr>
          <p:cNvPr id="139" name="Shape 136"/>
          <p:cNvSpPr/>
          <p:nvPr/>
        </p:nvSpPr>
        <p:spPr>
          <a:xfrm>
            <a:off x="11022584" y="3120136"/>
            <a:ext cx="106121" cy="53289"/>
          </a:xfrm>
          <a:prstGeom prst="rect">
            <a:avLst/>
          </a:prstGeom>
          <a:solidFill>
            <a:srgbClr val="000000"/>
          </a:solidFill>
          <a:ln w="12700">
            <a:solidFill>
              <a:srgbClr val="000000">
                <a:alpha val="0"/>
              </a:srgbClr>
            </a:solidFill>
            <a:prstDash val="solid"/>
          </a:ln>
        </p:spPr>
      </p:sp>
      <p:sp>
        <p:nvSpPr>
          <p:cNvPr id="140" name="Shape 137"/>
          <p:cNvSpPr/>
          <p:nvPr/>
        </p:nvSpPr>
        <p:spPr>
          <a:xfrm>
            <a:off x="11339576" y="3120136"/>
            <a:ext cx="53289" cy="53289"/>
          </a:xfrm>
          <a:prstGeom prst="rect">
            <a:avLst/>
          </a:prstGeom>
          <a:solidFill>
            <a:srgbClr val="000000"/>
          </a:solidFill>
          <a:ln w="12700">
            <a:solidFill>
              <a:srgbClr val="000000">
                <a:alpha val="0"/>
              </a:srgbClr>
            </a:solidFill>
            <a:prstDash val="solid"/>
          </a:ln>
        </p:spPr>
      </p:sp>
      <p:sp>
        <p:nvSpPr>
          <p:cNvPr id="141" name="Shape 138"/>
          <p:cNvSpPr/>
          <p:nvPr/>
        </p:nvSpPr>
        <p:spPr>
          <a:xfrm>
            <a:off x="11498072" y="3120136"/>
            <a:ext cx="53289" cy="53289"/>
          </a:xfrm>
          <a:prstGeom prst="rect">
            <a:avLst/>
          </a:prstGeom>
          <a:solidFill>
            <a:srgbClr val="000000"/>
          </a:solidFill>
          <a:ln w="12700">
            <a:solidFill>
              <a:srgbClr val="000000">
                <a:alpha val="0"/>
              </a:srgbClr>
            </a:solidFill>
            <a:prstDash val="solid"/>
          </a:ln>
        </p:spPr>
      </p:sp>
      <p:sp>
        <p:nvSpPr>
          <p:cNvPr id="142" name="Shape 139"/>
          <p:cNvSpPr/>
          <p:nvPr/>
        </p:nvSpPr>
        <p:spPr>
          <a:xfrm>
            <a:off x="11709400" y="3120136"/>
            <a:ext cx="53289" cy="53289"/>
          </a:xfrm>
          <a:prstGeom prst="rect">
            <a:avLst/>
          </a:prstGeom>
          <a:solidFill>
            <a:srgbClr val="000000"/>
          </a:solidFill>
          <a:ln w="12700">
            <a:solidFill>
              <a:srgbClr val="000000">
                <a:alpha val="0"/>
              </a:srgbClr>
            </a:solidFill>
            <a:prstDash val="solid"/>
          </a:ln>
        </p:spPr>
      </p:sp>
      <p:sp>
        <p:nvSpPr>
          <p:cNvPr id="143" name="Shape 140"/>
          <p:cNvSpPr/>
          <p:nvPr/>
        </p:nvSpPr>
        <p:spPr>
          <a:xfrm>
            <a:off x="11815064" y="3120136"/>
            <a:ext cx="106121" cy="53289"/>
          </a:xfrm>
          <a:prstGeom prst="rect">
            <a:avLst/>
          </a:prstGeom>
          <a:solidFill>
            <a:srgbClr val="000000"/>
          </a:solidFill>
          <a:ln w="12700">
            <a:solidFill>
              <a:srgbClr val="000000">
                <a:alpha val="0"/>
              </a:srgbClr>
            </a:solidFill>
            <a:prstDash val="solid"/>
          </a:ln>
        </p:spPr>
      </p:sp>
      <p:sp>
        <p:nvSpPr>
          <p:cNvPr id="144" name="Shape 141"/>
          <p:cNvSpPr/>
          <p:nvPr/>
        </p:nvSpPr>
        <p:spPr>
          <a:xfrm>
            <a:off x="12079224" y="3120136"/>
            <a:ext cx="53289" cy="53289"/>
          </a:xfrm>
          <a:prstGeom prst="rect">
            <a:avLst/>
          </a:prstGeom>
          <a:solidFill>
            <a:srgbClr val="000000"/>
          </a:solidFill>
          <a:ln w="12700">
            <a:solidFill>
              <a:srgbClr val="000000">
                <a:alpha val="0"/>
              </a:srgbClr>
            </a:solidFill>
            <a:prstDash val="solid"/>
          </a:ln>
        </p:spPr>
      </p:sp>
      <p:sp>
        <p:nvSpPr>
          <p:cNvPr id="145" name="Shape 142"/>
          <p:cNvSpPr/>
          <p:nvPr/>
        </p:nvSpPr>
        <p:spPr>
          <a:xfrm>
            <a:off x="12184888" y="3120136"/>
            <a:ext cx="53289" cy="53289"/>
          </a:xfrm>
          <a:prstGeom prst="rect">
            <a:avLst/>
          </a:prstGeom>
          <a:solidFill>
            <a:srgbClr val="000000"/>
          </a:solidFill>
          <a:ln w="12700">
            <a:solidFill>
              <a:srgbClr val="000000">
                <a:alpha val="0"/>
              </a:srgbClr>
            </a:solidFill>
            <a:prstDash val="solid"/>
          </a:ln>
        </p:spPr>
      </p:sp>
      <p:sp>
        <p:nvSpPr>
          <p:cNvPr id="146" name="Shape 143"/>
          <p:cNvSpPr/>
          <p:nvPr/>
        </p:nvSpPr>
        <p:spPr>
          <a:xfrm>
            <a:off x="12343384" y="3120136"/>
            <a:ext cx="53289" cy="53289"/>
          </a:xfrm>
          <a:prstGeom prst="rect">
            <a:avLst/>
          </a:prstGeom>
          <a:solidFill>
            <a:srgbClr val="000000"/>
          </a:solidFill>
          <a:ln w="12700">
            <a:solidFill>
              <a:srgbClr val="000000">
                <a:alpha val="0"/>
              </a:srgbClr>
            </a:solidFill>
            <a:prstDash val="solid"/>
          </a:ln>
        </p:spPr>
      </p:sp>
      <p:sp>
        <p:nvSpPr>
          <p:cNvPr id="147" name="Shape 144"/>
          <p:cNvSpPr/>
          <p:nvPr/>
        </p:nvSpPr>
        <p:spPr>
          <a:xfrm>
            <a:off x="12501880" y="3120136"/>
            <a:ext cx="53289" cy="53289"/>
          </a:xfrm>
          <a:prstGeom prst="rect">
            <a:avLst/>
          </a:prstGeom>
          <a:solidFill>
            <a:srgbClr val="000000"/>
          </a:solidFill>
          <a:ln w="12700">
            <a:solidFill>
              <a:srgbClr val="000000">
                <a:alpha val="0"/>
              </a:srgbClr>
            </a:solidFill>
            <a:prstDash val="solid"/>
          </a:ln>
        </p:spPr>
      </p:sp>
      <p:sp>
        <p:nvSpPr>
          <p:cNvPr id="148" name="Shape 145"/>
          <p:cNvSpPr/>
          <p:nvPr/>
        </p:nvSpPr>
        <p:spPr>
          <a:xfrm>
            <a:off x="12713208" y="3120136"/>
            <a:ext cx="53289" cy="53289"/>
          </a:xfrm>
          <a:prstGeom prst="rect">
            <a:avLst/>
          </a:prstGeom>
          <a:solidFill>
            <a:srgbClr val="000000"/>
          </a:solidFill>
          <a:ln w="12700">
            <a:solidFill>
              <a:srgbClr val="000000">
                <a:alpha val="0"/>
              </a:srgbClr>
            </a:solidFill>
            <a:prstDash val="solid"/>
          </a:ln>
        </p:spPr>
      </p:sp>
      <p:sp>
        <p:nvSpPr>
          <p:cNvPr id="149" name="Shape 146"/>
          <p:cNvSpPr/>
          <p:nvPr/>
        </p:nvSpPr>
        <p:spPr>
          <a:xfrm>
            <a:off x="10864088" y="3172968"/>
            <a:ext cx="211785" cy="53289"/>
          </a:xfrm>
          <a:prstGeom prst="rect">
            <a:avLst/>
          </a:prstGeom>
          <a:solidFill>
            <a:srgbClr val="000000"/>
          </a:solidFill>
          <a:ln w="12700">
            <a:solidFill>
              <a:srgbClr val="000000">
                <a:alpha val="0"/>
              </a:srgbClr>
            </a:solidFill>
            <a:prstDash val="solid"/>
          </a:ln>
        </p:spPr>
      </p:sp>
      <p:sp>
        <p:nvSpPr>
          <p:cNvPr id="150" name="Shape 147"/>
          <p:cNvSpPr/>
          <p:nvPr/>
        </p:nvSpPr>
        <p:spPr>
          <a:xfrm>
            <a:off x="11128248" y="3172968"/>
            <a:ext cx="158953" cy="53289"/>
          </a:xfrm>
          <a:prstGeom prst="rect">
            <a:avLst/>
          </a:prstGeom>
          <a:solidFill>
            <a:srgbClr val="000000"/>
          </a:solidFill>
          <a:ln w="12700">
            <a:solidFill>
              <a:srgbClr val="000000">
                <a:alpha val="0"/>
              </a:srgbClr>
            </a:solidFill>
            <a:prstDash val="solid"/>
          </a:ln>
        </p:spPr>
      </p:sp>
      <p:sp>
        <p:nvSpPr>
          <p:cNvPr id="151" name="Shape 148"/>
          <p:cNvSpPr/>
          <p:nvPr/>
        </p:nvSpPr>
        <p:spPr>
          <a:xfrm>
            <a:off x="11445240" y="3172968"/>
            <a:ext cx="53289" cy="53289"/>
          </a:xfrm>
          <a:prstGeom prst="rect">
            <a:avLst/>
          </a:prstGeom>
          <a:solidFill>
            <a:srgbClr val="000000"/>
          </a:solidFill>
          <a:ln w="12700">
            <a:solidFill>
              <a:srgbClr val="000000">
                <a:alpha val="0"/>
              </a:srgbClr>
            </a:solidFill>
            <a:prstDash val="solid"/>
          </a:ln>
        </p:spPr>
      </p:sp>
      <p:sp>
        <p:nvSpPr>
          <p:cNvPr id="152" name="Shape 149"/>
          <p:cNvSpPr/>
          <p:nvPr/>
        </p:nvSpPr>
        <p:spPr>
          <a:xfrm>
            <a:off x="11550904" y="3172968"/>
            <a:ext cx="211785" cy="53289"/>
          </a:xfrm>
          <a:prstGeom prst="rect">
            <a:avLst/>
          </a:prstGeom>
          <a:solidFill>
            <a:srgbClr val="000000"/>
          </a:solidFill>
          <a:ln w="12700">
            <a:solidFill>
              <a:srgbClr val="000000">
                <a:alpha val="0"/>
              </a:srgbClr>
            </a:solidFill>
            <a:prstDash val="solid"/>
          </a:ln>
        </p:spPr>
      </p:sp>
      <p:sp>
        <p:nvSpPr>
          <p:cNvPr id="153" name="Shape 150"/>
          <p:cNvSpPr/>
          <p:nvPr/>
        </p:nvSpPr>
        <p:spPr>
          <a:xfrm>
            <a:off x="11815064" y="3172968"/>
            <a:ext cx="53289" cy="53289"/>
          </a:xfrm>
          <a:prstGeom prst="rect">
            <a:avLst/>
          </a:prstGeom>
          <a:solidFill>
            <a:srgbClr val="000000"/>
          </a:solidFill>
          <a:ln w="12700">
            <a:solidFill>
              <a:srgbClr val="000000">
                <a:alpha val="0"/>
              </a:srgbClr>
            </a:solidFill>
            <a:prstDash val="solid"/>
          </a:ln>
        </p:spPr>
      </p:sp>
      <p:sp>
        <p:nvSpPr>
          <p:cNvPr id="154" name="Shape 151"/>
          <p:cNvSpPr/>
          <p:nvPr/>
        </p:nvSpPr>
        <p:spPr>
          <a:xfrm>
            <a:off x="11920728" y="3172968"/>
            <a:ext cx="53289" cy="53289"/>
          </a:xfrm>
          <a:prstGeom prst="rect">
            <a:avLst/>
          </a:prstGeom>
          <a:solidFill>
            <a:srgbClr val="000000"/>
          </a:solidFill>
          <a:ln w="12700">
            <a:solidFill>
              <a:srgbClr val="000000">
                <a:alpha val="0"/>
              </a:srgbClr>
            </a:solidFill>
            <a:prstDash val="solid"/>
          </a:ln>
        </p:spPr>
      </p:sp>
      <p:sp>
        <p:nvSpPr>
          <p:cNvPr id="155" name="Shape 152"/>
          <p:cNvSpPr/>
          <p:nvPr/>
        </p:nvSpPr>
        <p:spPr>
          <a:xfrm>
            <a:off x="12026392" y="3172968"/>
            <a:ext cx="53289" cy="53289"/>
          </a:xfrm>
          <a:prstGeom prst="rect">
            <a:avLst/>
          </a:prstGeom>
          <a:solidFill>
            <a:srgbClr val="000000"/>
          </a:solidFill>
          <a:ln w="12700">
            <a:solidFill>
              <a:srgbClr val="000000">
                <a:alpha val="0"/>
              </a:srgbClr>
            </a:solidFill>
            <a:prstDash val="solid"/>
          </a:ln>
        </p:spPr>
      </p:sp>
      <p:sp>
        <p:nvSpPr>
          <p:cNvPr id="156" name="Shape 153"/>
          <p:cNvSpPr/>
          <p:nvPr/>
        </p:nvSpPr>
        <p:spPr>
          <a:xfrm>
            <a:off x="12132056" y="3172968"/>
            <a:ext cx="264617" cy="53289"/>
          </a:xfrm>
          <a:prstGeom prst="rect">
            <a:avLst/>
          </a:prstGeom>
          <a:solidFill>
            <a:srgbClr val="000000"/>
          </a:solidFill>
          <a:ln w="12700">
            <a:solidFill>
              <a:srgbClr val="000000">
                <a:alpha val="0"/>
              </a:srgbClr>
            </a:solidFill>
            <a:prstDash val="solid"/>
          </a:ln>
        </p:spPr>
      </p:sp>
      <p:sp>
        <p:nvSpPr>
          <p:cNvPr id="157" name="Shape 154"/>
          <p:cNvSpPr/>
          <p:nvPr/>
        </p:nvSpPr>
        <p:spPr>
          <a:xfrm>
            <a:off x="12501880" y="3172968"/>
            <a:ext cx="158953" cy="53289"/>
          </a:xfrm>
          <a:prstGeom prst="rect">
            <a:avLst/>
          </a:prstGeom>
          <a:solidFill>
            <a:srgbClr val="000000"/>
          </a:solidFill>
          <a:ln w="12700">
            <a:solidFill>
              <a:srgbClr val="000000">
                <a:alpha val="0"/>
              </a:srgbClr>
            </a:solidFill>
            <a:prstDash val="solid"/>
          </a:ln>
        </p:spPr>
      </p:sp>
      <p:sp>
        <p:nvSpPr>
          <p:cNvPr id="158" name="Shape 155"/>
          <p:cNvSpPr/>
          <p:nvPr/>
        </p:nvSpPr>
        <p:spPr>
          <a:xfrm>
            <a:off x="12713208" y="3172968"/>
            <a:ext cx="106121" cy="53289"/>
          </a:xfrm>
          <a:prstGeom prst="rect">
            <a:avLst/>
          </a:prstGeom>
          <a:solidFill>
            <a:srgbClr val="000000"/>
          </a:solidFill>
          <a:ln w="12700">
            <a:solidFill>
              <a:srgbClr val="000000">
                <a:alpha val="0"/>
              </a:srgbClr>
            </a:solidFill>
            <a:prstDash val="solid"/>
          </a:ln>
        </p:spPr>
      </p:sp>
      <p:sp>
        <p:nvSpPr>
          <p:cNvPr id="159" name="Shape 156"/>
          <p:cNvSpPr/>
          <p:nvPr/>
        </p:nvSpPr>
        <p:spPr>
          <a:xfrm>
            <a:off x="10864088" y="3225800"/>
            <a:ext cx="317449" cy="53289"/>
          </a:xfrm>
          <a:prstGeom prst="rect">
            <a:avLst/>
          </a:prstGeom>
          <a:solidFill>
            <a:srgbClr val="000000"/>
          </a:solidFill>
          <a:ln w="12700">
            <a:solidFill>
              <a:srgbClr val="000000">
                <a:alpha val="0"/>
              </a:srgbClr>
            </a:solidFill>
            <a:prstDash val="solid"/>
          </a:ln>
        </p:spPr>
      </p:sp>
      <p:sp>
        <p:nvSpPr>
          <p:cNvPr id="160" name="Shape 157"/>
          <p:cNvSpPr/>
          <p:nvPr/>
        </p:nvSpPr>
        <p:spPr>
          <a:xfrm>
            <a:off x="11339576" y="3225800"/>
            <a:ext cx="106121" cy="53289"/>
          </a:xfrm>
          <a:prstGeom prst="rect">
            <a:avLst/>
          </a:prstGeom>
          <a:solidFill>
            <a:srgbClr val="000000"/>
          </a:solidFill>
          <a:ln w="12700">
            <a:solidFill>
              <a:srgbClr val="000000">
                <a:alpha val="0"/>
              </a:srgbClr>
            </a:solidFill>
            <a:prstDash val="solid"/>
          </a:ln>
        </p:spPr>
      </p:sp>
      <p:sp>
        <p:nvSpPr>
          <p:cNvPr id="161" name="Shape 158"/>
          <p:cNvSpPr/>
          <p:nvPr/>
        </p:nvSpPr>
        <p:spPr>
          <a:xfrm>
            <a:off x="11498072" y="3225800"/>
            <a:ext cx="53289" cy="53289"/>
          </a:xfrm>
          <a:prstGeom prst="rect">
            <a:avLst/>
          </a:prstGeom>
          <a:solidFill>
            <a:srgbClr val="000000"/>
          </a:solidFill>
          <a:ln w="12700">
            <a:solidFill>
              <a:srgbClr val="000000">
                <a:alpha val="0"/>
              </a:srgbClr>
            </a:solidFill>
            <a:prstDash val="solid"/>
          </a:ln>
        </p:spPr>
      </p:sp>
      <p:sp>
        <p:nvSpPr>
          <p:cNvPr id="162" name="Shape 159"/>
          <p:cNvSpPr/>
          <p:nvPr/>
        </p:nvSpPr>
        <p:spPr>
          <a:xfrm>
            <a:off x="11603736" y="3225800"/>
            <a:ext cx="53289" cy="53289"/>
          </a:xfrm>
          <a:prstGeom prst="rect">
            <a:avLst/>
          </a:prstGeom>
          <a:solidFill>
            <a:srgbClr val="000000"/>
          </a:solidFill>
          <a:ln w="12700">
            <a:solidFill>
              <a:srgbClr val="000000">
                <a:alpha val="0"/>
              </a:srgbClr>
            </a:solidFill>
            <a:prstDash val="solid"/>
          </a:ln>
        </p:spPr>
      </p:sp>
      <p:sp>
        <p:nvSpPr>
          <p:cNvPr id="163" name="Shape 160"/>
          <p:cNvSpPr/>
          <p:nvPr/>
        </p:nvSpPr>
        <p:spPr>
          <a:xfrm>
            <a:off x="11709400" y="3225800"/>
            <a:ext cx="53289" cy="53289"/>
          </a:xfrm>
          <a:prstGeom prst="rect">
            <a:avLst/>
          </a:prstGeom>
          <a:solidFill>
            <a:srgbClr val="000000"/>
          </a:solidFill>
          <a:ln w="12700">
            <a:solidFill>
              <a:srgbClr val="000000">
                <a:alpha val="0"/>
              </a:srgbClr>
            </a:solidFill>
            <a:prstDash val="solid"/>
          </a:ln>
        </p:spPr>
      </p:sp>
      <p:sp>
        <p:nvSpPr>
          <p:cNvPr id="164" name="Shape 161"/>
          <p:cNvSpPr/>
          <p:nvPr/>
        </p:nvSpPr>
        <p:spPr>
          <a:xfrm>
            <a:off x="11867896" y="3225800"/>
            <a:ext cx="106121" cy="53289"/>
          </a:xfrm>
          <a:prstGeom prst="rect">
            <a:avLst/>
          </a:prstGeom>
          <a:solidFill>
            <a:srgbClr val="000000"/>
          </a:solidFill>
          <a:ln w="12700">
            <a:solidFill>
              <a:srgbClr val="000000">
                <a:alpha val="0"/>
              </a:srgbClr>
            </a:solidFill>
            <a:prstDash val="solid"/>
          </a:ln>
        </p:spPr>
      </p:sp>
      <p:sp>
        <p:nvSpPr>
          <p:cNvPr id="165" name="Shape 162"/>
          <p:cNvSpPr/>
          <p:nvPr/>
        </p:nvSpPr>
        <p:spPr>
          <a:xfrm>
            <a:off x="12079224" y="3225800"/>
            <a:ext cx="53289" cy="53289"/>
          </a:xfrm>
          <a:prstGeom prst="rect">
            <a:avLst/>
          </a:prstGeom>
          <a:solidFill>
            <a:srgbClr val="000000"/>
          </a:solidFill>
          <a:ln w="12700">
            <a:solidFill>
              <a:srgbClr val="000000">
                <a:alpha val="0"/>
              </a:srgbClr>
            </a:solidFill>
            <a:prstDash val="solid"/>
          </a:ln>
        </p:spPr>
      </p:sp>
      <p:sp>
        <p:nvSpPr>
          <p:cNvPr id="166" name="Shape 163"/>
          <p:cNvSpPr/>
          <p:nvPr/>
        </p:nvSpPr>
        <p:spPr>
          <a:xfrm>
            <a:off x="12290552" y="3225800"/>
            <a:ext cx="317449" cy="53289"/>
          </a:xfrm>
          <a:prstGeom prst="rect">
            <a:avLst/>
          </a:prstGeom>
          <a:solidFill>
            <a:srgbClr val="000000"/>
          </a:solidFill>
          <a:ln w="12700">
            <a:solidFill>
              <a:srgbClr val="000000">
                <a:alpha val="0"/>
              </a:srgbClr>
            </a:solidFill>
            <a:prstDash val="solid"/>
          </a:ln>
        </p:spPr>
      </p:sp>
      <p:sp>
        <p:nvSpPr>
          <p:cNvPr id="167" name="Shape 164"/>
          <p:cNvSpPr/>
          <p:nvPr/>
        </p:nvSpPr>
        <p:spPr>
          <a:xfrm>
            <a:off x="12713208" y="3225800"/>
            <a:ext cx="53289" cy="53289"/>
          </a:xfrm>
          <a:prstGeom prst="rect">
            <a:avLst/>
          </a:prstGeom>
          <a:solidFill>
            <a:srgbClr val="000000"/>
          </a:solidFill>
          <a:ln w="12700">
            <a:solidFill>
              <a:srgbClr val="000000">
                <a:alpha val="0"/>
              </a:srgbClr>
            </a:solidFill>
            <a:prstDash val="solid"/>
          </a:ln>
        </p:spPr>
      </p:sp>
      <p:sp>
        <p:nvSpPr>
          <p:cNvPr id="168" name="Shape 165"/>
          <p:cNvSpPr/>
          <p:nvPr/>
        </p:nvSpPr>
        <p:spPr>
          <a:xfrm>
            <a:off x="10864088" y="3278632"/>
            <a:ext cx="53289" cy="53289"/>
          </a:xfrm>
          <a:prstGeom prst="rect">
            <a:avLst/>
          </a:prstGeom>
          <a:solidFill>
            <a:srgbClr val="000000"/>
          </a:solidFill>
          <a:ln w="12700">
            <a:solidFill>
              <a:srgbClr val="000000">
                <a:alpha val="0"/>
              </a:srgbClr>
            </a:solidFill>
            <a:prstDash val="solid"/>
          </a:ln>
        </p:spPr>
      </p:sp>
      <p:sp>
        <p:nvSpPr>
          <p:cNvPr id="169" name="Shape 166"/>
          <p:cNvSpPr/>
          <p:nvPr/>
        </p:nvSpPr>
        <p:spPr>
          <a:xfrm>
            <a:off x="10969752" y="3278632"/>
            <a:ext cx="53289" cy="53289"/>
          </a:xfrm>
          <a:prstGeom prst="rect">
            <a:avLst/>
          </a:prstGeom>
          <a:solidFill>
            <a:srgbClr val="000000"/>
          </a:solidFill>
          <a:ln w="12700">
            <a:solidFill>
              <a:srgbClr val="000000">
                <a:alpha val="0"/>
              </a:srgbClr>
            </a:solidFill>
            <a:prstDash val="solid"/>
          </a:ln>
        </p:spPr>
      </p:sp>
      <p:sp>
        <p:nvSpPr>
          <p:cNvPr id="170" name="Shape 167"/>
          <p:cNvSpPr/>
          <p:nvPr/>
        </p:nvSpPr>
        <p:spPr>
          <a:xfrm>
            <a:off x="11075416" y="3278632"/>
            <a:ext cx="53289" cy="53289"/>
          </a:xfrm>
          <a:prstGeom prst="rect">
            <a:avLst/>
          </a:prstGeom>
          <a:solidFill>
            <a:srgbClr val="000000"/>
          </a:solidFill>
          <a:ln w="12700">
            <a:solidFill>
              <a:srgbClr val="000000">
                <a:alpha val="0"/>
              </a:srgbClr>
            </a:solidFill>
            <a:prstDash val="solid"/>
          </a:ln>
        </p:spPr>
      </p:sp>
      <p:sp>
        <p:nvSpPr>
          <p:cNvPr id="171" name="Shape 168"/>
          <p:cNvSpPr/>
          <p:nvPr/>
        </p:nvSpPr>
        <p:spPr>
          <a:xfrm>
            <a:off x="11181080" y="3278632"/>
            <a:ext cx="53289" cy="53289"/>
          </a:xfrm>
          <a:prstGeom prst="rect">
            <a:avLst/>
          </a:prstGeom>
          <a:solidFill>
            <a:srgbClr val="000000"/>
          </a:solidFill>
          <a:ln w="12700">
            <a:solidFill>
              <a:srgbClr val="000000">
                <a:alpha val="0"/>
              </a:srgbClr>
            </a:solidFill>
            <a:prstDash val="solid"/>
          </a:ln>
        </p:spPr>
      </p:sp>
      <p:sp>
        <p:nvSpPr>
          <p:cNvPr id="172" name="Shape 169"/>
          <p:cNvSpPr/>
          <p:nvPr/>
        </p:nvSpPr>
        <p:spPr>
          <a:xfrm>
            <a:off x="11286744" y="3278632"/>
            <a:ext cx="53289" cy="53289"/>
          </a:xfrm>
          <a:prstGeom prst="rect">
            <a:avLst/>
          </a:prstGeom>
          <a:solidFill>
            <a:srgbClr val="000000"/>
          </a:solidFill>
          <a:ln w="12700">
            <a:solidFill>
              <a:srgbClr val="000000">
                <a:alpha val="0"/>
              </a:srgbClr>
            </a:solidFill>
            <a:prstDash val="solid"/>
          </a:ln>
        </p:spPr>
      </p:sp>
      <p:sp>
        <p:nvSpPr>
          <p:cNvPr id="173" name="Shape 170"/>
          <p:cNvSpPr/>
          <p:nvPr/>
        </p:nvSpPr>
        <p:spPr>
          <a:xfrm>
            <a:off x="11498072" y="3278632"/>
            <a:ext cx="106121" cy="53289"/>
          </a:xfrm>
          <a:prstGeom prst="rect">
            <a:avLst/>
          </a:prstGeom>
          <a:solidFill>
            <a:srgbClr val="000000"/>
          </a:solidFill>
          <a:ln w="12700">
            <a:solidFill>
              <a:srgbClr val="000000">
                <a:alpha val="0"/>
              </a:srgbClr>
            </a:solidFill>
            <a:prstDash val="solid"/>
          </a:ln>
        </p:spPr>
      </p:sp>
      <p:sp>
        <p:nvSpPr>
          <p:cNvPr id="174" name="Shape 171"/>
          <p:cNvSpPr/>
          <p:nvPr/>
        </p:nvSpPr>
        <p:spPr>
          <a:xfrm>
            <a:off x="11815064" y="3278632"/>
            <a:ext cx="475945" cy="53289"/>
          </a:xfrm>
          <a:prstGeom prst="rect">
            <a:avLst/>
          </a:prstGeom>
          <a:solidFill>
            <a:srgbClr val="000000"/>
          </a:solidFill>
          <a:ln w="12700">
            <a:solidFill>
              <a:srgbClr val="000000">
                <a:alpha val="0"/>
              </a:srgbClr>
            </a:solidFill>
            <a:prstDash val="solid"/>
          </a:ln>
        </p:spPr>
      </p:sp>
      <p:sp>
        <p:nvSpPr>
          <p:cNvPr id="175" name="Shape 172"/>
          <p:cNvSpPr/>
          <p:nvPr/>
        </p:nvSpPr>
        <p:spPr>
          <a:xfrm>
            <a:off x="12396216" y="3278632"/>
            <a:ext cx="106121" cy="53289"/>
          </a:xfrm>
          <a:prstGeom prst="rect">
            <a:avLst/>
          </a:prstGeom>
          <a:solidFill>
            <a:srgbClr val="000000"/>
          </a:solidFill>
          <a:ln w="12700">
            <a:solidFill>
              <a:srgbClr val="000000">
                <a:alpha val="0"/>
              </a:srgbClr>
            </a:solidFill>
            <a:prstDash val="solid"/>
          </a:ln>
        </p:spPr>
      </p:sp>
      <p:sp>
        <p:nvSpPr>
          <p:cNvPr id="176" name="Shape 173"/>
          <p:cNvSpPr/>
          <p:nvPr/>
        </p:nvSpPr>
        <p:spPr>
          <a:xfrm>
            <a:off x="12554712" y="3278632"/>
            <a:ext cx="53289" cy="53289"/>
          </a:xfrm>
          <a:prstGeom prst="rect">
            <a:avLst/>
          </a:prstGeom>
          <a:solidFill>
            <a:srgbClr val="000000"/>
          </a:solidFill>
          <a:ln w="12700">
            <a:solidFill>
              <a:srgbClr val="000000">
                <a:alpha val="0"/>
              </a:srgbClr>
            </a:solidFill>
            <a:prstDash val="solid"/>
          </a:ln>
        </p:spPr>
      </p:sp>
      <p:sp>
        <p:nvSpPr>
          <p:cNvPr id="177" name="Shape 174"/>
          <p:cNvSpPr/>
          <p:nvPr/>
        </p:nvSpPr>
        <p:spPr>
          <a:xfrm>
            <a:off x="12660376" y="3278632"/>
            <a:ext cx="53289" cy="53289"/>
          </a:xfrm>
          <a:prstGeom prst="rect">
            <a:avLst/>
          </a:prstGeom>
          <a:solidFill>
            <a:srgbClr val="000000"/>
          </a:solidFill>
          <a:ln w="12700">
            <a:solidFill>
              <a:srgbClr val="000000">
                <a:alpha val="0"/>
              </a:srgbClr>
            </a:solidFill>
            <a:prstDash val="solid"/>
          </a:ln>
        </p:spPr>
      </p:sp>
      <p:sp>
        <p:nvSpPr>
          <p:cNvPr id="178" name="Shape 175"/>
          <p:cNvSpPr/>
          <p:nvPr/>
        </p:nvSpPr>
        <p:spPr>
          <a:xfrm>
            <a:off x="12766040" y="3278632"/>
            <a:ext cx="53289" cy="53289"/>
          </a:xfrm>
          <a:prstGeom prst="rect">
            <a:avLst/>
          </a:prstGeom>
          <a:solidFill>
            <a:srgbClr val="000000"/>
          </a:solidFill>
          <a:ln w="12700">
            <a:solidFill>
              <a:srgbClr val="000000">
                <a:alpha val="0"/>
              </a:srgbClr>
            </a:solidFill>
            <a:prstDash val="solid"/>
          </a:ln>
        </p:spPr>
      </p:sp>
      <p:sp>
        <p:nvSpPr>
          <p:cNvPr id="179" name="Shape 176"/>
          <p:cNvSpPr/>
          <p:nvPr/>
        </p:nvSpPr>
        <p:spPr>
          <a:xfrm>
            <a:off x="10864088" y="3331464"/>
            <a:ext cx="317449" cy="53289"/>
          </a:xfrm>
          <a:prstGeom prst="rect">
            <a:avLst/>
          </a:prstGeom>
          <a:solidFill>
            <a:srgbClr val="000000"/>
          </a:solidFill>
          <a:ln w="12700">
            <a:solidFill>
              <a:srgbClr val="000000">
                <a:alpha val="0"/>
              </a:srgbClr>
            </a:solidFill>
            <a:prstDash val="solid"/>
          </a:ln>
        </p:spPr>
      </p:sp>
      <p:sp>
        <p:nvSpPr>
          <p:cNvPr id="180" name="Shape 177"/>
          <p:cNvSpPr/>
          <p:nvPr/>
        </p:nvSpPr>
        <p:spPr>
          <a:xfrm>
            <a:off x="11286744" y="3331464"/>
            <a:ext cx="53289" cy="53289"/>
          </a:xfrm>
          <a:prstGeom prst="rect">
            <a:avLst/>
          </a:prstGeom>
          <a:solidFill>
            <a:srgbClr val="000000"/>
          </a:solidFill>
          <a:ln w="12700">
            <a:solidFill>
              <a:srgbClr val="000000">
                <a:alpha val="0"/>
              </a:srgbClr>
            </a:solidFill>
            <a:prstDash val="solid"/>
          </a:ln>
        </p:spPr>
      </p:sp>
      <p:sp>
        <p:nvSpPr>
          <p:cNvPr id="181" name="Shape 178"/>
          <p:cNvSpPr/>
          <p:nvPr/>
        </p:nvSpPr>
        <p:spPr>
          <a:xfrm>
            <a:off x="11603736" y="3331464"/>
            <a:ext cx="158953" cy="53289"/>
          </a:xfrm>
          <a:prstGeom prst="rect">
            <a:avLst/>
          </a:prstGeom>
          <a:solidFill>
            <a:srgbClr val="000000"/>
          </a:solidFill>
          <a:ln w="12700">
            <a:solidFill>
              <a:srgbClr val="000000">
                <a:alpha val="0"/>
              </a:srgbClr>
            </a:solidFill>
            <a:prstDash val="solid"/>
          </a:ln>
        </p:spPr>
      </p:sp>
      <p:sp>
        <p:nvSpPr>
          <p:cNvPr id="182" name="Shape 179"/>
          <p:cNvSpPr/>
          <p:nvPr/>
        </p:nvSpPr>
        <p:spPr>
          <a:xfrm>
            <a:off x="12343384" y="3331464"/>
            <a:ext cx="53289" cy="53289"/>
          </a:xfrm>
          <a:prstGeom prst="rect">
            <a:avLst/>
          </a:prstGeom>
          <a:solidFill>
            <a:srgbClr val="000000"/>
          </a:solidFill>
          <a:ln w="12700">
            <a:solidFill>
              <a:srgbClr val="000000">
                <a:alpha val="0"/>
              </a:srgbClr>
            </a:solidFill>
            <a:prstDash val="solid"/>
          </a:ln>
        </p:spPr>
      </p:sp>
      <p:sp>
        <p:nvSpPr>
          <p:cNvPr id="183" name="Shape 180"/>
          <p:cNvSpPr/>
          <p:nvPr/>
        </p:nvSpPr>
        <p:spPr>
          <a:xfrm>
            <a:off x="12501880" y="3331464"/>
            <a:ext cx="53289" cy="53289"/>
          </a:xfrm>
          <a:prstGeom prst="rect">
            <a:avLst/>
          </a:prstGeom>
          <a:solidFill>
            <a:srgbClr val="000000"/>
          </a:solidFill>
          <a:ln w="12700">
            <a:solidFill>
              <a:srgbClr val="000000">
                <a:alpha val="0"/>
              </a:srgbClr>
            </a:solidFill>
            <a:prstDash val="solid"/>
          </a:ln>
        </p:spPr>
      </p:sp>
      <p:sp>
        <p:nvSpPr>
          <p:cNvPr id="184" name="Shape 181"/>
          <p:cNvSpPr/>
          <p:nvPr/>
        </p:nvSpPr>
        <p:spPr>
          <a:xfrm>
            <a:off x="12660376" y="3331464"/>
            <a:ext cx="106121" cy="53289"/>
          </a:xfrm>
          <a:prstGeom prst="rect">
            <a:avLst/>
          </a:prstGeom>
          <a:solidFill>
            <a:srgbClr val="000000"/>
          </a:solidFill>
          <a:ln w="12700">
            <a:solidFill>
              <a:srgbClr val="000000">
                <a:alpha val="0"/>
              </a:srgbClr>
            </a:solidFill>
            <a:prstDash val="solid"/>
          </a:ln>
        </p:spPr>
      </p:sp>
      <p:sp>
        <p:nvSpPr>
          <p:cNvPr id="185" name="Shape 182"/>
          <p:cNvSpPr/>
          <p:nvPr/>
        </p:nvSpPr>
        <p:spPr>
          <a:xfrm>
            <a:off x="10864088" y="3384296"/>
            <a:ext cx="106121" cy="53289"/>
          </a:xfrm>
          <a:prstGeom prst="rect">
            <a:avLst/>
          </a:prstGeom>
          <a:solidFill>
            <a:srgbClr val="000000"/>
          </a:solidFill>
          <a:ln w="12700">
            <a:solidFill>
              <a:srgbClr val="000000">
                <a:alpha val="0"/>
              </a:srgbClr>
            </a:solidFill>
            <a:prstDash val="solid"/>
          </a:ln>
        </p:spPr>
      </p:sp>
      <p:sp>
        <p:nvSpPr>
          <p:cNvPr id="186" name="Shape 183"/>
          <p:cNvSpPr/>
          <p:nvPr/>
        </p:nvSpPr>
        <p:spPr>
          <a:xfrm>
            <a:off x="11128248" y="3384296"/>
            <a:ext cx="211785" cy="53289"/>
          </a:xfrm>
          <a:prstGeom prst="rect">
            <a:avLst/>
          </a:prstGeom>
          <a:solidFill>
            <a:srgbClr val="000000"/>
          </a:solidFill>
          <a:ln w="12700">
            <a:solidFill>
              <a:srgbClr val="000000">
                <a:alpha val="0"/>
              </a:srgbClr>
            </a:solidFill>
            <a:prstDash val="solid"/>
          </a:ln>
        </p:spPr>
      </p:sp>
      <p:sp>
        <p:nvSpPr>
          <p:cNvPr id="187" name="Shape 184"/>
          <p:cNvSpPr/>
          <p:nvPr/>
        </p:nvSpPr>
        <p:spPr>
          <a:xfrm>
            <a:off x="11392408" y="3384296"/>
            <a:ext cx="158953" cy="53289"/>
          </a:xfrm>
          <a:prstGeom prst="rect">
            <a:avLst/>
          </a:prstGeom>
          <a:solidFill>
            <a:srgbClr val="000000"/>
          </a:solidFill>
          <a:ln w="12700">
            <a:solidFill>
              <a:srgbClr val="000000">
                <a:alpha val="0"/>
              </a:srgbClr>
            </a:solidFill>
            <a:prstDash val="solid"/>
          </a:ln>
        </p:spPr>
      </p:sp>
      <p:sp>
        <p:nvSpPr>
          <p:cNvPr id="188" name="Shape 185"/>
          <p:cNvSpPr/>
          <p:nvPr/>
        </p:nvSpPr>
        <p:spPr>
          <a:xfrm>
            <a:off x="11603736" y="3384296"/>
            <a:ext cx="53289" cy="53289"/>
          </a:xfrm>
          <a:prstGeom prst="rect">
            <a:avLst/>
          </a:prstGeom>
          <a:solidFill>
            <a:srgbClr val="000000"/>
          </a:solidFill>
          <a:ln w="12700">
            <a:solidFill>
              <a:srgbClr val="000000">
                <a:alpha val="0"/>
              </a:srgbClr>
            </a:solidFill>
            <a:prstDash val="solid"/>
          </a:ln>
        </p:spPr>
      </p:sp>
      <p:sp>
        <p:nvSpPr>
          <p:cNvPr id="189" name="Shape 186"/>
          <p:cNvSpPr/>
          <p:nvPr/>
        </p:nvSpPr>
        <p:spPr>
          <a:xfrm>
            <a:off x="11762232" y="3384296"/>
            <a:ext cx="53289" cy="53289"/>
          </a:xfrm>
          <a:prstGeom prst="rect">
            <a:avLst/>
          </a:prstGeom>
          <a:solidFill>
            <a:srgbClr val="000000"/>
          </a:solidFill>
          <a:ln w="12700">
            <a:solidFill>
              <a:srgbClr val="000000">
                <a:alpha val="0"/>
              </a:srgbClr>
            </a:solidFill>
            <a:prstDash val="solid"/>
          </a:ln>
        </p:spPr>
      </p:sp>
      <p:sp>
        <p:nvSpPr>
          <p:cNvPr id="190" name="Shape 187"/>
          <p:cNvSpPr/>
          <p:nvPr/>
        </p:nvSpPr>
        <p:spPr>
          <a:xfrm>
            <a:off x="11920728" y="3384296"/>
            <a:ext cx="106121" cy="53289"/>
          </a:xfrm>
          <a:prstGeom prst="rect">
            <a:avLst/>
          </a:prstGeom>
          <a:solidFill>
            <a:srgbClr val="000000"/>
          </a:solidFill>
          <a:ln w="12700">
            <a:solidFill>
              <a:srgbClr val="000000">
                <a:alpha val="0"/>
              </a:srgbClr>
            </a:solidFill>
            <a:prstDash val="solid"/>
          </a:ln>
        </p:spPr>
      </p:sp>
      <p:sp>
        <p:nvSpPr>
          <p:cNvPr id="191" name="Shape 188"/>
          <p:cNvSpPr/>
          <p:nvPr/>
        </p:nvSpPr>
        <p:spPr>
          <a:xfrm>
            <a:off x="12079224" y="3384296"/>
            <a:ext cx="106121" cy="53289"/>
          </a:xfrm>
          <a:prstGeom prst="rect">
            <a:avLst/>
          </a:prstGeom>
          <a:solidFill>
            <a:srgbClr val="000000"/>
          </a:solidFill>
          <a:ln w="12700">
            <a:solidFill>
              <a:srgbClr val="000000">
                <a:alpha val="0"/>
              </a:srgbClr>
            </a:solidFill>
            <a:prstDash val="solid"/>
          </a:ln>
        </p:spPr>
      </p:sp>
      <p:sp>
        <p:nvSpPr>
          <p:cNvPr id="192" name="Shape 189"/>
          <p:cNvSpPr/>
          <p:nvPr/>
        </p:nvSpPr>
        <p:spPr>
          <a:xfrm>
            <a:off x="12237720" y="3384296"/>
            <a:ext cx="106121" cy="53289"/>
          </a:xfrm>
          <a:prstGeom prst="rect">
            <a:avLst/>
          </a:prstGeom>
          <a:solidFill>
            <a:srgbClr val="000000"/>
          </a:solidFill>
          <a:ln w="12700">
            <a:solidFill>
              <a:srgbClr val="000000">
                <a:alpha val="0"/>
              </a:srgbClr>
            </a:solidFill>
            <a:prstDash val="solid"/>
          </a:ln>
        </p:spPr>
      </p:sp>
      <p:sp>
        <p:nvSpPr>
          <p:cNvPr id="193" name="Shape 190"/>
          <p:cNvSpPr/>
          <p:nvPr/>
        </p:nvSpPr>
        <p:spPr>
          <a:xfrm>
            <a:off x="12554712" y="3384296"/>
            <a:ext cx="53289" cy="53289"/>
          </a:xfrm>
          <a:prstGeom prst="rect">
            <a:avLst/>
          </a:prstGeom>
          <a:solidFill>
            <a:srgbClr val="000000"/>
          </a:solidFill>
          <a:ln w="12700">
            <a:solidFill>
              <a:srgbClr val="000000">
                <a:alpha val="0"/>
              </a:srgbClr>
            </a:solidFill>
            <a:prstDash val="solid"/>
          </a:ln>
        </p:spPr>
      </p:sp>
      <p:sp>
        <p:nvSpPr>
          <p:cNvPr id="194" name="Shape 191"/>
          <p:cNvSpPr/>
          <p:nvPr/>
        </p:nvSpPr>
        <p:spPr>
          <a:xfrm>
            <a:off x="12660376" y="3384296"/>
            <a:ext cx="158953" cy="53289"/>
          </a:xfrm>
          <a:prstGeom prst="rect">
            <a:avLst/>
          </a:prstGeom>
          <a:solidFill>
            <a:srgbClr val="000000"/>
          </a:solidFill>
          <a:ln w="12700">
            <a:solidFill>
              <a:srgbClr val="000000">
                <a:alpha val="0"/>
              </a:srgbClr>
            </a:solidFill>
            <a:prstDash val="solid"/>
          </a:ln>
        </p:spPr>
      </p:sp>
      <p:sp>
        <p:nvSpPr>
          <p:cNvPr id="195" name="Shape 192"/>
          <p:cNvSpPr/>
          <p:nvPr/>
        </p:nvSpPr>
        <p:spPr>
          <a:xfrm>
            <a:off x="10916920" y="3437128"/>
            <a:ext cx="53289" cy="53289"/>
          </a:xfrm>
          <a:prstGeom prst="rect">
            <a:avLst/>
          </a:prstGeom>
          <a:solidFill>
            <a:srgbClr val="000000"/>
          </a:solidFill>
          <a:ln w="12700">
            <a:solidFill>
              <a:srgbClr val="000000">
                <a:alpha val="0"/>
              </a:srgbClr>
            </a:solidFill>
            <a:prstDash val="solid"/>
          </a:ln>
        </p:spPr>
      </p:sp>
      <p:sp>
        <p:nvSpPr>
          <p:cNvPr id="196" name="Shape 193"/>
          <p:cNvSpPr/>
          <p:nvPr/>
        </p:nvSpPr>
        <p:spPr>
          <a:xfrm>
            <a:off x="11075416" y="3437128"/>
            <a:ext cx="53289" cy="53289"/>
          </a:xfrm>
          <a:prstGeom prst="rect">
            <a:avLst/>
          </a:prstGeom>
          <a:solidFill>
            <a:srgbClr val="000000"/>
          </a:solidFill>
          <a:ln w="12700">
            <a:solidFill>
              <a:srgbClr val="000000">
                <a:alpha val="0"/>
              </a:srgbClr>
            </a:solidFill>
            <a:prstDash val="solid"/>
          </a:ln>
        </p:spPr>
      </p:sp>
      <p:sp>
        <p:nvSpPr>
          <p:cNvPr id="197" name="Shape 194"/>
          <p:cNvSpPr/>
          <p:nvPr/>
        </p:nvSpPr>
        <p:spPr>
          <a:xfrm>
            <a:off x="11392408" y="3437128"/>
            <a:ext cx="106121" cy="53289"/>
          </a:xfrm>
          <a:prstGeom prst="rect">
            <a:avLst/>
          </a:prstGeom>
          <a:solidFill>
            <a:srgbClr val="000000"/>
          </a:solidFill>
          <a:ln w="12700">
            <a:solidFill>
              <a:srgbClr val="000000">
                <a:alpha val="0"/>
              </a:srgbClr>
            </a:solidFill>
            <a:prstDash val="solid"/>
          </a:ln>
        </p:spPr>
      </p:sp>
      <p:sp>
        <p:nvSpPr>
          <p:cNvPr id="198" name="Shape 195"/>
          <p:cNvSpPr/>
          <p:nvPr/>
        </p:nvSpPr>
        <p:spPr>
          <a:xfrm>
            <a:off x="11550904" y="3437128"/>
            <a:ext cx="53289" cy="53289"/>
          </a:xfrm>
          <a:prstGeom prst="rect">
            <a:avLst/>
          </a:prstGeom>
          <a:solidFill>
            <a:srgbClr val="000000"/>
          </a:solidFill>
          <a:ln w="12700">
            <a:solidFill>
              <a:srgbClr val="000000">
                <a:alpha val="0"/>
              </a:srgbClr>
            </a:solidFill>
            <a:prstDash val="solid"/>
          </a:ln>
        </p:spPr>
      </p:sp>
      <p:sp>
        <p:nvSpPr>
          <p:cNvPr id="199" name="Shape 196"/>
          <p:cNvSpPr/>
          <p:nvPr/>
        </p:nvSpPr>
        <p:spPr>
          <a:xfrm>
            <a:off x="11709400" y="3437128"/>
            <a:ext cx="53289" cy="53289"/>
          </a:xfrm>
          <a:prstGeom prst="rect">
            <a:avLst/>
          </a:prstGeom>
          <a:solidFill>
            <a:srgbClr val="000000"/>
          </a:solidFill>
          <a:ln w="12700">
            <a:solidFill>
              <a:srgbClr val="000000">
                <a:alpha val="0"/>
              </a:srgbClr>
            </a:solidFill>
            <a:prstDash val="solid"/>
          </a:ln>
        </p:spPr>
      </p:sp>
      <p:sp>
        <p:nvSpPr>
          <p:cNvPr id="200" name="Shape 197"/>
          <p:cNvSpPr/>
          <p:nvPr/>
        </p:nvSpPr>
        <p:spPr>
          <a:xfrm>
            <a:off x="11815064" y="3437128"/>
            <a:ext cx="53289" cy="53289"/>
          </a:xfrm>
          <a:prstGeom prst="rect">
            <a:avLst/>
          </a:prstGeom>
          <a:solidFill>
            <a:srgbClr val="000000"/>
          </a:solidFill>
          <a:ln w="12700">
            <a:solidFill>
              <a:srgbClr val="000000">
                <a:alpha val="0"/>
              </a:srgbClr>
            </a:solidFill>
            <a:prstDash val="solid"/>
          </a:ln>
        </p:spPr>
      </p:sp>
      <p:sp>
        <p:nvSpPr>
          <p:cNvPr id="201" name="Shape 198"/>
          <p:cNvSpPr/>
          <p:nvPr/>
        </p:nvSpPr>
        <p:spPr>
          <a:xfrm>
            <a:off x="11973560" y="3437128"/>
            <a:ext cx="53289" cy="53289"/>
          </a:xfrm>
          <a:prstGeom prst="rect">
            <a:avLst/>
          </a:prstGeom>
          <a:solidFill>
            <a:srgbClr val="000000"/>
          </a:solidFill>
          <a:ln w="12700">
            <a:solidFill>
              <a:srgbClr val="000000">
                <a:alpha val="0"/>
              </a:srgbClr>
            </a:solidFill>
            <a:prstDash val="solid"/>
          </a:ln>
        </p:spPr>
      </p:sp>
      <p:sp>
        <p:nvSpPr>
          <p:cNvPr id="202" name="Shape 199"/>
          <p:cNvSpPr/>
          <p:nvPr/>
        </p:nvSpPr>
        <p:spPr>
          <a:xfrm>
            <a:off x="12079224" y="3437128"/>
            <a:ext cx="53289" cy="53289"/>
          </a:xfrm>
          <a:prstGeom prst="rect">
            <a:avLst/>
          </a:prstGeom>
          <a:solidFill>
            <a:srgbClr val="000000"/>
          </a:solidFill>
          <a:ln w="12700">
            <a:solidFill>
              <a:srgbClr val="000000">
                <a:alpha val="0"/>
              </a:srgbClr>
            </a:solidFill>
            <a:prstDash val="solid"/>
          </a:ln>
        </p:spPr>
      </p:sp>
      <p:sp>
        <p:nvSpPr>
          <p:cNvPr id="203" name="Shape 200"/>
          <p:cNvSpPr/>
          <p:nvPr/>
        </p:nvSpPr>
        <p:spPr>
          <a:xfrm>
            <a:off x="12237720" y="3437128"/>
            <a:ext cx="106121" cy="53289"/>
          </a:xfrm>
          <a:prstGeom prst="rect">
            <a:avLst/>
          </a:prstGeom>
          <a:solidFill>
            <a:srgbClr val="000000"/>
          </a:solidFill>
          <a:ln w="12700">
            <a:solidFill>
              <a:srgbClr val="000000">
                <a:alpha val="0"/>
              </a:srgbClr>
            </a:solidFill>
            <a:prstDash val="solid"/>
          </a:ln>
        </p:spPr>
      </p:sp>
      <p:sp>
        <p:nvSpPr>
          <p:cNvPr id="204" name="Shape 201"/>
          <p:cNvSpPr/>
          <p:nvPr/>
        </p:nvSpPr>
        <p:spPr>
          <a:xfrm>
            <a:off x="12449048" y="3437128"/>
            <a:ext cx="53289" cy="53289"/>
          </a:xfrm>
          <a:prstGeom prst="rect">
            <a:avLst/>
          </a:prstGeom>
          <a:solidFill>
            <a:srgbClr val="000000"/>
          </a:solidFill>
          <a:ln w="12700">
            <a:solidFill>
              <a:srgbClr val="000000">
                <a:alpha val="0"/>
              </a:srgbClr>
            </a:solidFill>
            <a:prstDash val="solid"/>
          </a:ln>
        </p:spPr>
      </p:sp>
      <p:sp>
        <p:nvSpPr>
          <p:cNvPr id="205" name="Shape 202"/>
          <p:cNvSpPr/>
          <p:nvPr/>
        </p:nvSpPr>
        <p:spPr>
          <a:xfrm>
            <a:off x="12766040" y="3437128"/>
            <a:ext cx="53289" cy="53289"/>
          </a:xfrm>
          <a:prstGeom prst="rect">
            <a:avLst/>
          </a:prstGeom>
          <a:solidFill>
            <a:srgbClr val="000000"/>
          </a:solidFill>
          <a:ln w="12700">
            <a:solidFill>
              <a:srgbClr val="000000">
                <a:alpha val="0"/>
              </a:srgbClr>
            </a:solidFill>
            <a:prstDash val="solid"/>
          </a:ln>
        </p:spPr>
      </p:sp>
      <p:sp>
        <p:nvSpPr>
          <p:cNvPr id="206" name="Shape 203"/>
          <p:cNvSpPr/>
          <p:nvPr/>
        </p:nvSpPr>
        <p:spPr>
          <a:xfrm>
            <a:off x="10864088" y="3489960"/>
            <a:ext cx="53289" cy="53289"/>
          </a:xfrm>
          <a:prstGeom prst="rect">
            <a:avLst/>
          </a:prstGeom>
          <a:solidFill>
            <a:srgbClr val="000000"/>
          </a:solidFill>
          <a:ln w="12700">
            <a:solidFill>
              <a:srgbClr val="000000">
                <a:alpha val="0"/>
              </a:srgbClr>
            </a:solidFill>
            <a:prstDash val="solid"/>
          </a:ln>
        </p:spPr>
      </p:sp>
      <p:sp>
        <p:nvSpPr>
          <p:cNvPr id="207" name="Shape 204"/>
          <p:cNvSpPr/>
          <p:nvPr/>
        </p:nvSpPr>
        <p:spPr>
          <a:xfrm>
            <a:off x="11075416" y="3489960"/>
            <a:ext cx="53289" cy="53289"/>
          </a:xfrm>
          <a:prstGeom prst="rect">
            <a:avLst/>
          </a:prstGeom>
          <a:solidFill>
            <a:srgbClr val="000000"/>
          </a:solidFill>
          <a:ln w="12700">
            <a:solidFill>
              <a:srgbClr val="000000">
                <a:alpha val="0"/>
              </a:srgbClr>
            </a:solidFill>
            <a:prstDash val="solid"/>
          </a:ln>
        </p:spPr>
      </p:sp>
      <p:sp>
        <p:nvSpPr>
          <p:cNvPr id="208" name="Shape 205"/>
          <p:cNvSpPr/>
          <p:nvPr/>
        </p:nvSpPr>
        <p:spPr>
          <a:xfrm>
            <a:off x="11181080" y="3489960"/>
            <a:ext cx="106121" cy="53289"/>
          </a:xfrm>
          <a:prstGeom prst="rect">
            <a:avLst/>
          </a:prstGeom>
          <a:solidFill>
            <a:srgbClr val="000000"/>
          </a:solidFill>
          <a:ln w="12700">
            <a:solidFill>
              <a:srgbClr val="000000">
                <a:alpha val="0"/>
              </a:srgbClr>
            </a:solidFill>
            <a:prstDash val="solid"/>
          </a:ln>
        </p:spPr>
      </p:sp>
      <p:sp>
        <p:nvSpPr>
          <p:cNvPr id="209" name="Shape 206"/>
          <p:cNvSpPr/>
          <p:nvPr/>
        </p:nvSpPr>
        <p:spPr>
          <a:xfrm>
            <a:off x="11339576" y="3489960"/>
            <a:ext cx="211785" cy="53289"/>
          </a:xfrm>
          <a:prstGeom prst="rect">
            <a:avLst/>
          </a:prstGeom>
          <a:solidFill>
            <a:srgbClr val="000000"/>
          </a:solidFill>
          <a:ln w="12700">
            <a:solidFill>
              <a:srgbClr val="000000">
                <a:alpha val="0"/>
              </a:srgbClr>
            </a:solidFill>
            <a:prstDash val="solid"/>
          </a:ln>
        </p:spPr>
      </p:sp>
      <p:sp>
        <p:nvSpPr>
          <p:cNvPr id="210" name="Shape 207"/>
          <p:cNvSpPr/>
          <p:nvPr/>
        </p:nvSpPr>
        <p:spPr>
          <a:xfrm>
            <a:off x="11762232" y="3489960"/>
            <a:ext cx="106121" cy="53289"/>
          </a:xfrm>
          <a:prstGeom prst="rect">
            <a:avLst/>
          </a:prstGeom>
          <a:solidFill>
            <a:srgbClr val="000000"/>
          </a:solidFill>
          <a:ln w="12700">
            <a:solidFill>
              <a:srgbClr val="000000">
                <a:alpha val="0"/>
              </a:srgbClr>
            </a:solidFill>
            <a:prstDash val="solid"/>
          </a:ln>
        </p:spPr>
      </p:sp>
      <p:sp>
        <p:nvSpPr>
          <p:cNvPr id="211" name="Shape 208"/>
          <p:cNvSpPr/>
          <p:nvPr/>
        </p:nvSpPr>
        <p:spPr>
          <a:xfrm>
            <a:off x="12026392" y="3489960"/>
            <a:ext cx="211785" cy="53289"/>
          </a:xfrm>
          <a:prstGeom prst="rect">
            <a:avLst/>
          </a:prstGeom>
          <a:solidFill>
            <a:srgbClr val="000000"/>
          </a:solidFill>
          <a:ln w="12700">
            <a:solidFill>
              <a:srgbClr val="000000">
                <a:alpha val="0"/>
              </a:srgbClr>
            </a:solidFill>
            <a:prstDash val="solid"/>
          </a:ln>
        </p:spPr>
      </p:sp>
      <p:sp>
        <p:nvSpPr>
          <p:cNvPr id="212" name="Shape 209"/>
          <p:cNvSpPr/>
          <p:nvPr/>
        </p:nvSpPr>
        <p:spPr>
          <a:xfrm>
            <a:off x="12290552" y="3489960"/>
            <a:ext cx="53289" cy="53289"/>
          </a:xfrm>
          <a:prstGeom prst="rect">
            <a:avLst/>
          </a:prstGeom>
          <a:solidFill>
            <a:srgbClr val="000000"/>
          </a:solidFill>
          <a:ln w="12700">
            <a:solidFill>
              <a:srgbClr val="000000">
                <a:alpha val="0"/>
              </a:srgbClr>
            </a:solidFill>
            <a:prstDash val="solid"/>
          </a:ln>
        </p:spPr>
      </p:sp>
      <p:sp>
        <p:nvSpPr>
          <p:cNvPr id="213" name="Shape 210"/>
          <p:cNvSpPr/>
          <p:nvPr/>
        </p:nvSpPr>
        <p:spPr>
          <a:xfrm>
            <a:off x="12396216" y="3489960"/>
            <a:ext cx="106121" cy="53289"/>
          </a:xfrm>
          <a:prstGeom prst="rect">
            <a:avLst/>
          </a:prstGeom>
          <a:solidFill>
            <a:srgbClr val="000000"/>
          </a:solidFill>
          <a:ln w="12700">
            <a:solidFill>
              <a:srgbClr val="000000">
                <a:alpha val="0"/>
              </a:srgbClr>
            </a:solidFill>
            <a:prstDash val="solid"/>
          </a:ln>
        </p:spPr>
      </p:sp>
      <p:sp>
        <p:nvSpPr>
          <p:cNvPr id="214" name="Shape 211"/>
          <p:cNvSpPr/>
          <p:nvPr/>
        </p:nvSpPr>
        <p:spPr>
          <a:xfrm>
            <a:off x="12554712" y="3489960"/>
            <a:ext cx="158953" cy="53289"/>
          </a:xfrm>
          <a:prstGeom prst="rect">
            <a:avLst/>
          </a:prstGeom>
          <a:solidFill>
            <a:srgbClr val="000000"/>
          </a:solidFill>
          <a:ln w="12700">
            <a:solidFill>
              <a:srgbClr val="000000">
                <a:alpha val="0"/>
              </a:srgbClr>
            </a:solidFill>
            <a:prstDash val="solid"/>
          </a:ln>
        </p:spPr>
      </p:sp>
      <p:sp>
        <p:nvSpPr>
          <p:cNvPr id="215" name="Shape 212"/>
          <p:cNvSpPr/>
          <p:nvPr/>
        </p:nvSpPr>
        <p:spPr>
          <a:xfrm>
            <a:off x="10864088" y="3542792"/>
            <a:ext cx="264617" cy="53289"/>
          </a:xfrm>
          <a:prstGeom prst="rect">
            <a:avLst/>
          </a:prstGeom>
          <a:solidFill>
            <a:srgbClr val="000000"/>
          </a:solidFill>
          <a:ln w="12700">
            <a:solidFill>
              <a:srgbClr val="000000">
                <a:alpha val="0"/>
              </a:srgbClr>
            </a:solidFill>
            <a:prstDash val="solid"/>
          </a:ln>
        </p:spPr>
      </p:sp>
      <p:sp>
        <p:nvSpPr>
          <p:cNvPr id="216" name="Shape 213"/>
          <p:cNvSpPr/>
          <p:nvPr/>
        </p:nvSpPr>
        <p:spPr>
          <a:xfrm>
            <a:off x="11286744" y="3542792"/>
            <a:ext cx="106121" cy="53289"/>
          </a:xfrm>
          <a:prstGeom prst="rect">
            <a:avLst/>
          </a:prstGeom>
          <a:solidFill>
            <a:srgbClr val="000000"/>
          </a:solidFill>
          <a:ln w="12700">
            <a:solidFill>
              <a:srgbClr val="000000">
                <a:alpha val="0"/>
              </a:srgbClr>
            </a:solidFill>
            <a:prstDash val="solid"/>
          </a:ln>
        </p:spPr>
      </p:sp>
      <p:sp>
        <p:nvSpPr>
          <p:cNvPr id="217" name="Shape 214"/>
          <p:cNvSpPr/>
          <p:nvPr/>
        </p:nvSpPr>
        <p:spPr>
          <a:xfrm>
            <a:off x="11550904" y="3542792"/>
            <a:ext cx="106121" cy="53289"/>
          </a:xfrm>
          <a:prstGeom prst="rect">
            <a:avLst/>
          </a:prstGeom>
          <a:solidFill>
            <a:srgbClr val="000000"/>
          </a:solidFill>
          <a:ln w="12700">
            <a:solidFill>
              <a:srgbClr val="000000">
                <a:alpha val="0"/>
              </a:srgbClr>
            </a:solidFill>
            <a:prstDash val="solid"/>
          </a:ln>
        </p:spPr>
      </p:sp>
      <p:sp>
        <p:nvSpPr>
          <p:cNvPr id="218" name="Shape 215"/>
          <p:cNvSpPr/>
          <p:nvPr/>
        </p:nvSpPr>
        <p:spPr>
          <a:xfrm>
            <a:off x="11762232" y="3542792"/>
            <a:ext cx="475945" cy="53289"/>
          </a:xfrm>
          <a:prstGeom prst="rect">
            <a:avLst/>
          </a:prstGeom>
          <a:solidFill>
            <a:srgbClr val="000000"/>
          </a:solidFill>
          <a:ln w="12700">
            <a:solidFill>
              <a:srgbClr val="000000">
                <a:alpha val="0"/>
              </a:srgbClr>
            </a:solidFill>
            <a:prstDash val="solid"/>
          </a:ln>
        </p:spPr>
      </p:sp>
      <p:sp>
        <p:nvSpPr>
          <p:cNvPr id="219" name="Shape 216"/>
          <p:cNvSpPr/>
          <p:nvPr/>
        </p:nvSpPr>
        <p:spPr>
          <a:xfrm>
            <a:off x="12396216" y="3542792"/>
            <a:ext cx="53289" cy="53289"/>
          </a:xfrm>
          <a:prstGeom prst="rect">
            <a:avLst/>
          </a:prstGeom>
          <a:solidFill>
            <a:srgbClr val="000000"/>
          </a:solidFill>
          <a:ln w="12700">
            <a:solidFill>
              <a:srgbClr val="000000">
                <a:alpha val="0"/>
              </a:srgbClr>
            </a:solidFill>
            <a:prstDash val="solid"/>
          </a:ln>
        </p:spPr>
      </p:sp>
      <p:sp>
        <p:nvSpPr>
          <p:cNvPr id="220" name="Shape 217"/>
          <p:cNvSpPr/>
          <p:nvPr/>
        </p:nvSpPr>
        <p:spPr>
          <a:xfrm>
            <a:off x="12607544" y="3542792"/>
            <a:ext cx="53289" cy="53289"/>
          </a:xfrm>
          <a:prstGeom prst="rect">
            <a:avLst/>
          </a:prstGeom>
          <a:solidFill>
            <a:srgbClr val="000000"/>
          </a:solidFill>
          <a:ln w="12700">
            <a:solidFill>
              <a:srgbClr val="000000">
                <a:alpha val="0"/>
              </a:srgbClr>
            </a:solidFill>
            <a:prstDash val="solid"/>
          </a:ln>
        </p:spPr>
      </p:sp>
      <p:sp>
        <p:nvSpPr>
          <p:cNvPr id="221" name="Shape 218"/>
          <p:cNvSpPr/>
          <p:nvPr/>
        </p:nvSpPr>
        <p:spPr>
          <a:xfrm>
            <a:off x="10916920" y="3595624"/>
            <a:ext cx="158953" cy="53289"/>
          </a:xfrm>
          <a:prstGeom prst="rect">
            <a:avLst/>
          </a:prstGeom>
          <a:solidFill>
            <a:srgbClr val="000000"/>
          </a:solidFill>
          <a:ln w="12700">
            <a:solidFill>
              <a:srgbClr val="000000">
                <a:alpha val="0"/>
              </a:srgbClr>
            </a:solidFill>
            <a:prstDash val="solid"/>
          </a:ln>
        </p:spPr>
      </p:sp>
      <p:sp>
        <p:nvSpPr>
          <p:cNvPr id="222" name="Shape 219"/>
          <p:cNvSpPr/>
          <p:nvPr/>
        </p:nvSpPr>
        <p:spPr>
          <a:xfrm>
            <a:off x="11181080" y="3595624"/>
            <a:ext cx="106121" cy="53289"/>
          </a:xfrm>
          <a:prstGeom prst="rect">
            <a:avLst/>
          </a:prstGeom>
          <a:solidFill>
            <a:srgbClr val="000000"/>
          </a:solidFill>
          <a:ln w="12700">
            <a:solidFill>
              <a:srgbClr val="000000">
                <a:alpha val="0"/>
              </a:srgbClr>
            </a:solidFill>
            <a:prstDash val="solid"/>
          </a:ln>
        </p:spPr>
      </p:sp>
      <p:sp>
        <p:nvSpPr>
          <p:cNvPr id="223" name="Shape 220"/>
          <p:cNvSpPr/>
          <p:nvPr/>
        </p:nvSpPr>
        <p:spPr>
          <a:xfrm>
            <a:off x="11339576" y="3595624"/>
            <a:ext cx="106121" cy="53289"/>
          </a:xfrm>
          <a:prstGeom prst="rect">
            <a:avLst/>
          </a:prstGeom>
          <a:solidFill>
            <a:srgbClr val="000000"/>
          </a:solidFill>
          <a:ln w="12700">
            <a:solidFill>
              <a:srgbClr val="000000">
                <a:alpha val="0"/>
              </a:srgbClr>
            </a:solidFill>
            <a:prstDash val="solid"/>
          </a:ln>
        </p:spPr>
      </p:sp>
      <p:sp>
        <p:nvSpPr>
          <p:cNvPr id="224" name="Shape 221"/>
          <p:cNvSpPr/>
          <p:nvPr/>
        </p:nvSpPr>
        <p:spPr>
          <a:xfrm>
            <a:off x="11498072" y="3595624"/>
            <a:ext cx="211785" cy="53289"/>
          </a:xfrm>
          <a:prstGeom prst="rect">
            <a:avLst/>
          </a:prstGeom>
          <a:solidFill>
            <a:srgbClr val="000000"/>
          </a:solidFill>
          <a:ln w="12700">
            <a:solidFill>
              <a:srgbClr val="000000">
                <a:alpha val="0"/>
              </a:srgbClr>
            </a:solidFill>
            <a:prstDash val="solid"/>
          </a:ln>
        </p:spPr>
      </p:sp>
      <p:sp>
        <p:nvSpPr>
          <p:cNvPr id="225" name="Shape 222"/>
          <p:cNvSpPr/>
          <p:nvPr/>
        </p:nvSpPr>
        <p:spPr>
          <a:xfrm>
            <a:off x="11762232" y="3595624"/>
            <a:ext cx="53289" cy="53289"/>
          </a:xfrm>
          <a:prstGeom prst="rect">
            <a:avLst/>
          </a:prstGeom>
          <a:solidFill>
            <a:srgbClr val="000000"/>
          </a:solidFill>
          <a:ln w="12700">
            <a:solidFill>
              <a:srgbClr val="000000">
                <a:alpha val="0"/>
              </a:srgbClr>
            </a:solidFill>
            <a:prstDash val="solid"/>
          </a:ln>
        </p:spPr>
      </p:sp>
      <p:sp>
        <p:nvSpPr>
          <p:cNvPr id="226" name="Shape 223"/>
          <p:cNvSpPr/>
          <p:nvPr/>
        </p:nvSpPr>
        <p:spPr>
          <a:xfrm>
            <a:off x="11920728" y="3595624"/>
            <a:ext cx="106121" cy="53289"/>
          </a:xfrm>
          <a:prstGeom prst="rect">
            <a:avLst/>
          </a:prstGeom>
          <a:solidFill>
            <a:srgbClr val="000000"/>
          </a:solidFill>
          <a:ln w="12700">
            <a:solidFill>
              <a:srgbClr val="000000">
                <a:alpha val="0"/>
              </a:srgbClr>
            </a:solidFill>
            <a:prstDash val="solid"/>
          </a:ln>
        </p:spPr>
      </p:sp>
      <p:sp>
        <p:nvSpPr>
          <p:cNvPr id="227" name="Shape 224"/>
          <p:cNvSpPr/>
          <p:nvPr/>
        </p:nvSpPr>
        <p:spPr>
          <a:xfrm>
            <a:off x="12132056" y="3595624"/>
            <a:ext cx="53289" cy="53289"/>
          </a:xfrm>
          <a:prstGeom prst="rect">
            <a:avLst/>
          </a:prstGeom>
          <a:solidFill>
            <a:srgbClr val="000000"/>
          </a:solidFill>
          <a:ln w="12700">
            <a:solidFill>
              <a:srgbClr val="000000">
                <a:alpha val="0"/>
              </a:srgbClr>
            </a:solidFill>
            <a:prstDash val="solid"/>
          </a:ln>
        </p:spPr>
      </p:sp>
      <p:sp>
        <p:nvSpPr>
          <p:cNvPr id="228" name="Shape 225"/>
          <p:cNvSpPr/>
          <p:nvPr/>
        </p:nvSpPr>
        <p:spPr>
          <a:xfrm>
            <a:off x="12290552" y="3595624"/>
            <a:ext cx="158953" cy="53289"/>
          </a:xfrm>
          <a:prstGeom prst="rect">
            <a:avLst/>
          </a:prstGeom>
          <a:solidFill>
            <a:srgbClr val="000000"/>
          </a:solidFill>
          <a:ln w="12700">
            <a:solidFill>
              <a:srgbClr val="000000">
                <a:alpha val="0"/>
              </a:srgbClr>
            </a:solidFill>
            <a:prstDash val="solid"/>
          </a:ln>
        </p:spPr>
      </p:sp>
      <p:sp>
        <p:nvSpPr>
          <p:cNvPr id="229" name="Shape 226"/>
          <p:cNvSpPr/>
          <p:nvPr/>
        </p:nvSpPr>
        <p:spPr>
          <a:xfrm>
            <a:off x="12501880" y="3595624"/>
            <a:ext cx="158953" cy="53289"/>
          </a:xfrm>
          <a:prstGeom prst="rect">
            <a:avLst/>
          </a:prstGeom>
          <a:solidFill>
            <a:srgbClr val="000000"/>
          </a:solidFill>
          <a:ln w="12700">
            <a:solidFill>
              <a:srgbClr val="000000">
                <a:alpha val="0"/>
              </a:srgbClr>
            </a:solidFill>
            <a:prstDash val="solid"/>
          </a:ln>
        </p:spPr>
      </p:sp>
      <p:sp>
        <p:nvSpPr>
          <p:cNvPr id="230" name="Shape 227"/>
          <p:cNvSpPr/>
          <p:nvPr/>
        </p:nvSpPr>
        <p:spPr>
          <a:xfrm>
            <a:off x="12713208" y="3595624"/>
            <a:ext cx="106121" cy="53289"/>
          </a:xfrm>
          <a:prstGeom prst="rect">
            <a:avLst/>
          </a:prstGeom>
          <a:solidFill>
            <a:srgbClr val="000000"/>
          </a:solidFill>
          <a:ln w="12700">
            <a:solidFill>
              <a:srgbClr val="000000">
                <a:alpha val="0"/>
              </a:srgbClr>
            </a:solidFill>
            <a:prstDash val="solid"/>
          </a:ln>
        </p:spPr>
      </p:sp>
      <p:sp>
        <p:nvSpPr>
          <p:cNvPr id="231" name="Shape 228"/>
          <p:cNvSpPr/>
          <p:nvPr/>
        </p:nvSpPr>
        <p:spPr>
          <a:xfrm>
            <a:off x="10864088" y="3648456"/>
            <a:ext cx="158953" cy="53289"/>
          </a:xfrm>
          <a:prstGeom prst="rect">
            <a:avLst/>
          </a:prstGeom>
          <a:solidFill>
            <a:srgbClr val="000000"/>
          </a:solidFill>
          <a:ln w="12700">
            <a:solidFill>
              <a:srgbClr val="000000">
                <a:alpha val="0"/>
              </a:srgbClr>
            </a:solidFill>
            <a:prstDash val="solid"/>
          </a:ln>
        </p:spPr>
      </p:sp>
      <p:sp>
        <p:nvSpPr>
          <p:cNvPr id="232" name="Shape 229"/>
          <p:cNvSpPr/>
          <p:nvPr/>
        </p:nvSpPr>
        <p:spPr>
          <a:xfrm>
            <a:off x="11233912" y="3648456"/>
            <a:ext cx="53289" cy="53289"/>
          </a:xfrm>
          <a:prstGeom prst="rect">
            <a:avLst/>
          </a:prstGeom>
          <a:solidFill>
            <a:srgbClr val="000000"/>
          </a:solidFill>
          <a:ln w="12700">
            <a:solidFill>
              <a:srgbClr val="000000">
                <a:alpha val="0"/>
              </a:srgbClr>
            </a:solidFill>
            <a:prstDash val="solid"/>
          </a:ln>
        </p:spPr>
      </p:sp>
      <p:sp>
        <p:nvSpPr>
          <p:cNvPr id="233" name="Shape 230"/>
          <p:cNvSpPr/>
          <p:nvPr/>
        </p:nvSpPr>
        <p:spPr>
          <a:xfrm>
            <a:off x="11339576" y="3648456"/>
            <a:ext cx="53289" cy="53289"/>
          </a:xfrm>
          <a:prstGeom prst="rect">
            <a:avLst/>
          </a:prstGeom>
          <a:solidFill>
            <a:srgbClr val="000000"/>
          </a:solidFill>
          <a:ln w="12700">
            <a:solidFill>
              <a:srgbClr val="000000">
                <a:alpha val="0"/>
              </a:srgbClr>
            </a:solidFill>
            <a:prstDash val="solid"/>
          </a:ln>
        </p:spPr>
      </p:sp>
      <p:sp>
        <p:nvSpPr>
          <p:cNvPr id="234" name="Shape 231"/>
          <p:cNvSpPr/>
          <p:nvPr/>
        </p:nvSpPr>
        <p:spPr>
          <a:xfrm>
            <a:off x="11445240" y="3648456"/>
            <a:ext cx="53289" cy="53289"/>
          </a:xfrm>
          <a:prstGeom prst="rect">
            <a:avLst/>
          </a:prstGeom>
          <a:solidFill>
            <a:srgbClr val="000000"/>
          </a:solidFill>
          <a:ln w="12700">
            <a:solidFill>
              <a:srgbClr val="000000">
                <a:alpha val="0"/>
              </a:srgbClr>
            </a:solidFill>
            <a:prstDash val="solid"/>
          </a:ln>
        </p:spPr>
      </p:sp>
      <p:sp>
        <p:nvSpPr>
          <p:cNvPr id="235" name="Shape 232"/>
          <p:cNvSpPr/>
          <p:nvPr/>
        </p:nvSpPr>
        <p:spPr>
          <a:xfrm>
            <a:off x="11550904" y="3648456"/>
            <a:ext cx="158953" cy="53289"/>
          </a:xfrm>
          <a:prstGeom prst="rect">
            <a:avLst/>
          </a:prstGeom>
          <a:solidFill>
            <a:srgbClr val="000000"/>
          </a:solidFill>
          <a:ln w="12700">
            <a:solidFill>
              <a:srgbClr val="000000">
                <a:alpha val="0"/>
              </a:srgbClr>
            </a:solidFill>
            <a:prstDash val="solid"/>
          </a:ln>
        </p:spPr>
      </p:sp>
      <p:sp>
        <p:nvSpPr>
          <p:cNvPr id="236" name="Shape 233"/>
          <p:cNvSpPr/>
          <p:nvPr/>
        </p:nvSpPr>
        <p:spPr>
          <a:xfrm>
            <a:off x="11762232" y="3648456"/>
            <a:ext cx="106121" cy="53289"/>
          </a:xfrm>
          <a:prstGeom prst="rect">
            <a:avLst/>
          </a:prstGeom>
          <a:solidFill>
            <a:srgbClr val="000000"/>
          </a:solidFill>
          <a:ln w="12700">
            <a:solidFill>
              <a:srgbClr val="000000">
                <a:alpha val="0"/>
              </a:srgbClr>
            </a:solidFill>
            <a:prstDash val="solid"/>
          </a:ln>
        </p:spPr>
      </p:sp>
      <p:sp>
        <p:nvSpPr>
          <p:cNvPr id="237" name="Shape 234"/>
          <p:cNvSpPr/>
          <p:nvPr/>
        </p:nvSpPr>
        <p:spPr>
          <a:xfrm>
            <a:off x="11973560" y="3648456"/>
            <a:ext cx="158953" cy="53289"/>
          </a:xfrm>
          <a:prstGeom prst="rect">
            <a:avLst/>
          </a:prstGeom>
          <a:solidFill>
            <a:srgbClr val="000000"/>
          </a:solidFill>
          <a:ln w="12700">
            <a:solidFill>
              <a:srgbClr val="000000">
                <a:alpha val="0"/>
              </a:srgbClr>
            </a:solidFill>
            <a:prstDash val="solid"/>
          </a:ln>
        </p:spPr>
      </p:sp>
      <p:sp>
        <p:nvSpPr>
          <p:cNvPr id="238" name="Shape 235"/>
          <p:cNvSpPr/>
          <p:nvPr/>
        </p:nvSpPr>
        <p:spPr>
          <a:xfrm>
            <a:off x="12501880" y="3648456"/>
            <a:ext cx="106121" cy="53289"/>
          </a:xfrm>
          <a:prstGeom prst="rect">
            <a:avLst/>
          </a:prstGeom>
          <a:solidFill>
            <a:srgbClr val="000000"/>
          </a:solidFill>
          <a:ln w="12700">
            <a:solidFill>
              <a:srgbClr val="000000">
                <a:alpha val="0"/>
              </a:srgbClr>
            </a:solidFill>
            <a:prstDash val="solid"/>
          </a:ln>
        </p:spPr>
      </p:sp>
      <p:sp>
        <p:nvSpPr>
          <p:cNvPr id="239" name="Shape 236"/>
          <p:cNvSpPr/>
          <p:nvPr/>
        </p:nvSpPr>
        <p:spPr>
          <a:xfrm>
            <a:off x="12713208" y="3648456"/>
            <a:ext cx="53289" cy="53289"/>
          </a:xfrm>
          <a:prstGeom prst="rect">
            <a:avLst/>
          </a:prstGeom>
          <a:solidFill>
            <a:srgbClr val="000000"/>
          </a:solidFill>
          <a:ln w="12700">
            <a:solidFill>
              <a:srgbClr val="000000">
                <a:alpha val="0"/>
              </a:srgbClr>
            </a:solidFill>
            <a:prstDash val="solid"/>
          </a:ln>
        </p:spPr>
      </p:sp>
      <p:sp>
        <p:nvSpPr>
          <p:cNvPr id="240" name="Shape 237"/>
          <p:cNvSpPr/>
          <p:nvPr/>
        </p:nvSpPr>
        <p:spPr>
          <a:xfrm>
            <a:off x="10864088" y="3701288"/>
            <a:ext cx="53289" cy="53289"/>
          </a:xfrm>
          <a:prstGeom prst="rect">
            <a:avLst/>
          </a:prstGeom>
          <a:solidFill>
            <a:srgbClr val="000000"/>
          </a:solidFill>
          <a:ln w="12700">
            <a:solidFill>
              <a:srgbClr val="000000">
                <a:alpha val="0"/>
              </a:srgbClr>
            </a:solidFill>
            <a:prstDash val="solid"/>
          </a:ln>
        </p:spPr>
      </p:sp>
      <p:sp>
        <p:nvSpPr>
          <p:cNvPr id="241" name="Shape 238"/>
          <p:cNvSpPr/>
          <p:nvPr/>
        </p:nvSpPr>
        <p:spPr>
          <a:xfrm>
            <a:off x="11181080" y="3701288"/>
            <a:ext cx="53289" cy="53289"/>
          </a:xfrm>
          <a:prstGeom prst="rect">
            <a:avLst/>
          </a:prstGeom>
          <a:solidFill>
            <a:srgbClr val="000000"/>
          </a:solidFill>
          <a:ln w="12700">
            <a:solidFill>
              <a:srgbClr val="000000">
                <a:alpha val="0"/>
              </a:srgbClr>
            </a:solidFill>
            <a:prstDash val="solid"/>
          </a:ln>
        </p:spPr>
      </p:sp>
      <p:sp>
        <p:nvSpPr>
          <p:cNvPr id="242" name="Shape 239"/>
          <p:cNvSpPr/>
          <p:nvPr/>
        </p:nvSpPr>
        <p:spPr>
          <a:xfrm>
            <a:off x="11286744" y="3701288"/>
            <a:ext cx="106121" cy="53289"/>
          </a:xfrm>
          <a:prstGeom prst="rect">
            <a:avLst/>
          </a:prstGeom>
          <a:solidFill>
            <a:srgbClr val="000000"/>
          </a:solidFill>
          <a:ln w="12700">
            <a:solidFill>
              <a:srgbClr val="000000">
                <a:alpha val="0"/>
              </a:srgbClr>
            </a:solidFill>
            <a:prstDash val="solid"/>
          </a:ln>
        </p:spPr>
      </p:sp>
      <p:sp>
        <p:nvSpPr>
          <p:cNvPr id="243" name="Shape 240"/>
          <p:cNvSpPr/>
          <p:nvPr/>
        </p:nvSpPr>
        <p:spPr>
          <a:xfrm>
            <a:off x="11656568" y="3701288"/>
            <a:ext cx="106121" cy="53289"/>
          </a:xfrm>
          <a:prstGeom prst="rect">
            <a:avLst/>
          </a:prstGeom>
          <a:solidFill>
            <a:srgbClr val="000000"/>
          </a:solidFill>
          <a:ln w="12700">
            <a:solidFill>
              <a:srgbClr val="000000">
                <a:alpha val="0"/>
              </a:srgbClr>
            </a:solidFill>
            <a:prstDash val="solid"/>
          </a:ln>
        </p:spPr>
      </p:sp>
      <p:sp>
        <p:nvSpPr>
          <p:cNvPr id="244" name="Shape 241"/>
          <p:cNvSpPr/>
          <p:nvPr/>
        </p:nvSpPr>
        <p:spPr>
          <a:xfrm>
            <a:off x="11867896" y="3701288"/>
            <a:ext cx="53289" cy="53289"/>
          </a:xfrm>
          <a:prstGeom prst="rect">
            <a:avLst/>
          </a:prstGeom>
          <a:solidFill>
            <a:srgbClr val="000000"/>
          </a:solidFill>
          <a:ln w="12700">
            <a:solidFill>
              <a:srgbClr val="000000">
                <a:alpha val="0"/>
              </a:srgbClr>
            </a:solidFill>
            <a:prstDash val="solid"/>
          </a:ln>
        </p:spPr>
      </p:sp>
      <p:sp>
        <p:nvSpPr>
          <p:cNvPr id="245" name="Shape 242"/>
          <p:cNvSpPr/>
          <p:nvPr/>
        </p:nvSpPr>
        <p:spPr>
          <a:xfrm>
            <a:off x="11973560" y="3701288"/>
            <a:ext cx="53289" cy="53289"/>
          </a:xfrm>
          <a:prstGeom prst="rect">
            <a:avLst/>
          </a:prstGeom>
          <a:solidFill>
            <a:srgbClr val="000000"/>
          </a:solidFill>
          <a:ln w="12700">
            <a:solidFill>
              <a:srgbClr val="000000">
                <a:alpha val="0"/>
              </a:srgbClr>
            </a:solidFill>
            <a:prstDash val="solid"/>
          </a:ln>
        </p:spPr>
      </p:sp>
      <p:sp>
        <p:nvSpPr>
          <p:cNvPr id="246" name="Shape 243"/>
          <p:cNvSpPr/>
          <p:nvPr/>
        </p:nvSpPr>
        <p:spPr>
          <a:xfrm>
            <a:off x="12132056" y="3701288"/>
            <a:ext cx="475945" cy="53289"/>
          </a:xfrm>
          <a:prstGeom prst="rect">
            <a:avLst/>
          </a:prstGeom>
          <a:solidFill>
            <a:srgbClr val="000000"/>
          </a:solidFill>
          <a:ln w="12700">
            <a:solidFill>
              <a:srgbClr val="000000">
                <a:alpha val="0"/>
              </a:srgbClr>
            </a:solidFill>
            <a:prstDash val="solid"/>
          </a:ln>
        </p:spPr>
      </p:sp>
      <p:sp>
        <p:nvSpPr>
          <p:cNvPr id="247" name="Shape 244"/>
          <p:cNvSpPr/>
          <p:nvPr/>
        </p:nvSpPr>
        <p:spPr>
          <a:xfrm>
            <a:off x="12660376" y="3701288"/>
            <a:ext cx="106121" cy="53289"/>
          </a:xfrm>
          <a:prstGeom prst="rect">
            <a:avLst/>
          </a:prstGeom>
          <a:solidFill>
            <a:srgbClr val="000000"/>
          </a:solidFill>
          <a:ln w="12700">
            <a:solidFill>
              <a:srgbClr val="000000">
                <a:alpha val="0"/>
              </a:srgbClr>
            </a:solidFill>
            <a:prstDash val="solid"/>
          </a:ln>
        </p:spPr>
      </p:sp>
      <p:sp>
        <p:nvSpPr>
          <p:cNvPr id="248" name="Shape 245"/>
          <p:cNvSpPr/>
          <p:nvPr/>
        </p:nvSpPr>
        <p:spPr>
          <a:xfrm>
            <a:off x="10864088" y="3754120"/>
            <a:ext cx="53289" cy="53289"/>
          </a:xfrm>
          <a:prstGeom prst="rect">
            <a:avLst/>
          </a:prstGeom>
          <a:solidFill>
            <a:srgbClr val="000000"/>
          </a:solidFill>
          <a:ln w="12700">
            <a:solidFill>
              <a:srgbClr val="000000">
                <a:alpha val="0"/>
              </a:srgbClr>
            </a:solidFill>
            <a:prstDash val="solid"/>
          </a:ln>
        </p:spPr>
      </p:sp>
      <p:sp>
        <p:nvSpPr>
          <p:cNvPr id="249" name="Shape 246"/>
          <p:cNvSpPr/>
          <p:nvPr/>
        </p:nvSpPr>
        <p:spPr>
          <a:xfrm>
            <a:off x="10969752" y="3754120"/>
            <a:ext cx="106121" cy="53289"/>
          </a:xfrm>
          <a:prstGeom prst="rect">
            <a:avLst/>
          </a:prstGeom>
          <a:solidFill>
            <a:srgbClr val="000000"/>
          </a:solidFill>
          <a:ln w="12700">
            <a:solidFill>
              <a:srgbClr val="000000">
                <a:alpha val="0"/>
              </a:srgbClr>
            </a:solidFill>
            <a:prstDash val="solid"/>
          </a:ln>
        </p:spPr>
      </p:sp>
      <p:sp>
        <p:nvSpPr>
          <p:cNvPr id="250" name="Shape 247"/>
          <p:cNvSpPr/>
          <p:nvPr/>
        </p:nvSpPr>
        <p:spPr>
          <a:xfrm>
            <a:off x="11128248" y="3754120"/>
            <a:ext cx="53289" cy="53289"/>
          </a:xfrm>
          <a:prstGeom prst="rect">
            <a:avLst/>
          </a:prstGeom>
          <a:solidFill>
            <a:srgbClr val="000000"/>
          </a:solidFill>
          <a:ln w="12700">
            <a:solidFill>
              <a:srgbClr val="000000">
                <a:alpha val="0"/>
              </a:srgbClr>
            </a:solidFill>
            <a:prstDash val="solid"/>
          </a:ln>
        </p:spPr>
      </p:sp>
      <p:sp>
        <p:nvSpPr>
          <p:cNvPr id="251" name="Shape 248"/>
          <p:cNvSpPr/>
          <p:nvPr/>
        </p:nvSpPr>
        <p:spPr>
          <a:xfrm>
            <a:off x="11286744" y="3754120"/>
            <a:ext cx="53289" cy="53289"/>
          </a:xfrm>
          <a:prstGeom prst="rect">
            <a:avLst/>
          </a:prstGeom>
          <a:solidFill>
            <a:srgbClr val="000000"/>
          </a:solidFill>
          <a:ln w="12700">
            <a:solidFill>
              <a:srgbClr val="000000">
                <a:alpha val="0"/>
              </a:srgbClr>
            </a:solidFill>
            <a:prstDash val="solid"/>
          </a:ln>
        </p:spPr>
      </p:sp>
      <p:sp>
        <p:nvSpPr>
          <p:cNvPr id="252" name="Shape 249"/>
          <p:cNvSpPr/>
          <p:nvPr/>
        </p:nvSpPr>
        <p:spPr>
          <a:xfrm>
            <a:off x="11392408" y="3754120"/>
            <a:ext cx="53289" cy="53289"/>
          </a:xfrm>
          <a:prstGeom prst="rect">
            <a:avLst/>
          </a:prstGeom>
          <a:solidFill>
            <a:srgbClr val="000000"/>
          </a:solidFill>
          <a:ln w="12700">
            <a:solidFill>
              <a:srgbClr val="000000">
                <a:alpha val="0"/>
              </a:srgbClr>
            </a:solidFill>
            <a:prstDash val="solid"/>
          </a:ln>
        </p:spPr>
      </p:sp>
      <p:sp>
        <p:nvSpPr>
          <p:cNvPr id="253" name="Shape 250"/>
          <p:cNvSpPr/>
          <p:nvPr/>
        </p:nvSpPr>
        <p:spPr>
          <a:xfrm>
            <a:off x="11656568" y="3754120"/>
            <a:ext cx="53289" cy="53289"/>
          </a:xfrm>
          <a:prstGeom prst="rect">
            <a:avLst/>
          </a:prstGeom>
          <a:solidFill>
            <a:srgbClr val="000000"/>
          </a:solidFill>
          <a:ln w="12700">
            <a:solidFill>
              <a:srgbClr val="000000">
                <a:alpha val="0"/>
              </a:srgbClr>
            </a:solidFill>
            <a:prstDash val="solid"/>
          </a:ln>
        </p:spPr>
      </p:sp>
      <p:sp>
        <p:nvSpPr>
          <p:cNvPr id="254" name="Shape 251"/>
          <p:cNvSpPr/>
          <p:nvPr/>
        </p:nvSpPr>
        <p:spPr>
          <a:xfrm>
            <a:off x="11762232" y="3754120"/>
            <a:ext cx="106121" cy="53289"/>
          </a:xfrm>
          <a:prstGeom prst="rect">
            <a:avLst/>
          </a:prstGeom>
          <a:solidFill>
            <a:srgbClr val="000000"/>
          </a:solidFill>
          <a:ln w="12700">
            <a:solidFill>
              <a:srgbClr val="000000">
                <a:alpha val="0"/>
              </a:srgbClr>
            </a:solidFill>
            <a:prstDash val="solid"/>
          </a:ln>
        </p:spPr>
      </p:sp>
      <p:sp>
        <p:nvSpPr>
          <p:cNvPr id="255" name="Shape 252"/>
          <p:cNvSpPr/>
          <p:nvPr/>
        </p:nvSpPr>
        <p:spPr>
          <a:xfrm>
            <a:off x="11920728" y="3754120"/>
            <a:ext cx="158953" cy="53289"/>
          </a:xfrm>
          <a:prstGeom prst="rect">
            <a:avLst/>
          </a:prstGeom>
          <a:solidFill>
            <a:srgbClr val="000000"/>
          </a:solidFill>
          <a:ln w="12700">
            <a:solidFill>
              <a:srgbClr val="000000">
                <a:alpha val="0"/>
              </a:srgbClr>
            </a:solidFill>
            <a:prstDash val="solid"/>
          </a:ln>
        </p:spPr>
      </p:sp>
      <p:sp>
        <p:nvSpPr>
          <p:cNvPr id="256" name="Shape 253"/>
          <p:cNvSpPr/>
          <p:nvPr/>
        </p:nvSpPr>
        <p:spPr>
          <a:xfrm>
            <a:off x="12132056" y="3754120"/>
            <a:ext cx="158953" cy="53289"/>
          </a:xfrm>
          <a:prstGeom prst="rect">
            <a:avLst/>
          </a:prstGeom>
          <a:solidFill>
            <a:srgbClr val="000000"/>
          </a:solidFill>
          <a:ln w="12700">
            <a:solidFill>
              <a:srgbClr val="000000">
                <a:alpha val="0"/>
              </a:srgbClr>
            </a:solidFill>
            <a:prstDash val="solid"/>
          </a:ln>
        </p:spPr>
      </p:sp>
      <p:sp>
        <p:nvSpPr>
          <p:cNvPr id="257" name="Shape 254"/>
          <p:cNvSpPr/>
          <p:nvPr/>
        </p:nvSpPr>
        <p:spPr>
          <a:xfrm>
            <a:off x="12343384" y="3754120"/>
            <a:ext cx="53289" cy="53289"/>
          </a:xfrm>
          <a:prstGeom prst="rect">
            <a:avLst/>
          </a:prstGeom>
          <a:solidFill>
            <a:srgbClr val="000000"/>
          </a:solidFill>
          <a:ln w="12700">
            <a:solidFill>
              <a:srgbClr val="000000">
                <a:alpha val="0"/>
              </a:srgbClr>
            </a:solidFill>
            <a:prstDash val="solid"/>
          </a:ln>
        </p:spPr>
      </p:sp>
      <p:sp>
        <p:nvSpPr>
          <p:cNvPr id="258" name="Shape 255"/>
          <p:cNvSpPr/>
          <p:nvPr/>
        </p:nvSpPr>
        <p:spPr>
          <a:xfrm>
            <a:off x="12501880" y="3754120"/>
            <a:ext cx="53289" cy="53289"/>
          </a:xfrm>
          <a:prstGeom prst="rect">
            <a:avLst/>
          </a:prstGeom>
          <a:solidFill>
            <a:srgbClr val="000000"/>
          </a:solidFill>
          <a:ln w="12700">
            <a:solidFill>
              <a:srgbClr val="000000">
                <a:alpha val="0"/>
              </a:srgbClr>
            </a:solidFill>
            <a:prstDash val="solid"/>
          </a:ln>
        </p:spPr>
      </p:sp>
      <p:sp>
        <p:nvSpPr>
          <p:cNvPr id="259" name="Shape 256"/>
          <p:cNvSpPr/>
          <p:nvPr/>
        </p:nvSpPr>
        <p:spPr>
          <a:xfrm>
            <a:off x="12660376" y="3754120"/>
            <a:ext cx="53289" cy="53289"/>
          </a:xfrm>
          <a:prstGeom prst="rect">
            <a:avLst/>
          </a:prstGeom>
          <a:solidFill>
            <a:srgbClr val="000000"/>
          </a:solidFill>
          <a:ln w="12700">
            <a:solidFill>
              <a:srgbClr val="000000">
                <a:alpha val="0"/>
              </a:srgbClr>
            </a:solidFill>
            <a:prstDash val="solid"/>
          </a:ln>
        </p:spPr>
      </p:sp>
      <p:sp>
        <p:nvSpPr>
          <p:cNvPr id="260" name="Shape 257"/>
          <p:cNvSpPr/>
          <p:nvPr/>
        </p:nvSpPr>
        <p:spPr>
          <a:xfrm>
            <a:off x="10864088" y="3806952"/>
            <a:ext cx="53289" cy="53289"/>
          </a:xfrm>
          <a:prstGeom prst="rect">
            <a:avLst/>
          </a:prstGeom>
          <a:solidFill>
            <a:srgbClr val="000000"/>
          </a:solidFill>
          <a:ln w="12700">
            <a:solidFill>
              <a:srgbClr val="000000">
                <a:alpha val="0"/>
              </a:srgbClr>
            </a:solidFill>
            <a:prstDash val="solid"/>
          </a:ln>
        </p:spPr>
      </p:sp>
      <p:sp>
        <p:nvSpPr>
          <p:cNvPr id="261" name="Shape 258"/>
          <p:cNvSpPr/>
          <p:nvPr/>
        </p:nvSpPr>
        <p:spPr>
          <a:xfrm>
            <a:off x="10969752" y="3806952"/>
            <a:ext cx="53289" cy="53289"/>
          </a:xfrm>
          <a:prstGeom prst="rect">
            <a:avLst/>
          </a:prstGeom>
          <a:solidFill>
            <a:srgbClr val="000000"/>
          </a:solidFill>
          <a:ln w="12700">
            <a:solidFill>
              <a:srgbClr val="000000">
                <a:alpha val="0"/>
              </a:srgbClr>
            </a:solidFill>
            <a:prstDash val="solid"/>
          </a:ln>
        </p:spPr>
      </p:sp>
      <p:sp>
        <p:nvSpPr>
          <p:cNvPr id="262" name="Shape 259"/>
          <p:cNvSpPr/>
          <p:nvPr/>
        </p:nvSpPr>
        <p:spPr>
          <a:xfrm>
            <a:off x="11075416" y="3806952"/>
            <a:ext cx="53289" cy="53289"/>
          </a:xfrm>
          <a:prstGeom prst="rect">
            <a:avLst/>
          </a:prstGeom>
          <a:solidFill>
            <a:srgbClr val="000000"/>
          </a:solidFill>
          <a:ln w="12700">
            <a:solidFill>
              <a:srgbClr val="000000">
                <a:alpha val="0"/>
              </a:srgbClr>
            </a:solidFill>
            <a:prstDash val="solid"/>
          </a:ln>
        </p:spPr>
      </p:sp>
      <p:sp>
        <p:nvSpPr>
          <p:cNvPr id="263" name="Shape 260"/>
          <p:cNvSpPr/>
          <p:nvPr/>
        </p:nvSpPr>
        <p:spPr>
          <a:xfrm>
            <a:off x="11181080" y="3806952"/>
            <a:ext cx="53289" cy="53289"/>
          </a:xfrm>
          <a:prstGeom prst="rect">
            <a:avLst/>
          </a:prstGeom>
          <a:solidFill>
            <a:srgbClr val="000000"/>
          </a:solidFill>
          <a:ln w="12700">
            <a:solidFill>
              <a:srgbClr val="000000">
                <a:alpha val="0"/>
              </a:srgbClr>
            </a:solidFill>
            <a:prstDash val="solid"/>
          </a:ln>
        </p:spPr>
      </p:sp>
      <p:sp>
        <p:nvSpPr>
          <p:cNvPr id="264" name="Shape 261"/>
          <p:cNvSpPr/>
          <p:nvPr/>
        </p:nvSpPr>
        <p:spPr>
          <a:xfrm>
            <a:off x="11286744" y="3806952"/>
            <a:ext cx="53289" cy="53289"/>
          </a:xfrm>
          <a:prstGeom prst="rect">
            <a:avLst/>
          </a:prstGeom>
          <a:solidFill>
            <a:srgbClr val="000000"/>
          </a:solidFill>
          <a:ln w="12700">
            <a:solidFill>
              <a:srgbClr val="000000">
                <a:alpha val="0"/>
              </a:srgbClr>
            </a:solidFill>
            <a:prstDash val="solid"/>
          </a:ln>
        </p:spPr>
      </p:sp>
      <p:sp>
        <p:nvSpPr>
          <p:cNvPr id="265" name="Shape 262"/>
          <p:cNvSpPr/>
          <p:nvPr/>
        </p:nvSpPr>
        <p:spPr>
          <a:xfrm>
            <a:off x="11498072" y="3806952"/>
            <a:ext cx="53289" cy="53289"/>
          </a:xfrm>
          <a:prstGeom prst="rect">
            <a:avLst/>
          </a:prstGeom>
          <a:solidFill>
            <a:srgbClr val="000000"/>
          </a:solidFill>
          <a:ln w="12700">
            <a:solidFill>
              <a:srgbClr val="000000">
                <a:alpha val="0"/>
              </a:srgbClr>
            </a:solidFill>
            <a:prstDash val="solid"/>
          </a:ln>
        </p:spPr>
      </p:sp>
      <p:sp>
        <p:nvSpPr>
          <p:cNvPr id="266" name="Shape 263"/>
          <p:cNvSpPr/>
          <p:nvPr/>
        </p:nvSpPr>
        <p:spPr>
          <a:xfrm>
            <a:off x="11656568" y="3806952"/>
            <a:ext cx="106121" cy="53289"/>
          </a:xfrm>
          <a:prstGeom prst="rect">
            <a:avLst/>
          </a:prstGeom>
          <a:solidFill>
            <a:srgbClr val="000000"/>
          </a:solidFill>
          <a:ln w="12700">
            <a:solidFill>
              <a:srgbClr val="000000">
                <a:alpha val="0"/>
              </a:srgbClr>
            </a:solidFill>
            <a:prstDash val="solid"/>
          </a:ln>
        </p:spPr>
      </p:sp>
      <p:sp>
        <p:nvSpPr>
          <p:cNvPr id="267" name="Shape 264"/>
          <p:cNvSpPr/>
          <p:nvPr/>
        </p:nvSpPr>
        <p:spPr>
          <a:xfrm>
            <a:off x="11867896" y="3806952"/>
            <a:ext cx="53289" cy="53289"/>
          </a:xfrm>
          <a:prstGeom prst="rect">
            <a:avLst/>
          </a:prstGeom>
          <a:solidFill>
            <a:srgbClr val="000000"/>
          </a:solidFill>
          <a:ln w="12700">
            <a:solidFill>
              <a:srgbClr val="000000">
                <a:alpha val="0"/>
              </a:srgbClr>
            </a:solidFill>
            <a:prstDash val="solid"/>
          </a:ln>
        </p:spPr>
      </p:sp>
      <p:sp>
        <p:nvSpPr>
          <p:cNvPr id="268" name="Shape 265"/>
          <p:cNvSpPr/>
          <p:nvPr/>
        </p:nvSpPr>
        <p:spPr>
          <a:xfrm>
            <a:off x="11973560" y="3806952"/>
            <a:ext cx="106121" cy="53289"/>
          </a:xfrm>
          <a:prstGeom prst="rect">
            <a:avLst/>
          </a:prstGeom>
          <a:solidFill>
            <a:srgbClr val="000000"/>
          </a:solidFill>
          <a:ln w="12700">
            <a:solidFill>
              <a:srgbClr val="000000">
                <a:alpha val="0"/>
              </a:srgbClr>
            </a:solidFill>
            <a:prstDash val="solid"/>
          </a:ln>
        </p:spPr>
      </p:sp>
      <p:sp>
        <p:nvSpPr>
          <p:cNvPr id="269" name="Shape 266"/>
          <p:cNvSpPr/>
          <p:nvPr/>
        </p:nvSpPr>
        <p:spPr>
          <a:xfrm>
            <a:off x="12132056" y="3806952"/>
            <a:ext cx="53289" cy="53289"/>
          </a:xfrm>
          <a:prstGeom prst="rect">
            <a:avLst/>
          </a:prstGeom>
          <a:solidFill>
            <a:srgbClr val="000000"/>
          </a:solidFill>
          <a:ln w="12700">
            <a:solidFill>
              <a:srgbClr val="000000">
                <a:alpha val="0"/>
              </a:srgbClr>
            </a:solidFill>
            <a:prstDash val="solid"/>
          </a:ln>
        </p:spPr>
      </p:sp>
      <p:sp>
        <p:nvSpPr>
          <p:cNvPr id="270" name="Shape 267"/>
          <p:cNvSpPr/>
          <p:nvPr/>
        </p:nvSpPr>
        <p:spPr>
          <a:xfrm>
            <a:off x="12237720" y="3806952"/>
            <a:ext cx="158953" cy="53289"/>
          </a:xfrm>
          <a:prstGeom prst="rect">
            <a:avLst/>
          </a:prstGeom>
          <a:solidFill>
            <a:srgbClr val="000000"/>
          </a:solidFill>
          <a:ln w="12700">
            <a:solidFill>
              <a:srgbClr val="000000">
                <a:alpha val="0"/>
              </a:srgbClr>
            </a:solidFill>
            <a:prstDash val="solid"/>
          </a:ln>
        </p:spPr>
      </p:sp>
      <p:sp>
        <p:nvSpPr>
          <p:cNvPr id="271" name="Shape 268"/>
          <p:cNvSpPr/>
          <p:nvPr/>
        </p:nvSpPr>
        <p:spPr>
          <a:xfrm>
            <a:off x="12449048" y="3806952"/>
            <a:ext cx="106121" cy="53289"/>
          </a:xfrm>
          <a:prstGeom prst="rect">
            <a:avLst/>
          </a:prstGeom>
          <a:solidFill>
            <a:srgbClr val="000000"/>
          </a:solidFill>
          <a:ln w="12700">
            <a:solidFill>
              <a:srgbClr val="000000">
                <a:alpha val="0"/>
              </a:srgbClr>
            </a:solidFill>
            <a:prstDash val="solid"/>
          </a:ln>
        </p:spPr>
      </p:sp>
      <p:sp>
        <p:nvSpPr>
          <p:cNvPr id="272" name="Shape 269"/>
          <p:cNvSpPr/>
          <p:nvPr/>
        </p:nvSpPr>
        <p:spPr>
          <a:xfrm>
            <a:off x="12607544" y="3806952"/>
            <a:ext cx="53289" cy="53289"/>
          </a:xfrm>
          <a:prstGeom prst="rect">
            <a:avLst/>
          </a:prstGeom>
          <a:solidFill>
            <a:srgbClr val="000000"/>
          </a:solidFill>
          <a:ln w="12700">
            <a:solidFill>
              <a:srgbClr val="000000">
                <a:alpha val="0"/>
              </a:srgbClr>
            </a:solidFill>
            <a:prstDash val="solid"/>
          </a:ln>
        </p:spPr>
      </p:sp>
      <p:sp>
        <p:nvSpPr>
          <p:cNvPr id="273" name="Shape 270"/>
          <p:cNvSpPr/>
          <p:nvPr/>
        </p:nvSpPr>
        <p:spPr>
          <a:xfrm>
            <a:off x="12713208" y="3806952"/>
            <a:ext cx="106121" cy="53289"/>
          </a:xfrm>
          <a:prstGeom prst="rect">
            <a:avLst/>
          </a:prstGeom>
          <a:solidFill>
            <a:srgbClr val="000000"/>
          </a:solidFill>
          <a:ln w="12700">
            <a:solidFill>
              <a:srgbClr val="000000">
                <a:alpha val="0"/>
              </a:srgbClr>
            </a:solidFill>
            <a:prstDash val="solid"/>
          </a:ln>
        </p:spPr>
      </p:sp>
      <p:sp>
        <p:nvSpPr>
          <p:cNvPr id="274" name="Shape 271"/>
          <p:cNvSpPr/>
          <p:nvPr/>
        </p:nvSpPr>
        <p:spPr>
          <a:xfrm>
            <a:off x="10864088" y="3859784"/>
            <a:ext cx="53289" cy="53289"/>
          </a:xfrm>
          <a:prstGeom prst="rect">
            <a:avLst/>
          </a:prstGeom>
          <a:solidFill>
            <a:srgbClr val="000000"/>
          </a:solidFill>
          <a:ln w="12700">
            <a:solidFill>
              <a:srgbClr val="000000">
                <a:alpha val="0"/>
              </a:srgbClr>
            </a:solidFill>
            <a:prstDash val="solid"/>
          </a:ln>
        </p:spPr>
      </p:sp>
      <p:sp>
        <p:nvSpPr>
          <p:cNvPr id="275" name="Shape 272"/>
          <p:cNvSpPr/>
          <p:nvPr/>
        </p:nvSpPr>
        <p:spPr>
          <a:xfrm>
            <a:off x="11128248" y="3859784"/>
            <a:ext cx="53289" cy="53289"/>
          </a:xfrm>
          <a:prstGeom prst="rect">
            <a:avLst/>
          </a:prstGeom>
          <a:solidFill>
            <a:srgbClr val="000000"/>
          </a:solidFill>
          <a:ln w="12700">
            <a:solidFill>
              <a:srgbClr val="000000">
                <a:alpha val="0"/>
              </a:srgbClr>
            </a:solidFill>
            <a:prstDash val="solid"/>
          </a:ln>
        </p:spPr>
      </p:sp>
      <p:sp>
        <p:nvSpPr>
          <p:cNvPr id="276" name="Shape 273"/>
          <p:cNvSpPr/>
          <p:nvPr/>
        </p:nvSpPr>
        <p:spPr>
          <a:xfrm>
            <a:off x="11233912" y="3859784"/>
            <a:ext cx="53289" cy="53289"/>
          </a:xfrm>
          <a:prstGeom prst="rect">
            <a:avLst/>
          </a:prstGeom>
          <a:solidFill>
            <a:srgbClr val="000000"/>
          </a:solidFill>
          <a:ln w="12700">
            <a:solidFill>
              <a:srgbClr val="000000">
                <a:alpha val="0"/>
              </a:srgbClr>
            </a:solidFill>
            <a:prstDash val="solid"/>
          </a:ln>
        </p:spPr>
      </p:sp>
      <p:sp>
        <p:nvSpPr>
          <p:cNvPr id="277" name="Shape 274"/>
          <p:cNvSpPr/>
          <p:nvPr/>
        </p:nvSpPr>
        <p:spPr>
          <a:xfrm>
            <a:off x="11392408" y="3859784"/>
            <a:ext cx="53289" cy="53289"/>
          </a:xfrm>
          <a:prstGeom prst="rect">
            <a:avLst/>
          </a:prstGeom>
          <a:solidFill>
            <a:srgbClr val="000000"/>
          </a:solidFill>
          <a:ln w="12700">
            <a:solidFill>
              <a:srgbClr val="000000">
                <a:alpha val="0"/>
              </a:srgbClr>
            </a:solidFill>
            <a:prstDash val="solid"/>
          </a:ln>
        </p:spPr>
      </p:sp>
      <p:sp>
        <p:nvSpPr>
          <p:cNvPr id="278" name="Shape 275"/>
          <p:cNvSpPr/>
          <p:nvPr/>
        </p:nvSpPr>
        <p:spPr>
          <a:xfrm>
            <a:off x="11603736" y="3859784"/>
            <a:ext cx="106121" cy="53289"/>
          </a:xfrm>
          <a:prstGeom prst="rect">
            <a:avLst/>
          </a:prstGeom>
          <a:solidFill>
            <a:srgbClr val="000000"/>
          </a:solidFill>
          <a:ln w="12700">
            <a:solidFill>
              <a:srgbClr val="000000">
                <a:alpha val="0"/>
              </a:srgbClr>
            </a:solidFill>
            <a:prstDash val="solid"/>
          </a:ln>
        </p:spPr>
      </p:sp>
      <p:sp>
        <p:nvSpPr>
          <p:cNvPr id="279" name="Shape 276"/>
          <p:cNvSpPr/>
          <p:nvPr/>
        </p:nvSpPr>
        <p:spPr>
          <a:xfrm>
            <a:off x="11867896" y="3859784"/>
            <a:ext cx="211785" cy="53289"/>
          </a:xfrm>
          <a:prstGeom prst="rect">
            <a:avLst/>
          </a:prstGeom>
          <a:solidFill>
            <a:srgbClr val="000000"/>
          </a:solidFill>
          <a:ln w="12700">
            <a:solidFill>
              <a:srgbClr val="000000">
                <a:alpha val="0"/>
              </a:srgbClr>
            </a:solidFill>
            <a:prstDash val="solid"/>
          </a:ln>
        </p:spPr>
      </p:sp>
      <p:sp>
        <p:nvSpPr>
          <p:cNvPr id="280" name="Shape 277"/>
          <p:cNvSpPr/>
          <p:nvPr/>
        </p:nvSpPr>
        <p:spPr>
          <a:xfrm>
            <a:off x="12237720" y="3859784"/>
            <a:ext cx="158953" cy="53289"/>
          </a:xfrm>
          <a:prstGeom prst="rect">
            <a:avLst/>
          </a:prstGeom>
          <a:solidFill>
            <a:srgbClr val="000000"/>
          </a:solidFill>
          <a:ln w="12700">
            <a:solidFill>
              <a:srgbClr val="000000">
                <a:alpha val="0"/>
              </a:srgbClr>
            </a:solidFill>
            <a:prstDash val="solid"/>
          </a:ln>
        </p:spPr>
      </p:sp>
      <p:sp>
        <p:nvSpPr>
          <p:cNvPr id="281" name="Shape 278"/>
          <p:cNvSpPr/>
          <p:nvPr/>
        </p:nvSpPr>
        <p:spPr>
          <a:xfrm>
            <a:off x="12766040" y="3859784"/>
            <a:ext cx="53289" cy="53289"/>
          </a:xfrm>
          <a:prstGeom prst="rect">
            <a:avLst/>
          </a:prstGeom>
          <a:solidFill>
            <a:srgbClr val="000000"/>
          </a:solidFill>
          <a:ln w="12700">
            <a:solidFill>
              <a:srgbClr val="000000">
                <a:alpha val="0"/>
              </a:srgbClr>
            </a:solidFill>
            <a:prstDash val="solid"/>
          </a:ln>
        </p:spPr>
      </p:sp>
      <p:sp>
        <p:nvSpPr>
          <p:cNvPr id="282" name="Shape 279"/>
          <p:cNvSpPr/>
          <p:nvPr/>
        </p:nvSpPr>
        <p:spPr>
          <a:xfrm>
            <a:off x="10864088" y="3912616"/>
            <a:ext cx="53289" cy="53289"/>
          </a:xfrm>
          <a:prstGeom prst="rect">
            <a:avLst/>
          </a:prstGeom>
          <a:solidFill>
            <a:srgbClr val="000000"/>
          </a:solidFill>
          <a:ln w="12700">
            <a:solidFill>
              <a:srgbClr val="000000">
                <a:alpha val="0"/>
              </a:srgbClr>
            </a:solidFill>
            <a:prstDash val="solid"/>
          </a:ln>
        </p:spPr>
      </p:sp>
      <p:sp>
        <p:nvSpPr>
          <p:cNvPr id="283" name="Shape 280"/>
          <p:cNvSpPr/>
          <p:nvPr/>
        </p:nvSpPr>
        <p:spPr>
          <a:xfrm>
            <a:off x="11022584" y="3912616"/>
            <a:ext cx="53289" cy="53289"/>
          </a:xfrm>
          <a:prstGeom prst="rect">
            <a:avLst/>
          </a:prstGeom>
          <a:solidFill>
            <a:srgbClr val="000000"/>
          </a:solidFill>
          <a:ln w="12700">
            <a:solidFill>
              <a:srgbClr val="000000">
                <a:alpha val="0"/>
              </a:srgbClr>
            </a:solidFill>
            <a:prstDash val="solid"/>
          </a:ln>
        </p:spPr>
      </p:sp>
      <p:sp>
        <p:nvSpPr>
          <p:cNvPr id="284" name="Shape 281"/>
          <p:cNvSpPr/>
          <p:nvPr/>
        </p:nvSpPr>
        <p:spPr>
          <a:xfrm>
            <a:off x="11128248" y="3912616"/>
            <a:ext cx="106121" cy="53289"/>
          </a:xfrm>
          <a:prstGeom prst="rect">
            <a:avLst/>
          </a:prstGeom>
          <a:solidFill>
            <a:srgbClr val="000000"/>
          </a:solidFill>
          <a:ln w="12700">
            <a:solidFill>
              <a:srgbClr val="000000">
                <a:alpha val="0"/>
              </a:srgbClr>
            </a:solidFill>
            <a:prstDash val="solid"/>
          </a:ln>
        </p:spPr>
      </p:sp>
      <p:sp>
        <p:nvSpPr>
          <p:cNvPr id="285" name="Shape 282"/>
          <p:cNvSpPr/>
          <p:nvPr/>
        </p:nvSpPr>
        <p:spPr>
          <a:xfrm>
            <a:off x="11286744" y="3912616"/>
            <a:ext cx="53289" cy="53289"/>
          </a:xfrm>
          <a:prstGeom prst="rect">
            <a:avLst/>
          </a:prstGeom>
          <a:solidFill>
            <a:srgbClr val="000000"/>
          </a:solidFill>
          <a:ln w="12700">
            <a:solidFill>
              <a:srgbClr val="000000">
                <a:alpha val="0"/>
              </a:srgbClr>
            </a:solidFill>
            <a:prstDash val="solid"/>
          </a:ln>
        </p:spPr>
      </p:sp>
      <p:sp>
        <p:nvSpPr>
          <p:cNvPr id="286" name="Shape 283"/>
          <p:cNvSpPr/>
          <p:nvPr/>
        </p:nvSpPr>
        <p:spPr>
          <a:xfrm>
            <a:off x="11498072" y="3912616"/>
            <a:ext cx="53289" cy="53289"/>
          </a:xfrm>
          <a:prstGeom prst="rect">
            <a:avLst/>
          </a:prstGeom>
          <a:solidFill>
            <a:srgbClr val="000000"/>
          </a:solidFill>
          <a:ln w="12700">
            <a:solidFill>
              <a:srgbClr val="000000">
                <a:alpha val="0"/>
              </a:srgbClr>
            </a:solidFill>
            <a:prstDash val="solid"/>
          </a:ln>
        </p:spPr>
      </p:sp>
      <p:sp>
        <p:nvSpPr>
          <p:cNvPr id="287" name="Shape 284"/>
          <p:cNvSpPr/>
          <p:nvPr/>
        </p:nvSpPr>
        <p:spPr>
          <a:xfrm>
            <a:off x="11656568" y="3912616"/>
            <a:ext cx="158953" cy="53289"/>
          </a:xfrm>
          <a:prstGeom prst="rect">
            <a:avLst/>
          </a:prstGeom>
          <a:solidFill>
            <a:srgbClr val="000000"/>
          </a:solidFill>
          <a:ln w="12700">
            <a:solidFill>
              <a:srgbClr val="000000">
                <a:alpha val="0"/>
              </a:srgbClr>
            </a:solidFill>
            <a:prstDash val="solid"/>
          </a:ln>
        </p:spPr>
      </p:sp>
      <p:sp>
        <p:nvSpPr>
          <p:cNvPr id="288" name="Shape 285"/>
          <p:cNvSpPr/>
          <p:nvPr/>
        </p:nvSpPr>
        <p:spPr>
          <a:xfrm>
            <a:off x="11867896" y="3912616"/>
            <a:ext cx="53289" cy="53289"/>
          </a:xfrm>
          <a:prstGeom prst="rect">
            <a:avLst/>
          </a:prstGeom>
          <a:solidFill>
            <a:srgbClr val="000000"/>
          </a:solidFill>
          <a:ln w="12700">
            <a:solidFill>
              <a:srgbClr val="000000">
                <a:alpha val="0"/>
              </a:srgbClr>
            </a:solidFill>
            <a:prstDash val="solid"/>
          </a:ln>
        </p:spPr>
      </p:sp>
      <p:sp>
        <p:nvSpPr>
          <p:cNvPr id="289" name="Shape 286"/>
          <p:cNvSpPr/>
          <p:nvPr/>
        </p:nvSpPr>
        <p:spPr>
          <a:xfrm>
            <a:off x="12026392" y="3912616"/>
            <a:ext cx="106121" cy="53289"/>
          </a:xfrm>
          <a:prstGeom prst="rect">
            <a:avLst/>
          </a:prstGeom>
          <a:solidFill>
            <a:srgbClr val="000000"/>
          </a:solidFill>
          <a:ln w="12700">
            <a:solidFill>
              <a:srgbClr val="000000">
                <a:alpha val="0"/>
              </a:srgbClr>
            </a:solidFill>
            <a:prstDash val="solid"/>
          </a:ln>
        </p:spPr>
      </p:sp>
      <p:sp>
        <p:nvSpPr>
          <p:cNvPr id="290" name="Shape 287"/>
          <p:cNvSpPr/>
          <p:nvPr/>
        </p:nvSpPr>
        <p:spPr>
          <a:xfrm>
            <a:off x="12184888" y="3912616"/>
            <a:ext cx="106121" cy="53289"/>
          </a:xfrm>
          <a:prstGeom prst="rect">
            <a:avLst/>
          </a:prstGeom>
          <a:solidFill>
            <a:srgbClr val="000000"/>
          </a:solidFill>
          <a:ln w="12700">
            <a:solidFill>
              <a:srgbClr val="000000">
                <a:alpha val="0"/>
              </a:srgbClr>
            </a:solidFill>
            <a:prstDash val="solid"/>
          </a:ln>
        </p:spPr>
      </p:sp>
      <p:sp>
        <p:nvSpPr>
          <p:cNvPr id="291" name="Shape 288"/>
          <p:cNvSpPr/>
          <p:nvPr/>
        </p:nvSpPr>
        <p:spPr>
          <a:xfrm>
            <a:off x="12343384" y="3912616"/>
            <a:ext cx="370281" cy="53289"/>
          </a:xfrm>
          <a:prstGeom prst="rect">
            <a:avLst/>
          </a:prstGeom>
          <a:solidFill>
            <a:srgbClr val="000000"/>
          </a:solidFill>
          <a:ln w="12700">
            <a:solidFill>
              <a:srgbClr val="000000">
                <a:alpha val="0"/>
              </a:srgbClr>
            </a:solidFill>
            <a:prstDash val="solid"/>
          </a:ln>
        </p:spPr>
      </p:sp>
      <p:sp>
        <p:nvSpPr>
          <p:cNvPr id="292" name="Shape 289"/>
          <p:cNvSpPr/>
          <p:nvPr/>
        </p:nvSpPr>
        <p:spPr>
          <a:xfrm>
            <a:off x="12766040" y="3912616"/>
            <a:ext cx="53289" cy="53289"/>
          </a:xfrm>
          <a:prstGeom prst="rect">
            <a:avLst/>
          </a:prstGeom>
          <a:solidFill>
            <a:srgbClr val="000000"/>
          </a:solidFill>
          <a:ln w="12700">
            <a:solidFill>
              <a:srgbClr val="000000">
                <a:alpha val="0"/>
              </a:srgbClr>
            </a:solidFill>
            <a:prstDash val="solid"/>
          </a:ln>
        </p:spPr>
      </p:sp>
      <p:sp>
        <p:nvSpPr>
          <p:cNvPr id="293" name="Shape 290"/>
          <p:cNvSpPr/>
          <p:nvPr/>
        </p:nvSpPr>
        <p:spPr>
          <a:xfrm>
            <a:off x="11286744" y="3965448"/>
            <a:ext cx="53289" cy="53289"/>
          </a:xfrm>
          <a:prstGeom prst="rect">
            <a:avLst/>
          </a:prstGeom>
          <a:solidFill>
            <a:srgbClr val="000000"/>
          </a:solidFill>
          <a:ln w="12700">
            <a:solidFill>
              <a:srgbClr val="000000">
                <a:alpha val="0"/>
              </a:srgbClr>
            </a:solidFill>
            <a:prstDash val="solid"/>
          </a:ln>
        </p:spPr>
      </p:sp>
      <p:sp>
        <p:nvSpPr>
          <p:cNvPr id="294" name="Shape 291"/>
          <p:cNvSpPr/>
          <p:nvPr/>
        </p:nvSpPr>
        <p:spPr>
          <a:xfrm>
            <a:off x="11498072" y="3965448"/>
            <a:ext cx="158953" cy="53289"/>
          </a:xfrm>
          <a:prstGeom prst="rect">
            <a:avLst/>
          </a:prstGeom>
          <a:solidFill>
            <a:srgbClr val="000000"/>
          </a:solidFill>
          <a:ln w="12700">
            <a:solidFill>
              <a:srgbClr val="000000">
                <a:alpha val="0"/>
              </a:srgbClr>
            </a:solidFill>
            <a:prstDash val="solid"/>
          </a:ln>
        </p:spPr>
      </p:sp>
      <p:sp>
        <p:nvSpPr>
          <p:cNvPr id="295" name="Shape 292"/>
          <p:cNvSpPr/>
          <p:nvPr/>
        </p:nvSpPr>
        <p:spPr>
          <a:xfrm>
            <a:off x="11709400" y="3965448"/>
            <a:ext cx="53289" cy="53289"/>
          </a:xfrm>
          <a:prstGeom prst="rect">
            <a:avLst/>
          </a:prstGeom>
          <a:solidFill>
            <a:srgbClr val="000000"/>
          </a:solidFill>
          <a:ln w="12700">
            <a:solidFill>
              <a:srgbClr val="000000">
                <a:alpha val="0"/>
              </a:srgbClr>
            </a:solidFill>
            <a:prstDash val="solid"/>
          </a:ln>
        </p:spPr>
      </p:sp>
      <p:sp>
        <p:nvSpPr>
          <p:cNvPr id="296" name="Shape 293"/>
          <p:cNvSpPr/>
          <p:nvPr/>
        </p:nvSpPr>
        <p:spPr>
          <a:xfrm>
            <a:off x="11815064" y="3965448"/>
            <a:ext cx="158953" cy="53289"/>
          </a:xfrm>
          <a:prstGeom prst="rect">
            <a:avLst/>
          </a:prstGeom>
          <a:solidFill>
            <a:srgbClr val="000000"/>
          </a:solidFill>
          <a:ln w="12700">
            <a:solidFill>
              <a:srgbClr val="000000">
                <a:alpha val="0"/>
              </a:srgbClr>
            </a:solidFill>
            <a:prstDash val="solid"/>
          </a:ln>
        </p:spPr>
      </p:sp>
      <p:sp>
        <p:nvSpPr>
          <p:cNvPr id="297" name="Shape 294"/>
          <p:cNvSpPr/>
          <p:nvPr/>
        </p:nvSpPr>
        <p:spPr>
          <a:xfrm>
            <a:off x="12079224" y="3965448"/>
            <a:ext cx="53289" cy="53289"/>
          </a:xfrm>
          <a:prstGeom prst="rect">
            <a:avLst/>
          </a:prstGeom>
          <a:solidFill>
            <a:srgbClr val="000000"/>
          </a:solidFill>
          <a:ln w="12700">
            <a:solidFill>
              <a:srgbClr val="000000">
                <a:alpha val="0"/>
              </a:srgbClr>
            </a:solidFill>
            <a:prstDash val="solid"/>
          </a:ln>
        </p:spPr>
      </p:sp>
      <p:sp>
        <p:nvSpPr>
          <p:cNvPr id="298" name="Shape 295"/>
          <p:cNvSpPr/>
          <p:nvPr/>
        </p:nvSpPr>
        <p:spPr>
          <a:xfrm>
            <a:off x="12343384" y="3965448"/>
            <a:ext cx="53289" cy="53289"/>
          </a:xfrm>
          <a:prstGeom prst="rect">
            <a:avLst/>
          </a:prstGeom>
          <a:solidFill>
            <a:srgbClr val="000000"/>
          </a:solidFill>
          <a:ln w="12700">
            <a:solidFill>
              <a:srgbClr val="000000">
                <a:alpha val="0"/>
              </a:srgbClr>
            </a:solidFill>
            <a:prstDash val="solid"/>
          </a:ln>
        </p:spPr>
      </p:sp>
      <p:sp>
        <p:nvSpPr>
          <p:cNvPr id="299" name="Shape 296"/>
          <p:cNvSpPr/>
          <p:nvPr/>
        </p:nvSpPr>
        <p:spPr>
          <a:xfrm>
            <a:off x="12554712" y="3965448"/>
            <a:ext cx="106121" cy="53289"/>
          </a:xfrm>
          <a:prstGeom prst="rect">
            <a:avLst/>
          </a:prstGeom>
          <a:solidFill>
            <a:srgbClr val="000000"/>
          </a:solidFill>
          <a:ln w="12700">
            <a:solidFill>
              <a:srgbClr val="000000">
                <a:alpha val="0"/>
              </a:srgbClr>
            </a:solidFill>
            <a:prstDash val="solid"/>
          </a:ln>
        </p:spPr>
      </p:sp>
      <p:sp>
        <p:nvSpPr>
          <p:cNvPr id="300" name="Shape 297"/>
          <p:cNvSpPr/>
          <p:nvPr/>
        </p:nvSpPr>
        <p:spPr>
          <a:xfrm>
            <a:off x="10864088" y="4018280"/>
            <a:ext cx="370281" cy="53289"/>
          </a:xfrm>
          <a:prstGeom prst="rect">
            <a:avLst/>
          </a:prstGeom>
          <a:solidFill>
            <a:srgbClr val="000000"/>
          </a:solidFill>
          <a:ln w="12700">
            <a:solidFill>
              <a:srgbClr val="000000">
                <a:alpha val="0"/>
              </a:srgbClr>
            </a:solidFill>
            <a:prstDash val="solid"/>
          </a:ln>
        </p:spPr>
      </p:sp>
      <p:sp>
        <p:nvSpPr>
          <p:cNvPr id="301" name="Shape 298"/>
          <p:cNvSpPr/>
          <p:nvPr/>
        </p:nvSpPr>
        <p:spPr>
          <a:xfrm>
            <a:off x="11339576" y="4018280"/>
            <a:ext cx="158953" cy="53289"/>
          </a:xfrm>
          <a:prstGeom prst="rect">
            <a:avLst/>
          </a:prstGeom>
          <a:solidFill>
            <a:srgbClr val="000000"/>
          </a:solidFill>
          <a:ln w="12700">
            <a:solidFill>
              <a:srgbClr val="000000">
                <a:alpha val="0"/>
              </a:srgbClr>
            </a:solidFill>
            <a:prstDash val="solid"/>
          </a:ln>
        </p:spPr>
      </p:sp>
      <p:sp>
        <p:nvSpPr>
          <p:cNvPr id="302" name="Shape 299"/>
          <p:cNvSpPr/>
          <p:nvPr/>
        </p:nvSpPr>
        <p:spPr>
          <a:xfrm>
            <a:off x="11656568" y="4018280"/>
            <a:ext cx="106121" cy="53289"/>
          </a:xfrm>
          <a:prstGeom prst="rect">
            <a:avLst/>
          </a:prstGeom>
          <a:solidFill>
            <a:srgbClr val="000000"/>
          </a:solidFill>
          <a:ln w="12700">
            <a:solidFill>
              <a:srgbClr val="000000">
                <a:alpha val="0"/>
              </a:srgbClr>
            </a:solidFill>
            <a:prstDash val="solid"/>
          </a:ln>
        </p:spPr>
      </p:sp>
      <p:sp>
        <p:nvSpPr>
          <p:cNvPr id="303" name="Shape 300"/>
          <p:cNvSpPr/>
          <p:nvPr/>
        </p:nvSpPr>
        <p:spPr>
          <a:xfrm>
            <a:off x="11815064" y="4018280"/>
            <a:ext cx="53289" cy="53289"/>
          </a:xfrm>
          <a:prstGeom prst="rect">
            <a:avLst/>
          </a:prstGeom>
          <a:solidFill>
            <a:srgbClr val="000000"/>
          </a:solidFill>
          <a:ln w="12700">
            <a:solidFill>
              <a:srgbClr val="000000">
                <a:alpha val="0"/>
              </a:srgbClr>
            </a:solidFill>
            <a:prstDash val="solid"/>
          </a:ln>
        </p:spPr>
      </p:sp>
      <p:sp>
        <p:nvSpPr>
          <p:cNvPr id="304" name="Shape 301"/>
          <p:cNvSpPr/>
          <p:nvPr/>
        </p:nvSpPr>
        <p:spPr>
          <a:xfrm>
            <a:off x="12026392" y="4018280"/>
            <a:ext cx="53289" cy="53289"/>
          </a:xfrm>
          <a:prstGeom prst="rect">
            <a:avLst/>
          </a:prstGeom>
          <a:solidFill>
            <a:srgbClr val="000000"/>
          </a:solidFill>
          <a:ln w="12700">
            <a:solidFill>
              <a:srgbClr val="000000">
                <a:alpha val="0"/>
              </a:srgbClr>
            </a:solidFill>
            <a:prstDash val="solid"/>
          </a:ln>
        </p:spPr>
      </p:sp>
      <p:sp>
        <p:nvSpPr>
          <p:cNvPr id="305" name="Shape 302"/>
          <p:cNvSpPr/>
          <p:nvPr/>
        </p:nvSpPr>
        <p:spPr>
          <a:xfrm>
            <a:off x="12237720" y="4018280"/>
            <a:ext cx="53289" cy="53289"/>
          </a:xfrm>
          <a:prstGeom prst="rect">
            <a:avLst/>
          </a:prstGeom>
          <a:solidFill>
            <a:srgbClr val="000000"/>
          </a:solidFill>
          <a:ln w="12700">
            <a:solidFill>
              <a:srgbClr val="000000">
                <a:alpha val="0"/>
              </a:srgbClr>
            </a:solidFill>
            <a:prstDash val="solid"/>
          </a:ln>
        </p:spPr>
      </p:sp>
      <p:sp>
        <p:nvSpPr>
          <p:cNvPr id="306" name="Shape 303"/>
          <p:cNvSpPr/>
          <p:nvPr/>
        </p:nvSpPr>
        <p:spPr>
          <a:xfrm>
            <a:off x="12343384" y="4018280"/>
            <a:ext cx="53289" cy="53289"/>
          </a:xfrm>
          <a:prstGeom prst="rect">
            <a:avLst/>
          </a:prstGeom>
          <a:solidFill>
            <a:srgbClr val="000000"/>
          </a:solidFill>
          <a:ln w="12700">
            <a:solidFill>
              <a:srgbClr val="000000">
                <a:alpha val="0"/>
              </a:srgbClr>
            </a:solidFill>
            <a:prstDash val="solid"/>
          </a:ln>
        </p:spPr>
      </p:sp>
      <p:sp>
        <p:nvSpPr>
          <p:cNvPr id="307" name="Shape 304"/>
          <p:cNvSpPr/>
          <p:nvPr/>
        </p:nvSpPr>
        <p:spPr>
          <a:xfrm>
            <a:off x="12449048" y="4018280"/>
            <a:ext cx="53289" cy="53289"/>
          </a:xfrm>
          <a:prstGeom prst="rect">
            <a:avLst/>
          </a:prstGeom>
          <a:solidFill>
            <a:srgbClr val="000000"/>
          </a:solidFill>
          <a:ln w="12700">
            <a:solidFill>
              <a:srgbClr val="000000">
                <a:alpha val="0"/>
              </a:srgbClr>
            </a:solidFill>
            <a:prstDash val="solid"/>
          </a:ln>
        </p:spPr>
      </p:sp>
      <p:sp>
        <p:nvSpPr>
          <p:cNvPr id="308" name="Shape 305"/>
          <p:cNvSpPr/>
          <p:nvPr/>
        </p:nvSpPr>
        <p:spPr>
          <a:xfrm>
            <a:off x="12554712" y="4018280"/>
            <a:ext cx="53289" cy="53289"/>
          </a:xfrm>
          <a:prstGeom prst="rect">
            <a:avLst/>
          </a:prstGeom>
          <a:solidFill>
            <a:srgbClr val="000000"/>
          </a:solidFill>
          <a:ln w="12700">
            <a:solidFill>
              <a:srgbClr val="000000">
                <a:alpha val="0"/>
              </a:srgbClr>
            </a:solidFill>
            <a:prstDash val="solid"/>
          </a:ln>
        </p:spPr>
      </p:sp>
      <p:sp>
        <p:nvSpPr>
          <p:cNvPr id="309" name="Shape 306"/>
          <p:cNvSpPr/>
          <p:nvPr/>
        </p:nvSpPr>
        <p:spPr>
          <a:xfrm>
            <a:off x="12660376" y="4018280"/>
            <a:ext cx="158953" cy="53289"/>
          </a:xfrm>
          <a:prstGeom prst="rect">
            <a:avLst/>
          </a:prstGeom>
          <a:solidFill>
            <a:srgbClr val="000000"/>
          </a:solidFill>
          <a:ln w="12700">
            <a:solidFill>
              <a:srgbClr val="000000">
                <a:alpha val="0"/>
              </a:srgbClr>
            </a:solidFill>
            <a:prstDash val="solid"/>
          </a:ln>
        </p:spPr>
      </p:sp>
      <p:sp>
        <p:nvSpPr>
          <p:cNvPr id="310" name="Shape 307"/>
          <p:cNvSpPr/>
          <p:nvPr/>
        </p:nvSpPr>
        <p:spPr>
          <a:xfrm>
            <a:off x="10864088" y="4071112"/>
            <a:ext cx="53289" cy="53289"/>
          </a:xfrm>
          <a:prstGeom prst="rect">
            <a:avLst/>
          </a:prstGeom>
          <a:solidFill>
            <a:srgbClr val="000000"/>
          </a:solidFill>
          <a:ln w="12700">
            <a:solidFill>
              <a:srgbClr val="000000">
                <a:alpha val="0"/>
              </a:srgbClr>
            </a:solidFill>
            <a:prstDash val="solid"/>
          </a:ln>
        </p:spPr>
      </p:sp>
      <p:sp>
        <p:nvSpPr>
          <p:cNvPr id="311" name="Shape 308"/>
          <p:cNvSpPr/>
          <p:nvPr/>
        </p:nvSpPr>
        <p:spPr>
          <a:xfrm>
            <a:off x="11181080" y="4071112"/>
            <a:ext cx="53289" cy="53289"/>
          </a:xfrm>
          <a:prstGeom prst="rect">
            <a:avLst/>
          </a:prstGeom>
          <a:solidFill>
            <a:srgbClr val="000000"/>
          </a:solidFill>
          <a:ln w="12700">
            <a:solidFill>
              <a:srgbClr val="000000">
                <a:alpha val="0"/>
              </a:srgbClr>
            </a:solidFill>
            <a:prstDash val="solid"/>
          </a:ln>
        </p:spPr>
      </p:sp>
      <p:sp>
        <p:nvSpPr>
          <p:cNvPr id="312" name="Shape 309"/>
          <p:cNvSpPr/>
          <p:nvPr/>
        </p:nvSpPr>
        <p:spPr>
          <a:xfrm>
            <a:off x="11286744" y="4071112"/>
            <a:ext cx="106121" cy="53289"/>
          </a:xfrm>
          <a:prstGeom prst="rect">
            <a:avLst/>
          </a:prstGeom>
          <a:solidFill>
            <a:srgbClr val="000000"/>
          </a:solidFill>
          <a:ln w="12700">
            <a:solidFill>
              <a:srgbClr val="000000">
                <a:alpha val="0"/>
              </a:srgbClr>
            </a:solidFill>
            <a:prstDash val="solid"/>
          </a:ln>
        </p:spPr>
      </p:sp>
      <p:sp>
        <p:nvSpPr>
          <p:cNvPr id="313" name="Shape 310"/>
          <p:cNvSpPr/>
          <p:nvPr/>
        </p:nvSpPr>
        <p:spPr>
          <a:xfrm>
            <a:off x="11498072" y="4071112"/>
            <a:ext cx="53289" cy="53289"/>
          </a:xfrm>
          <a:prstGeom prst="rect">
            <a:avLst/>
          </a:prstGeom>
          <a:solidFill>
            <a:srgbClr val="000000"/>
          </a:solidFill>
          <a:ln w="12700">
            <a:solidFill>
              <a:srgbClr val="000000">
                <a:alpha val="0"/>
              </a:srgbClr>
            </a:solidFill>
            <a:prstDash val="solid"/>
          </a:ln>
        </p:spPr>
      </p:sp>
      <p:sp>
        <p:nvSpPr>
          <p:cNvPr id="314" name="Shape 311"/>
          <p:cNvSpPr/>
          <p:nvPr/>
        </p:nvSpPr>
        <p:spPr>
          <a:xfrm>
            <a:off x="11709400" y="4071112"/>
            <a:ext cx="53289" cy="53289"/>
          </a:xfrm>
          <a:prstGeom prst="rect">
            <a:avLst/>
          </a:prstGeom>
          <a:solidFill>
            <a:srgbClr val="000000"/>
          </a:solidFill>
          <a:ln w="12700">
            <a:solidFill>
              <a:srgbClr val="000000">
                <a:alpha val="0"/>
              </a:srgbClr>
            </a:solidFill>
            <a:prstDash val="solid"/>
          </a:ln>
        </p:spPr>
      </p:sp>
      <p:sp>
        <p:nvSpPr>
          <p:cNvPr id="315" name="Shape 312"/>
          <p:cNvSpPr/>
          <p:nvPr/>
        </p:nvSpPr>
        <p:spPr>
          <a:xfrm>
            <a:off x="11867896" y="4071112"/>
            <a:ext cx="106121" cy="53289"/>
          </a:xfrm>
          <a:prstGeom prst="rect">
            <a:avLst/>
          </a:prstGeom>
          <a:solidFill>
            <a:srgbClr val="000000"/>
          </a:solidFill>
          <a:ln w="12700">
            <a:solidFill>
              <a:srgbClr val="000000">
                <a:alpha val="0"/>
              </a:srgbClr>
            </a:solidFill>
            <a:prstDash val="solid"/>
          </a:ln>
        </p:spPr>
      </p:sp>
      <p:sp>
        <p:nvSpPr>
          <p:cNvPr id="316" name="Shape 313"/>
          <p:cNvSpPr/>
          <p:nvPr/>
        </p:nvSpPr>
        <p:spPr>
          <a:xfrm>
            <a:off x="12079224" y="4071112"/>
            <a:ext cx="53289" cy="53289"/>
          </a:xfrm>
          <a:prstGeom prst="rect">
            <a:avLst/>
          </a:prstGeom>
          <a:solidFill>
            <a:srgbClr val="000000"/>
          </a:solidFill>
          <a:ln w="12700">
            <a:solidFill>
              <a:srgbClr val="000000">
                <a:alpha val="0"/>
              </a:srgbClr>
            </a:solidFill>
            <a:prstDash val="solid"/>
          </a:ln>
        </p:spPr>
      </p:sp>
      <p:sp>
        <p:nvSpPr>
          <p:cNvPr id="317" name="Shape 314"/>
          <p:cNvSpPr/>
          <p:nvPr/>
        </p:nvSpPr>
        <p:spPr>
          <a:xfrm>
            <a:off x="12343384" y="4071112"/>
            <a:ext cx="53289" cy="53289"/>
          </a:xfrm>
          <a:prstGeom prst="rect">
            <a:avLst/>
          </a:prstGeom>
          <a:solidFill>
            <a:srgbClr val="000000"/>
          </a:solidFill>
          <a:ln w="12700">
            <a:solidFill>
              <a:srgbClr val="000000">
                <a:alpha val="0"/>
              </a:srgbClr>
            </a:solidFill>
            <a:prstDash val="solid"/>
          </a:ln>
        </p:spPr>
      </p:sp>
      <p:sp>
        <p:nvSpPr>
          <p:cNvPr id="318" name="Shape 315"/>
          <p:cNvSpPr/>
          <p:nvPr/>
        </p:nvSpPr>
        <p:spPr>
          <a:xfrm>
            <a:off x="12554712" y="4071112"/>
            <a:ext cx="106121" cy="53289"/>
          </a:xfrm>
          <a:prstGeom prst="rect">
            <a:avLst/>
          </a:prstGeom>
          <a:solidFill>
            <a:srgbClr val="000000"/>
          </a:solidFill>
          <a:ln w="12700">
            <a:solidFill>
              <a:srgbClr val="000000">
                <a:alpha val="0"/>
              </a:srgbClr>
            </a:solidFill>
            <a:prstDash val="solid"/>
          </a:ln>
        </p:spPr>
      </p:sp>
      <p:sp>
        <p:nvSpPr>
          <p:cNvPr id="319" name="Shape 316"/>
          <p:cNvSpPr/>
          <p:nvPr/>
        </p:nvSpPr>
        <p:spPr>
          <a:xfrm>
            <a:off x="12766040" y="4071112"/>
            <a:ext cx="53289" cy="53289"/>
          </a:xfrm>
          <a:prstGeom prst="rect">
            <a:avLst/>
          </a:prstGeom>
          <a:solidFill>
            <a:srgbClr val="000000"/>
          </a:solidFill>
          <a:ln w="12700">
            <a:solidFill>
              <a:srgbClr val="000000">
                <a:alpha val="0"/>
              </a:srgbClr>
            </a:solidFill>
            <a:prstDash val="solid"/>
          </a:ln>
        </p:spPr>
      </p:sp>
      <p:sp>
        <p:nvSpPr>
          <p:cNvPr id="320" name="Shape 317"/>
          <p:cNvSpPr/>
          <p:nvPr/>
        </p:nvSpPr>
        <p:spPr>
          <a:xfrm>
            <a:off x="10864088" y="4123944"/>
            <a:ext cx="53289" cy="53289"/>
          </a:xfrm>
          <a:prstGeom prst="rect">
            <a:avLst/>
          </a:prstGeom>
          <a:solidFill>
            <a:srgbClr val="000000"/>
          </a:solidFill>
          <a:ln w="12700">
            <a:solidFill>
              <a:srgbClr val="000000">
                <a:alpha val="0"/>
              </a:srgbClr>
            </a:solidFill>
            <a:prstDash val="solid"/>
          </a:ln>
        </p:spPr>
      </p:sp>
      <p:sp>
        <p:nvSpPr>
          <p:cNvPr id="321" name="Shape 318"/>
          <p:cNvSpPr/>
          <p:nvPr/>
        </p:nvSpPr>
        <p:spPr>
          <a:xfrm>
            <a:off x="10969752" y="4123944"/>
            <a:ext cx="158953" cy="53289"/>
          </a:xfrm>
          <a:prstGeom prst="rect">
            <a:avLst/>
          </a:prstGeom>
          <a:solidFill>
            <a:srgbClr val="000000"/>
          </a:solidFill>
          <a:ln w="12700">
            <a:solidFill>
              <a:srgbClr val="000000">
                <a:alpha val="0"/>
              </a:srgbClr>
            </a:solidFill>
            <a:prstDash val="solid"/>
          </a:ln>
        </p:spPr>
      </p:sp>
      <p:sp>
        <p:nvSpPr>
          <p:cNvPr id="322" name="Shape 319"/>
          <p:cNvSpPr/>
          <p:nvPr/>
        </p:nvSpPr>
        <p:spPr>
          <a:xfrm>
            <a:off x="11181080" y="4123944"/>
            <a:ext cx="53289" cy="53289"/>
          </a:xfrm>
          <a:prstGeom prst="rect">
            <a:avLst/>
          </a:prstGeom>
          <a:solidFill>
            <a:srgbClr val="000000"/>
          </a:solidFill>
          <a:ln w="12700">
            <a:solidFill>
              <a:srgbClr val="000000">
                <a:alpha val="0"/>
              </a:srgbClr>
            </a:solidFill>
            <a:prstDash val="solid"/>
          </a:ln>
        </p:spPr>
      </p:sp>
      <p:sp>
        <p:nvSpPr>
          <p:cNvPr id="323" name="Shape 320"/>
          <p:cNvSpPr/>
          <p:nvPr/>
        </p:nvSpPr>
        <p:spPr>
          <a:xfrm>
            <a:off x="11286744" y="4123944"/>
            <a:ext cx="211785" cy="53289"/>
          </a:xfrm>
          <a:prstGeom prst="rect">
            <a:avLst/>
          </a:prstGeom>
          <a:solidFill>
            <a:srgbClr val="000000"/>
          </a:solidFill>
          <a:ln w="12700">
            <a:solidFill>
              <a:srgbClr val="000000">
                <a:alpha val="0"/>
              </a:srgbClr>
            </a:solidFill>
            <a:prstDash val="solid"/>
          </a:ln>
        </p:spPr>
      </p:sp>
      <p:sp>
        <p:nvSpPr>
          <p:cNvPr id="324" name="Shape 321"/>
          <p:cNvSpPr/>
          <p:nvPr/>
        </p:nvSpPr>
        <p:spPr>
          <a:xfrm>
            <a:off x="11656568" y="4123944"/>
            <a:ext cx="53289" cy="53289"/>
          </a:xfrm>
          <a:prstGeom prst="rect">
            <a:avLst/>
          </a:prstGeom>
          <a:solidFill>
            <a:srgbClr val="000000"/>
          </a:solidFill>
          <a:ln w="12700">
            <a:solidFill>
              <a:srgbClr val="000000">
                <a:alpha val="0"/>
              </a:srgbClr>
            </a:solidFill>
            <a:prstDash val="solid"/>
          </a:ln>
        </p:spPr>
      </p:sp>
      <p:sp>
        <p:nvSpPr>
          <p:cNvPr id="325" name="Shape 322"/>
          <p:cNvSpPr/>
          <p:nvPr/>
        </p:nvSpPr>
        <p:spPr>
          <a:xfrm>
            <a:off x="11815064" y="4123944"/>
            <a:ext cx="792937" cy="53289"/>
          </a:xfrm>
          <a:prstGeom prst="rect">
            <a:avLst/>
          </a:prstGeom>
          <a:solidFill>
            <a:srgbClr val="000000"/>
          </a:solidFill>
          <a:ln w="12700">
            <a:solidFill>
              <a:srgbClr val="000000">
                <a:alpha val="0"/>
              </a:srgbClr>
            </a:solidFill>
            <a:prstDash val="solid"/>
          </a:ln>
        </p:spPr>
      </p:sp>
      <p:sp>
        <p:nvSpPr>
          <p:cNvPr id="326" name="Shape 323"/>
          <p:cNvSpPr/>
          <p:nvPr/>
        </p:nvSpPr>
        <p:spPr>
          <a:xfrm>
            <a:off x="12660376" y="4123944"/>
            <a:ext cx="158953" cy="53289"/>
          </a:xfrm>
          <a:prstGeom prst="rect">
            <a:avLst/>
          </a:prstGeom>
          <a:solidFill>
            <a:srgbClr val="000000"/>
          </a:solidFill>
          <a:ln w="12700">
            <a:solidFill>
              <a:srgbClr val="000000">
                <a:alpha val="0"/>
              </a:srgbClr>
            </a:solidFill>
            <a:prstDash val="solid"/>
          </a:ln>
        </p:spPr>
      </p:sp>
      <p:sp>
        <p:nvSpPr>
          <p:cNvPr id="327" name="Shape 324"/>
          <p:cNvSpPr/>
          <p:nvPr/>
        </p:nvSpPr>
        <p:spPr>
          <a:xfrm>
            <a:off x="10864088" y="4176776"/>
            <a:ext cx="53289" cy="53289"/>
          </a:xfrm>
          <a:prstGeom prst="rect">
            <a:avLst/>
          </a:prstGeom>
          <a:solidFill>
            <a:srgbClr val="000000"/>
          </a:solidFill>
          <a:ln w="12700">
            <a:solidFill>
              <a:srgbClr val="000000">
                <a:alpha val="0"/>
              </a:srgbClr>
            </a:solidFill>
            <a:prstDash val="solid"/>
          </a:ln>
        </p:spPr>
      </p:sp>
      <p:sp>
        <p:nvSpPr>
          <p:cNvPr id="328" name="Shape 325"/>
          <p:cNvSpPr/>
          <p:nvPr/>
        </p:nvSpPr>
        <p:spPr>
          <a:xfrm>
            <a:off x="10969752" y="4176776"/>
            <a:ext cx="158953" cy="53289"/>
          </a:xfrm>
          <a:prstGeom prst="rect">
            <a:avLst/>
          </a:prstGeom>
          <a:solidFill>
            <a:srgbClr val="000000"/>
          </a:solidFill>
          <a:ln w="12700">
            <a:solidFill>
              <a:srgbClr val="000000">
                <a:alpha val="0"/>
              </a:srgbClr>
            </a:solidFill>
            <a:prstDash val="solid"/>
          </a:ln>
        </p:spPr>
      </p:sp>
      <p:sp>
        <p:nvSpPr>
          <p:cNvPr id="329" name="Shape 326"/>
          <p:cNvSpPr/>
          <p:nvPr/>
        </p:nvSpPr>
        <p:spPr>
          <a:xfrm>
            <a:off x="11181080" y="4176776"/>
            <a:ext cx="53289" cy="53289"/>
          </a:xfrm>
          <a:prstGeom prst="rect">
            <a:avLst/>
          </a:prstGeom>
          <a:solidFill>
            <a:srgbClr val="000000"/>
          </a:solidFill>
          <a:ln w="12700">
            <a:solidFill>
              <a:srgbClr val="000000">
                <a:alpha val="0"/>
              </a:srgbClr>
            </a:solidFill>
            <a:prstDash val="solid"/>
          </a:ln>
        </p:spPr>
      </p:sp>
      <p:sp>
        <p:nvSpPr>
          <p:cNvPr id="330" name="Shape 327"/>
          <p:cNvSpPr/>
          <p:nvPr/>
        </p:nvSpPr>
        <p:spPr>
          <a:xfrm>
            <a:off x="11286744" y="4176776"/>
            <a:ext cx="53289" cy="53289"/>
          </a:xfrm>
          <a:prstGeom prst="rect">
            <a:avLst/>
          </a:prstGeom>
          <a:solidFill>
            <a:srgbClr val="000000"/>
          </a:solidFill>
          <a:ln w="12700">
            <a:solidFill>
              <a:srgbClr val="000000">
                <a:alpha val="0"/>
              </a:srgbClr>
            </a:solidFill>
            <a:prstDash val="solid"/>
          </a:ln>
        </p:spPr>
      </p:sp>
      <p:sp>
        <p:nvSpPr>
          <p:cNvPr id="331" name="Shape 328"/>
          <p:cNvSpPr/>
          <p:nvPr/>
        </p:nvSpPr>
        <p:spPr>
          <a:xfrm>
            <a:off x="11392408" y="4176776"/>
            <a:ext cx="106121" cy="53289"/>
          </a:xfrm>
          <a:prstGeom prst="rect">
            <a:avLst/>
          </a:prstGeom>
          <a:solidFill>
            <a:srgbClr val="000000"/>
          </a:solidFill>
          <a:ln w="12700">
            <a:solidFill>
              <a:srgbClr val="000000">
                <a:alpha val="0"/>
              </a:srgbClr>
            </a:solidFill>
            <a:prstDash val="solid"/>
          </a:ln>
        </p:spPr>
      </p:sp>
      <p:sp>
        <p:nvSpPr>
          <p:cNvPr id="332" name="Shape 329"/>
          <p:cNvSpPr/>
          <p:nvPr/>
        </p:nvSpPr>
        <p:spPr>
          <a:xfrm>
            <a:off x="11550904" y="4176776"/>
            <a:ext cx="53289" cy="53289"/>
          </a:xfrm>
          <a:prstGeom prst="rect">
            <a:avLst/>
          </a:prstGeom>
          <a:solidFill>
            <a:srgbClr val="000000"/>
          </a:solidFill>
          <a:ln w="12700">
            <a:solidFill>
              <a:srgbClr val="000000">
                <a:alpha val="0"/>
              </a:srgbClr>
            </a:solidFill>
            <a:prstDash val="solid"/>
          </a:ln>
        </p:spPr>
      </p:sp>
      <p:sp>
        <p:nvSpPr>
          <p:cNvPr id="333" name="Shape 330"/>
          <p:cNvSpPr/>
          <p:nvPr/>
        </p:nvSpPr>
        <p:spPr>
          <a:xfrm>
            <a:off x="11656568" y="4176776"/>
            <a:ext cx="106121" cy="53289"/>
          </a:xfrm>
          <a:prstGeom prst="rect">
            <a:avLst/>
          </a:prstGeom>
          <a:solidFill>
            <a:srgbClr val="000000"/>
          </a:solidFill>
          <a:ln w="12700">
            <a:solidFill>
              <a:srgbClr val="000000">
                <a:alpha val="0"/>
              </a:srgbClr>
            </a:solidFill>
            <a:prstDash val="solid"/>
          </a:ln>
        </p:spPr>
      </p:sp>
      <p:sp>
        <p:nvSpPr>
          <p:cNvPr id="334" name="Shape 331"/>
          <p:cNvSpPr/>
          <p:nvPr/>
        </p:nvSpPr>
        <p:spPr>
          <a:xfrm>
            <a:off x="11973560" y="4176776"/>
            <a:ext cx="53289" cy="53289"/>
          </a:xfrm>
          <a:prstGeom prst="rect">
            <a:avLst/>
          </a:prstGeom>
          <a:solidFill>
            <a:srgbClr val="000000"/>
          </a:solidFill>
          <a:ln w="12700">
            <a:solidFill>
              <a:srgbClr val="000000">
                <a:alpha val="0"/>
              </a:srgbClr>
            </a:solidFill>
            <a:prstDash val="solid"/>
          </a:ln>
        </p:spPr>
      </p:sp>
      <p:sp>
        <p:nvSpPr>
          <p:cNvPr id="335" name="Shape 332"/>
          <p:cNvSpPr/>
          <p:nvPr/>
        </p:nvSpPr>
        <p:spPr>
          <a:xfrm>
            <a:off x="12079224" y="4176776"/>
            <a:ext cx="53289" cy="53289"/>
          </a:xfrm>
          <a:prstGeom prst="rect">
            <a:avLst/>
          </a:prstGeom>
          <a:solidFill>
            <a:srgbClr val="000000"/>
          </a:solidFill>
          <a:ln w="12700">
            <a:solidFill>
              <a:srgbClr val="000000">
                <a:alpha val="0"/>
              </a:srgbClr>
            </a:solidFill>
            <a:prstDash val="solid"/>
          </a:ln>
        </p:spPr>
      </p:sp>
      <p:sp>
        <p:nvSpPr>
          <p:cNvPr id="336" name="Shape 333"/>
          <p:cNvSpPr/>
          <p:nvPr/>
        </p:nvSpPr>
        <p:spPr>
          <a:xfrm>
            <a:off x="12396216" y="4176776"/>
            <a:ext cx="106121" cy="53289"/>
          </a:xfrm>
          <a:prstGeom prst="rect">
            <a:avLst/>
          </a:prstGeom>
          <a:solidFill>
            <a:srgbClr val="000000"/>
          </a:solidFill>
          <a:ln w="12700">
            <a:solidFill>
              <a:srgbClr val="000000">
                <a:alpha val="0"/>
              </a:srgbClr>
            </a:solidFill>
            <a:prstDash val="solid"/>
          </a:ln>
        </p:spPr>
      </p:sp>
      <p:sp>
        <p:nvSpPr>
          <p:cNvPr id="337" name="Shape 334"/>
          <p:cNvSpPr/>
          <p:nvPr/>
        </p:nvSpPr>
        <p:spPr>
          <a:xfrm>
            <a:off x="12554712" y="4176776"/>
            <a:ext cx="53289" cy="53289"/>
          </a:xfrm>
          <a:prstGeom prst="rect">
            <a:avLst/>
          </a:prstGeom>
          <a:solidFill>
            <a:srgbClr val="000000"/>
          </a:solidFill>
          <a:ln w="12700">
            <a:solidFill>
              <a:srgbClr val="000000">
                <a:alpha val="0"/>
              </a:srgbClr>
            </a:solidFill>
            <a:prstDash val="solid"/>
          </a:ln>
        </p:spPr>
      </p:sp>
      <p:sp>
        <p:nvSpPr>
          <p:cNvPr id="338" name="Shape 335"/>
          <p:cNvSpPr/>
          <p:nvPr/>
        </p:nvSpPr>
        <p:spPr>
          <a:xfrm>
            <a:off x="12766040" y="4176776"/>
            <a:ext cx="53289" cy="53289"/>
          </a:xfrm>
          <a:prstGeom prst="rect">
            <a:avLst/>
          </a:prstGeom>
          <a:solidFill>
            <a:srgbClr val="000000"/>
          </a:solidFill>
          <a:ln w="12700">
            <a:solidFill>
              <a:srgbClr val="000000">
                <a:alpha val="0"/>
              </a:srgbClr>
            </a:solidFill>
            <a:prstDash val="solid"/>
          </a:ln>
        </p:spPr>
      </p:sp>
      <p:sp>
        <p:nvSpPr>
          <p:cNvPr id="339" name="Shape 336"/>
          <p:cNvSpPr/>
          <p:nvPr/>
        </p:nvSpPr>
        <p:spPr>
          <a:xfrm>
            <a:off x="10864088" y="4229608"/>
            <a:ext cx="53289" cy="53289"/>
          </a:xfrm>
          <a:prstGeom prst="rect">
            <a:avLst/>
          </a:prstGeom>
          <a:solidFill>
            <a:srgbClr val="000000"/>
          </a:solidFill>
          <a:ln w="12700">
            <a:solidFill>
              <a:srgbClr val="000000">
                <a:alpha val="0"/>
              </a:srgbClr>
            </a:solidFill>
            <a:prstDash val="solid"/>
          </a:ln>
        </p:spPr>
      </p:sp>
      <p:sp>
        <p:nvSpPr>
          <p:cNvPr id="340" name="Shape 337"/>
          <p:cNvSpPr/>
          <p:nvPr/>
        </p:nvSpPr>
        <p:spPr>
          <a:xfrm>
            <a:off x="10969752" y="4229608"/>
            <a:ext cx="158953" cy="53289"/>
          </a:xfrm>
          <a:prstGeom prst="rect">
            <a:avLst/>
          </a:prstGeom>
          <a:solidFill>
            <a:srgbClr val="000000"/>
          </a:solidFill>
          <a:ln w="12700">
            <a:solidFill>
              <a:srgbClr val="000000">
                <a:alpha val="0"/>
              </a:srgbClr>
            </a:solidFill>
            <a:prstDash val="solid"/>
          </a:ln>
        </p:spPr>
      </p:sp>
      <p:sp>
        <p:nvSpPr>
          <p:cNvPr id="341" name="Shape 338"/>
          <p:cNvSpPr/>
          <p:nvPr/>
        </p:nvSpPr>
        <p:spPr>
          <a:xfrm>
            <a:off x="11181080" y="4229608"/>
            <a:ext cx="53289" cy="53289"/>
          </a:xfrm>
          <a:prstGeom prst="rect">
            <a:avLst/>
          </a:prstGeom>
          <a:solidFill>
            <a:srgbClr val="000000"/>
          </a:solidFill>
          <a:ln w="12700">
            <a:solidFill>
              <a:srgbClr val="000000">
                <a:alpha val="0"/>
              </a:srgbClr>
            </a:solidFill>
            <a:prstDash val="solid"/>
          </a:ln>
        </p:spPr>
      </p:sp>
      <p:sp>
        <p:nvSpPr>
          <p:cNvPr id="342" name="Shape 339"/>
          <p:cNvSpPr/>
          <p:nvPr/>
        </p:nvSpPr>
        <p:spPr>
          <a:xfrm>
            <a:off x="11286744" y="4229608"/>
            <a:ext cx="106121" cy="53289"/>
          </a:xfrm>
          <a:prstGeom prst="rect">
            <a:avLst/>
          </a:prstGeom>
          <a:solidFill>
            <a:srgbClr val="000000"/>
          </a:solidFill>
          <a:ln w="12700">
            <a:solidFill>
              <a:srgbClr val="000000">
                <a:alpha val="0"/>
              </a:srgbClr>
            </a:solidFill>
            <a:prstDash val="solid"/>
          </a:ln>
        </p:spPr>
      </p:sp>
      <p:sp>
        <p:nvSpPr>
          <p:cNvPr id="343" name="Shape 340"/>
          <p:cNvSpPr/>
          <p:nvPr/>
        </p:nvSpPr>
        <p:spPr>
          <a:xfrm>
            <a:off x="11498072" y="4229608"/>
            <a:ext cx="53289" cy="53289"/>
          </a:xfrm>
          <a:prstGeom prst="rect">
            <a:avLst/>
          </a:prstGeom>
          <a:solidFill>
            <a:srgbClr val="000000"/>
          </a:solidFill>
          <a:ln w="12700">
            <a:solidFill>
              <a:srgbClr val="000000">
                <a:alpha val="0"/>
              </a:srgbClr>
            </a:solidFill>
            <a:prstDash val="solid"/>
          </a:ln>
        </p:spPr>
      </p:sp>
      <p:sp>
        <p:nvSpPr>
          <p:cNvPr id="344" name="Shape 341"/>
          <p:cNvSpPr/>
          <p:nvPr/>
        </p:nvSpPr>
        <p:spPr>
          <a:xfrm>
            <a:off x="11920728" y="4229608"/>
            <a:ext cx="53289" cy="53289"/>
          </a:xfrm>
          <a:prstGeom prst="rect">
            <a:avLst/>
          </a:prstGeom>
          <a:solidFill>
            <a:srgbClr val="000000"/>
          </a:solidFill>
          <a:ln w="12700">
            <a:solidFill>
              <a:srgbClr val="000000">
                <a:alpha val="0"/>
              </a:srgbClr>
            </a:solidFill>
            <a:prstDash val="solid"/>
          </a:ln>
        </p:spPr>
      </p:sp>
      <p:sp>
        <p:nvSpPr>
          <p:cNvPr id="345" name="Shape 342"/>
          <p:cNvSpPr/>
          <p:nvPr/>
        </p:nvSpPr>
        <p:spPr>
          <a:xfrm>
            <a:off x="12184888" y="4229608"/>
            <a:ext cx="211785" cy="53289"/>
          </a:xfrm>
          <a:prstGeom prst="rect">
            <a:avLst/>
          </a:prstGeom>
          <a:solidFill>
            <a:srgbClr val="000000"/>
          </a:solidFill>
          <a:ln w="12700">
            <a:solidFill>
              <a:srgbClr val="000000">
                <a:alpha val="0"/>
              </a:srgbClr>
            </a:solidFill>
            <a:prstDash val="solid"/>
          </a:ln>
        </p:spPr>
      </p:sp>
      <p:sp>
        <p:nvSpPr>
          <p:cNvPr id="346" name="Shape 343"/>
          <p:cNvSpPr/>
          <p:nvPr/>
        </p:nvSpPr>
        <p:spPr>
          <a:xfrm>
            <a:off x="12713208" y="4229608"/>
            <a:ext cx="106121" cy="53289"/>
          </a:xfrm>
          <a:prstGeom prst="rect">
            <a:avLst/>
          </a:prstGeom>
          <a:solidFill>
            <a:srgbClr val="000000"/>
          </a:solidFill>
          <a:ln w="12700">
            <a:solidFill>
              <a:srgbClr val="000000">
                <a:alpha val="0"/>
              </a:srgbClr>
            </a:solidFill>
            <a:prstDash val="solid"/>
          </a:ln>
        </p:spPr>
      </p:sp>
      <p:sp>
        <p:nvSpPr>
          <p:cNvPr id="347" name="Shape 344"/>
          <p:cNvSpPr/>
          <p:nvPr/>
        </p:nvSpPr>
        <p:spPr>
          <a:xfrm>
            <a:off x="10864088" y="4282440"/>
            <a:ext cx="53289" cy="53289"/>
          </a:xfrm>
          <a:prstGeom prst="rect">
            <a:avLst/>
          </a:prstGeom>
          <a:solidFill>
            <a:srgbClr val="000000"/>
          </a:solidFill>
          <a:ln w="12700">
            <a:solidFill>
              <a:srgbClr val="000000">
                <a:alpha val="0"/>
              </a:srgbClr>
            </a:solidFill>
            <a:prstDash val="solid"/>
          </a:ln>
        </p:spPr>
      </p:sp>
      <p:sp>
        <p:nvSpPr>
          <p:cNvPr id="348" name="Shape 345"/>
          <p:cNvSpPr/>
          <p:nvPr/>
        </p:nvSpPr>
        <p:spPr>
          <a:xfrm>
            <a:off x="11181080" y="4282440"/>
            <a:ext cx="53289" cy="53289"/>
          </a:xfrm>
          <a:prstGeom prst="rect">
            <a:avLst/>
          </a:prstGeom>
          <a:solidFill>
            <a:srgbClr val="000000"/>
          </a:solidFill>
          <a:ln w="12700">
            <a:solidFill>
              <a:srgbClr val="000000">
                <a:alpha val="0"/>
              </a:srgbClr>
            </a:solidFill>
            <a:prstDash val="solid"/>
          </a:ln>
        </p:spPr>
      </p:sp>
      <p:sp>
        <p:nvSpPr>
          <p:cNvPr id="349" name="Shape 346"/>
          <p:cNvSpPr/>
          <p:nvPr/>
        </p:nvSpPr>
        <p:spPr>
          <a:xfrm>
            <a:off x="11339576" y="4282440"/>
            <a:ext cx="53289" cy="53289"/>
          </a:xfrm>
          <a:prstGeom prst="rect">
            <a:avLst/>
          </a:prstGeom>
          <a:solidFill>
            <a:srgbClr val="000000"/>
          </a:solidFill>
          <a:ln w="12700">
            <a:solidFill>
              <a:srgbClr val="000000">
                <a:alpha val="0"/>
              </a:srgbClr>
            </a:solidFill>
            <a:prstDash val="solid"/>
          </a:ln>
        </p:spPr>
      </p:sp>
      <p:sp>
        <p:nvSpPr>
          <p:cNvPr id="350" name="Shape 347"/>
          <p:cNvSpPr/>
          <p:nvPr/>
        </p:nvSpPr>
        <p:spPr>
          <a:xfrm>
            <a:off x="11445240" y="4282440"/>
            <a:ext cx="106121" cy="53289"/>
          </a:xfrm>
          <a:prstGeom prst="rect">
            <a:avLst/>
          </a:prstGeom>
          <a:solidFill>
            <a:srgbClr val="000000"/>
          </a:solidFill>
          <a:ln w="12700">
            <a:solidFill>
              <a:srgbClr val="000000">
                <a:alpha val="0"/>
              </a:srgbClr>
            </a:solidFill>
            <a:prstDash val="solid"/>
          </a:ln>
        </p:spPr>
      </p:sp>
      <p:sp>
        <p:nvSpPr>
          <p:cNvPr id="351" name="Shape 348"/>
          <p:cNvSpPr/>
          <p:nvPr/>
        </p:nvSpPr>
        <p:spPr>
          <a:xfrm>
            <a:off x="11709400" y="4282440"/>
            <a:ext cx="53289" cy="53289"/>
          </a:xfrm>
          <a:prstGeom prst="rect">
            <a:avLst/>
          </a:prstGeom>
          <a:solidFill>
            <a:srgbClr val="000000"/>
          </a:solidFill>
          <a:ln w="12700">
            <a:solidFill>
              <a:srgbClr val="000000">
                <a:alpha val="0"/>
              </a:srgbClr>
            </a:solidFill>
            <a:prstDash val="solid"/>
          </a:ln>
        </p:spPr>
      </p:sp>
      <p:sp>
        <p:nvSpPr>
          <p:cNvPr id="352" name="Shape 349"/>
          <p:cNvSpPr/>
          <p:nvPr/>
        </p:nvSpPr>
        <p:spPr>
          <a:xfrm>
            <a:off x="11815064" y="4282440"/>
            <a:ext cx="53289" cy="53289"/>
          </a:xfrm>
          <a:prstGeom prst="rect">
            <a:avLst/>
          </a:prstGeom>
          <a:solidFill>
            <a:srgbClr val="000000"/>
          </a:solidFill>
          <a:ln w="12700">
            <a:solidFill>
              <a:srgbClr val="000000">
                <a:alpha val="0"/>
              </a:srgbClr>
            </a:solidFill>
            <a:prstDash val="solid"/>
          </a:ln>
        </p:spPr>
      </p:sp>
      <p:sp>
        <p:nvSpPr>
          <p:cNvPr id="353" name="Shape 350"/>
          <p:cNvSpPr/>
          <p:nvPr/>
        </p:nvSpPr>
        <p:spPr>
          <a:xfrm>
            <a:off x="11973560" y="4282440"/>
            <a:ext cx="53289" cy="53289"/>
          </a:xfrm>
          <a:prstGeom prst="rect">
            <a:avLst/>
          </a:prstGeom>
          <a:solidFill>
            <a:srgbClr val="000000"/>
          </a:solidFill>
          <a:ln w="12700">
            <a:solidFill>
              <a:srgbClr val="000000">
                <a:alpha val="0"/>
              </a:srgbClr>
            </a:solidFill>
            <a:prstDash val="solid"/>
          </a:ln>
        </p:spPr>
      </p:sp>
      <p:sp>
        <p:nvSpPr>
          <p:cNvPr id="354" name="Shape 351"/>
          <p:cNvSpPr/>
          <p:nvPr/>
        </p:nvSpPr>
        <p:spPr>
          <a:xfrm>
            <a:off x="12237720" y="4282440"/>
            <a:ext cx="264617" cy="53289"/>
          </a:xfrm>
          <a:prstGeom prst="rect">
            <a:avLst/>
          </a:prstGeom>
          <a:solidFill>
            <a:srgbClr val="000000"/>
          </a:solidFill>
          <a:ln w="12700">
            <a:solidFill>
              <a:srgbClr val="000000">
                <a:alpha val="0"/>
              </a:srgbClr>
            </a:solidFill>
            <a:prstDash val="solid"/>
          </a:ln>
        </p:spPr>
      </p:sp>
      <p:sp>
        <p:nvSpPr>
          <p:cNvPr id="355" name="Shape 352"/>
          <p:cNvSpPr/>
          <p:nvPr/>
        </p:nvSpPr>
        <p:spPr>
          <a:xfrm>
            <a:off x="12554712" y="4282440"/>
            <a:ext cx="53289" cy="53289"/>
          </a:xfrm>
          <a:prstGeom prst="rect">
            <a:avLst/>
          </a:prstGeom>
          <a:solidFill>
            <a:srgbClr val="000000"/>
          </a:solidFill>
          <a:ln w="12700">
            <a:solidFill>
              <a:srgbClr val="000000">
                <a:alpha val="0"/>
              </a:srgbClr>
            </a:solidFill>
            <a:prstDash val="solid"/>
          </a:ln>
        </p:spPr>
      </p:sp>
      <p:sp>
        <p:nvSpPr>
          <p:cNvPr id="356" name="Shape 353"/>
          <p:cNvSpPr/>
          <p:nvPr/>
        </p:nvSpPr>
        <p:spPr>
          <a:xfrm>
            <a:off x="12766040" y="4282440"/>
            <a:ext cx="53289" cy="53289"/>
          </a:xfrm>
          <a:prstGeom prst="rect">
            <a:avLst/>
          </a:prstGeom>
          <a:solidFill>
            <a:srgbClr val="000000"/>
          </a:solidFill>
          <a:ln w="12700">
            <a:solidFill>
              <a:srgbClr val="000000">
                <a:alpha val="0"/>
              </a:srgbClr>
            </a:solidFill>
            <a:prstDash val="solid"/>
          </a:ln>
        </p:spPr>
      </p:sp>
      <p:sp>
        <p:nvSpPr>
          <p:cNvPr id="357" name="Shape 354"/>
          <p:cNvSpPr/>
          <p:nvPr/>
        </p:nvSpPr>
        <p:spPr>
          <a:xfrm>
            <a:off x="10864088" y="4335272"/>
            <a:ext cx="370281" cy="53289"/>
          </a:xfrm>
          <a:prstGeom prst="rect">
            <a:avLst/>
          </a:prstGeom>
          <a:solidFill>
            <a:srgbClr val="000000"/>
          </a:solidFill>
          <a:ln w="12700">
            <a:solidFill>
              <a:srgbClr val="000000">
                <a:alpha val="0"/>
              </a:srgbClr>
            </a:solidFill>
            <a:prstDash val="solid"/>
          </a:ln>
        </p:spPr>
      </p:sp>
      <p:sp>
        <p:nvSpPr>
          <p:cNvPr id="358" name="Shape 355"/>
          <p:cNvSpPr/>
          <p:nvPr/>
        </p:nvSpPr>
        <p:spPr>
          <a:xfrm>
            <a:off x="11286744" y="4335272"/>
            <a:ext cx="53289" cy="53289"/>
          </a:xfrm>
          <a:prstGeom prst="rect">
            <a:avLst/>
          </a:prstGeom>
          <a:solidFill>
            <a:srgbClr val="000000"/>
          </a:solidFill>
          <a:ln w="12700">
            <a:solidFill>
              <a:srgbClr val="000000">
                <a:alpha val="0"/>
              </a:srgbClr>
            </a:solidFill>
            <a:prstDash val="solid"/>
          </a:ln>
        </p:spPr>
      </p:sp>
      <p:sp>
        <p:nvSpPr>
          <p:cNvPr id="359" name="Shape 356"/>
          <p:cNvSpPr/>
          <p:nvPr/>
        </p:nvSpPr>
        <p:spPr>
          <a:xfrm>
            <a:off x="11445240" y="4335272"/>
            <a:ext cx="158953" cy="53289"/>
          </a:xfrm>
          <a:prstGeom prst="rect">
            <a:avLst/>
          </a:prstGeom>
          <a:solidFill>
            <a:srgbClr val="000000"/>
          </a:solidFill>
          <a:ln w="12700">
            <a:solidFill>
              <a:srgbClr val="000000">
                <a:alpha val="0"/>
              </a:srgbClr>
            </a:solidFill>
            <a:prstDash val="solid"/>
          </a:ln>
        </p:spPr>
      </p:sp>
      <p:sp>
        <p:nvSpPr>
          <p:cNvPr id="360" name="Shape 357"/>
          <p:cNvSpPr/>
          <p:nvPr/>
        </p:nvSpPr>
        <p:spPr>
          <a:xfrm>
            <a:off x="11709400" y="4335272"/>
            <a:ext cx="106121" cy="53289"/>
          </a:xfrm>
          <a:prstGeom prst="rect">
            <a:avLst/>
          </a:prstGeom>
          <a:solidFill>
            <a:srgbClr val="000000"/>
          </a:solidFill>
          <a:ln w="12700">
            <a:solidFill>
              <a:srgbClr val="000000">
                <a:alpha val="0"/>
              </a:srgbClr>
            </a:solidFill>
            <a:prstDash val="solid"/>
          </a:ln>
        </p:spPr>
      </p:sp>
      <p:sp>
        <p:nvSpPr>
          <p:cNvPr id="361" name="Shape 358"/>
          <p:cNvSpPr/>
          <p:nvPr/>
        </p:nvSpPr>
        <p:spPr>
          <a:xfrm>
            <a:off x="12079224" y="4335272"/>
            <a:ext cx="264617" cy="53289"/>
          </a:xfrm>
          <a:prstGeom prst="rect">
            <a:avLst/>
          </a:prstGeom>
          <a:solidFill>
            <a:srgbClr val="000000"/>
          </a:solidFill>
          <a:ln w="12700">
            <a:solidFill>
              <a:srgbClr val="000000">
                <a:alpha val="0"/>
              </a:srgbClr>
            </a:solidFill>
            <a:prstDash val="solid"/>
          </a:ln>
        </p:spPr>
      </p:sp>
      <p:sp>
        <p:nvSpPr>
          <p:cNvPr id="362" name="Shape 359"/>
          <p:cNvSpPr/>
          <p:nvPr/>
        </p:nvSpPr>
        <p:spPr>
          <a:xfrm>
            <a:off x="12396216" y="4335272"/>
            <a:ext cx="53289" cy="53289"/>
          </a:xfrm>
          <a:prstGeom prst="rect">
            <a:avLst/>
          </a:prstGeom>
          <a:solidFill>
            <a:srgbClr val="000000"/>
          </a:solidFill>
          <a:ln w="12700">
            <a:solidFill>
              <a:srgbClr val="000000">
                <a:alpha val="0"/>
              </a:srgbClr>
            </a:solidFill>
            <a:prstDash val="solid"/>
          </a:ln>
        </p:spPr>
      </p:sp>
      <p:sp>
        <p:nvSpPr>
          <p:cNvPr id="363" name="Shape 360"/>
          <p:cNvSpPr/>
          <p:nvPr/>
        </p:nvSpPr>
        <p:spPr>
          <a:xfrm>
            <a:off x="12554712" y="4335272"/>
            <a:ext cx="264617" cy="53289"/>
          </a:xfrm>
          <a:prstGeom prst="rect">
            <a:avLst/>
          </a:prstGeom>
          <a:solidFill>
            <a:srgbClr val="000000"/>
          </a:solidFill>
          <a:ln w="12700">
            <a:solidFill>
              <a:srgbClr val="000000">
                <a:alpha val="0"/>
              </a:srgbClr>
            </a:solidFill>
            <a:prstDash val="solid"/>
          </a:ln>
        </p:spPr>
      </p:sp>
      <p:sp>
        <p:nvSpPr>
          <p:cNvPr id="364" name="Shape 361">
            <a:hlinkClick r:id="rId2" tooltip=""/>
          </p:cNvPr>
          <p:cNvSpPr/>
          <p:nvPr/>
        </p:nvSpPr>
        <p:spPr>
          <a:xfrm>
            <a:off x="10652760" y="2221992"/>
            <a:ext cx="2377440" cy="2377440"/>
          </a:xfrm>
          <a:prstGeom prst="rect">
            <a:avLst/>
          </a:prstGeom>
          <a:solidFill>
            <a:srgbClr val="FFFFFF">
              <a:alpha val="0"/>
            </a:srgbClr>
          </a:solidFill>
          <a:ln w="12700">
            <a:solidFill>
              <a:srgbClr val="FFFFFF">
                <a:alpha val="0"/>
              </a:srgbClr>
            </a:solidFill>
            <a:prstDash val="solid"/>
          </a:ln>
        </p:spPr>
      </p:sp>
      <p:sp>
        <p:nvSpPr>
          <p:cNvPr id="365" name="Text 362"/>
          <p:cNvSpPr/>
          <p:nvPr/>
        </p:nvSpPr>
        <p:spPr>
          <a:xfrm>
            <a:off x="9948672" y="4818888"/>
            <a:ext cx="3794760" cy="749808"/>
          </a:xfrm>
          <a:prstGeom prst="rect">
            <a:avLst/>
          </a:prstGeom>
          <a:noFill/>
          <a:ln/>
        </p:spPr>
        <p:txBody>
          <a:bodyPr wrap="square" lIns="0" tIns="0" rIns="0" bIns="0" rtlCol="0" anchor="ctr"/>
          <a:lstStyle/>
          <a:p>
            <a:pPr algn="ctr" indent="0" marL="0">
              <a:buNone/>
            </a:pPr>
            <a:r>
              <a:rPr lang="en-US" sz="2400" b="1" dirty="0">
                <a:solidFill>
                  <a:srgbClr val="102B46"/>
                </a:solidFill>
                <a:latin typeface="Arial" pitchFamily="34" charset="0"/>
                <a:ea typeface="Arial" pitchFamily="34" charset="-122"/>
                <a:cs typeface="Arial" pitchFamily="34" charset="-120"/>
              </a:rPr>
              <a:t>Read → investigate → challenge</a:t>
            </a:r>
            <a:endParaRPr lang="en-US" sz="2400" dirty="0"/>
          </a:p>
        </p:txBody>
      </p:sp>
      <p:sp>
        <p:nvSpPr>
          <p:cNvPr id="366" name="Shape 363"/>
          <p:cNvSpPr/>
          <p:nvPr/>
        </p:nvSpPr>
        <p:spPr>
          <a:xfrm>
            <a:off x="10204704" y="5943600"/>
            <a:ext cx="3264408" cy="420624"/>
          </a:xfrm>
          <a:prstGeom prst="roundRect">
            <a:avLst>
              <a:gd name="adj" fmla="val 26087"/>
            </a:avLst>
          </a:prstGeom>
          <a:solidFill>
            <a:srgbClr val="E7F2FA"/>
          </a:solidFill>
          <a:ln w="12700">
            <a:solidFill>
              <a:srgbClr val="E7F2FA"/>
            </a:solidFill>
            <a:prstDash val="solid"/>
          </a:ln>
        </p:spPr>
      </p:sp>
      <p:sp>
        <p:nvSpPr>
          <p:cNvPr id="367" name="Text 364">
            <a:hlinkClick r:id="rId3" tooltip=""/>
          </p:cNvPr>
          <p:cNvSpPr/>
          <p:nvPr/>
        </p:nvSpPr>
        <p:spPr>
          <a:xfrm>
            <a:off x="10341864" y="6035040"/>
            <a:ext cx="2990088" cy="219456"/>
          </a:xfrm>
          <a:prstGeom prst="rect">
            <a:avLst/>
          </a:prstGeom>
          <a:noFill/>
          <a:ln/>
        </p:spPr>
        <p:txBody>
          <a:bodyPr wrap="square" lIns="0" tIns="0" rIns="0" bIns="0" rtlCol="0" anchor="ctr"/>
          <a:lstStyle/>
          <a:p>
            <a:pPr indent="0" marL="0">
              <a:buNone/>
            </a:pPr>
            <a:r>
              <a:rPr lang="en-US" sz="1350" b="1" u="sng" dirty="0">
                <a:solidFill>
                  <a:srgbClr val="145F96"/>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 the learning guide</a:t>
            </a:r>
            <a:endParaRPr lang="en-US" sz="1350" dirty="0"/>
          </a:p>
        </p:txBody>
      </p:sp>
      <p:sp>
        <p:nvSpPr>
          <p:cNvPr id="368" name="Text 365"/>
          <p:cNvSpPr/>
          <p:nvPr/>
        </p:nvSpPr>
        <p:spPr>
          <a:xfrm>
            <a:off x="621792" y="7050024"/>
            <a:ext cx="13350240" cy="320040"/>
          </a:xfrm>
          <a:prstGeom prst="rect">
            <a:avLst/>
          </a:prstGeom>
          <a:noFill/>
          <a:ln/>
        </p:spPr>
        <p:txBody>
          <a:bodyPr wrap="square" lIns="0" tIns="0" rIns="0" bIns="0" rtlCol="0" anchor="ctr"/>
          <a:lstStyle/>
          <a:p>
            <a:pPr indent="0" marL="0">
              <a:buNone/>
            </a:pPr>
            <a:r>
              <a:rPr lang="en-US" sz="2100" b="1" dirty="0">
                <a:solidFill>
                  <a:srgbClr val="966410"/>
                </a:solidFill>
                <a:latin typeface="Arial" pitchFamily="34" charset="0"/>
                <a:ea typeface="Arial" pitchFamily="34" charset="-122"/>
                <a:cs typeface="Arial" pitchFamily="34" charset="-120"/>
              </a:rPr>
              <a:t>Independent experimental publication. Not benefits advice or an entitlement calculator.</a:t>
            </a:r>
            <a:endParaRPr lang="en-US" sz="2100" dirty="0"/>
          </a:p>
        </p:txBody>
      </p:sp>
      <p:sp>
        <p:nvSpPr>
          <p:cNvPr id="369" name="Text 366">
            <a:hlinkClick r:id="rId4"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S16 • public page captured in the supplied run • QR opens the same learning route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DISCUSSION / 10 MINUTES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Questions — what would you need to trust the next step?</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Discussion / 10 minutes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23</a:t>
            </a:r>
            <a:endParaRPr lang="en-US" sz="1100" dirty="0"/>
          </a:p>
        </p:txBody>
      </p:sp>
      <p:sp>
        <p:nvSpPr>
          <p:cNvPr id="9" name="Text 7"/>
          <p:cNvSpPr/>
          <p:nvPr/>
        </p:nvSpPr>
        <p:spPr>
          <a:xfrm>
            <a:off x="621792" y="1591056"/>
            <a:ext cx="13304520" cy="649224"/>
          </a:xfrm>
          <a:prstGeom prst="rect">
            <a:avLst/>
          </a:prstGeom>
          <a:noFill/>
          <a:ln/>
        </p:spPr>
        <p:txBody>
          <a:bodyPr wrap="square" lIns="0" tIns="0" rIns="0" bIns="0" rtlCol="0" anchor="ctr"/>
          <a:lstStyle/>
          <a:p>
            <a:pPr indent="0" marL="0">
              <a:buNone/>
            </a:pPr>
            <a:r>
              <a:rPr lang="en-US" sz="2900" b="1" dirty="0">
                <a:solidFill>
                  <a:srgbClr val="102B46"/>
                </a:solidFill>
                <a:latin typeface="Arial" pitchFamily="34" charset="0"/>
                <a:ea typeface="Arial" pitchFamily="34" charset="-122"/>
                <a:cs typeface="Arial" pitchFamily="34" charset="-120"/>
              </a:rPr>
              <a:t>A source? An exception? A test? An independent review?</a:t>
            </a:r>
            <a:endParaRPr lang="en-US" sz="2900" dirty="0"/>
          </a:p>
        </p:txBody>
      </p:sp>
      <p:sp>
        <p:nvSpPr>
          <p:cNvPr id="10" name="Shape 8"/>
          <p:cNvSpPr/>
          <p:nvPr/>
        </p:nvSpPr>
        <p:spPr>
          <a:xfrm>
            <a:off x="649224" y="2715768"/>
            <a:ext cx="8010144" cy="4361688"/>
          </a:xfrm>
          <a:prstGeom prst="rect">
            <a:avLst>
              <a:gd name="adj" fmla="val 2516"/>
            </a:avLst>
          </a:prstGeom>
          <a:solidFill>
            <a:srgbClr val="102B46"/>
          </a:solidFill>
          <a:ln w="12700">
            <a:solidFill>
              <a:srgbClr val="102B46"/>
            </a:solidFill>
            <a:prstDash val="solid"/>
          </a:ln>
        </p:spPr>
      </p:sp>
      <p:sp>
        <p:nvSpPr>
          <p:cNvPr id="11" name="Text 9"/>
          <p:cNvSpPr/>
          <p:nvPr/>
        </p:nvSpPr>
        <p:spPr>
          <a:xfrm>
            <a:off x="960120" y="3035808"/>
            <a:ext cx="6126480" cy="539496"/>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Nick Briggs</a:t>
            </a:r>
            <a:endParaRPr lang="en-US" sz="3300" dirty="0"/>
          </a:p>
        </p:txBody>
      </p:sp>
      <p:sp>
        <p:nvSpPr>
          <p:cNvPr id="12" name="Text 10"/>
          <p:cNvSpPr/>
          <p:nvPr/>
        </p:nvSpPr>
        <p:spPr>
          <a:xfrm>
            <a:off x="960120" y="3803904"/>
            <a:ext cx="7223760" cy="502920"/>
          </a:xfrm>
          <a:prstGeom prst="rect">
            <a:avLst/>
          </a:prstGeom>
          <a:noFill/>
          <a:ln/>
        </p:spPr>
        <p:txBody>
          <a:bodyPr wrap="square" lIns="0" tIns="0" rIns="0" bIns="0" rtlCol="0" anchor="ctr"/>
          <a:lstStyle/>
          <a:p>
            <a:pPr indent="0" marL="0">
              <a:buNone/>
            </a:pPr>
            <a:r>
              <a:rPr lang="en-US" sz="2300" dirty="0">
                <a:solidFill>
                  <a:srgbClr val="FFFFFF"/>
                </a:solidFill>
                <a:latin typeface="Arial" pitchFamily="34" charset="0"/>
                <a:ea typeface="Arial" pitchFamily="34" charset="-122"/>
                <a:cs typeface="Arial" pitchFamily="34" charset="-120"/>
              </a:rPr>
              <a:t>Lead Technical Architect (Citizen Information)</a:t>
            </a:r>
            <a:endParaRPr lang="en-US" sz="2300" dirty="0"/>
          </a:p>
        </p:txBody>
      </p:sp>
      <p:sp>
        <p:nvSpPr>
          <p:cNvPr id="13" name="Text 11"/>
          <p:cNvSpPr/>
          <p:nvPr/>
        </p:nvSpPr>
        <p:spPr>
          <a:xfrm>
            <a:off x="960120" y="4507992"/>
            <a:ext cx="5559552" cy="457200"/>
          </a:xfrm>
          <a:prstGeom prst="rect">
            <a:avLst/>
          </a:prstGeom>
          <a:noFill/>
          <a:ln/>
        </p:spPr>
        <p:txBody>
          <a:bodyPr wrap="square" lIns="0" tIns="0" rIns="0" bIns="0" rtlCol="0" anchor="ctr"/>
          <a:lstStyle/>
          <a:p>
            <a:pPr indent="0" marL="0">
              <a:buNone/>
            </a:pPr>
            <a:r>
              <a:rPr lang="en-US" sz="2100" dirty="0">
                <a:solidFill>
                  <a:srgbClr val="C5D9E4"/>
                </a:solidFill>
                <a:latin typeface="Arial" pitchFamily="34" charset="0"/>
                <a:ea typeface="Arial" pitchFamily="34" charset="-122"/>
                <a:cs typeface="Arial" pitchFamily="34" charset="-120"/>
              </a:rPr>
              <a:t>Department for Work and Pensions (DWP)</a:t>
            </a:r>
            <a:endParaRPr lang="en-US" sz="2100" dirty="0"/>
          </a:p>
        </p:txBody>
      </p:sp>
      <p:sp>
        <p:nvSpPr>
          <p:cNvPr id="14" name="Text 12"/>
          <p:cNvSpPr/>
          <p:nvPr/>
        </p:nvSpPr>
        <p:spPr>
          <a:xfrm>
            <a:off x="960120" y="5111496"/>
            <a:ext cx="5504688" cy="374904"/>
          </a:xfrm>
          <a:prstGeom prst="rect">
            <a:avLst/>
          </a:prstGeom>
          <a:noFill/>
          <a:ln/>
        </p:spPr>
        <p:txBody>
          <a:bodyPr wrap="square" lIns="0" tIns="0" rIns="0" bIns="0" rtlCol="0" anchor="ctr"/>
          <a:lstStyle/>
          <a:p>
            <a:pPr indent="0" marL="0">
              <a:buNone/>
            </a:pPr>
            <a:r>
              <a:rPr lang="en-US" sz="1900" dirty="0">
                <a:solidFill>
                  <a:srgbClr val="C5D9E4"/>
                </a:solidFill>
                <a:latin typeface="Arial" pitchFamily="34" charset="0"/>
                <a:ea typeface="Arial" pitchFamily="34" charset="-122"/>
                <a:cs typeface="Arial" pitchFamily="34" charset="-120"/>
              </a:rPr>
              <a:t>Digital and Transformation Group</a:t>
            </a:r>
            <a:endParaRPr lang="en-US" sz="1900" dirty="0"/>
          </a:p>
        </p:txBody>
      </p:sp>
      <p:sp>
        <p:nvSpPr>
          <p:cNvPr id="15" name="Text 13">
            <a:hlinkClick r:id="rId1" tooltip=""/>
          </p:cNvPr>
          <p:cNvSpPr/>
          <p:nvPr/>
        </p:nvSpPr>
        <p:spPr>
          <a:xfrm>
            <a:off x="960120" y="5806440"/>
            <a:ext cx="7269480" cy="310896"/>
          </a:xfrm>
          <a:prstGeom prst="rect">
            <a:avLst/>
          </a:prstGeom>
          <a:noFill/>
          <a:ln/>
        </p:spPr>
        <p:txBody>
          <a:bodyPr wrap="square" lIns="0" tIns="0" rIns="0" bIns="0" rtlCol="0" anchor="ctr"/>
          <a:lstStyle/>
          <a:p>
            <a:pPr indent="0" marL="0">
              <a:buNone/>
            </a:pPr>
            <a:r>
              <a:rPr lang="en-US" sz="1800"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nick.briggs@engineering.digital.dwp.gov.uk</a:t>
            </a:r>
            <a:endParaRPr lang="en-US" sz="1800" dirty="0"/>
          </a:p>
        </p:txBody>
      </p:sp>
      <p:sp>
        <p:nvSpPr>
          <p:cNvPr id="16" name="Text 14">
            <a:hlinkClick r:id="rId2" tooltip=""/>
          </p:cNvPr>
          <p:cNvSpPr/>
          <p:nvPr/>
        </p:nvSpPr>
        <p:spPr>
          <a:xfrm>
            <a:off x="960120" y="6473952"/>
            <a:ext cx="5212080" cy="265176"/>
          </a:xfrm>
          <a:prstGeom prst="rect">
            <a:avLst/>
          </a:prstGeom>
          <a:noFill/>
          <a:ln/>
        </p:spPr>
        <p:txBody>
          <a:bodyPr wrap="square" lIns="0" tIns="0" rIns="0" bIns="0" rtlCol="0" anchor="ctr"/>
          <a:lstStyle/>
          <a:p>
            <a:pPr indent="0" marL="0">
              <a:buNone/>
            </a:pPr>
            <a:r>
              <a:rPr lang="en-US" sz="1600" u="sng" dirty="0">
                <a:solidFill>
                  <a:srgbClr val="8ED5D3"/>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linkedin.com/in/nickbriggsuk</a:t>
            </a:r>
            <a:endParaRPr lang="en-US" sz="1600" dirty="0"/>
          </a:p>
        </p:txBody>
      </p:sp>
      <p:sp>
        <p:nvSpPr>
          <p:cNvPr id="17" name="Shape 15"/>
          <p:cNvSpPr/>
          <p:nvPr/>
        </p:nvSpPr>
        <p:spPr>
          <a:xfrm>
            <a:off x="6702552" y="4690872"/>
            <a:ext cx="1536192" cy="1536192"/>
          </a:xfrm>
          <a:prstGeom prst="rect">
            <a:avLst>
              <a:gd name="adj" fmla="val 7143"/>
            </a:avLst>
          </a:prstGeom>
          <a:solidFill>
            <a:srgbClr val="FFFFFF"/>
          </a:solidFill>
          <a:ln w="12700">
            <a:solidFill>
              <a:srgbClr val="FFFFFF"/>
            </a:solidFill>
            <a:prstDash val="solid"/>
          </a:ln>
        </p:spPr>
      </p:sp>
      <p:sp>
        <p:nvSpPr>
          <p:cNvPr id="18" name="Shape 16"/>
          <p:cNvSpPr/>
          <p:nvPr/>
        </p:nvSpPr>
        <p:spPr>
          <a:xfrm>
            <a:off x="6868627" y="4856947"/>
            <a:ext cx="291088" cy="41976"/>
          </a:xfrm>
          <a:prstGeom prst="rect">
            <a:avLst/>
          </a:prstGeom>
          <a:solidFill>
            <a:srgbClr val="000000"/>
          </a:solidFill>
          <a:ln w="12700">
            <a:solidFill>
              <a:srgbClr val="000000">
                <a:alpha val="0"/>
              </a:srgbClr>
            </a:solidFill>
            <a:prstDash val="solid"/>
          </a:ln>
        </p:spPr>
      </p:sp>
      <p:sp>
        <p:nvSpPr>
          <p:cNvPr id="19" name="Shape 17"/>
          <p:cNvSpPr/>
          <p:nvPr/>
        </p:nvSpPr>
        <p:spPr>
          <a:xfrm>
            <a:off x="7283814" y="4856947"/>
            <a:ext cx="41976" cy="41976"/>
          </a:xfrm>
          <a:prstGeom prst="rect">
            <a:avLst/>
          </a:prstGeom>
          <a:solidFill>
            <a:srgbClr val="000000"/>
          </a:solidFill>
          <a:ln w="12700">
            <a:solidFill>
              <a:srgbClr val="000000">
                <a:alpha val="0"/>
              </a:srgbClr>
            </a:solidFill>
            <a:prstDash val="solid"/>
          </a:ln>
        </p:spPr>
      </p:sp>
      <p:sp>
        <p:nvSpPr>
          <p:cNvPr id="20" name="Shape 18"/>
          <p:cNvSpPr/>
          <p:nvPr/>
        </p:nvSpPr>
        <p:spPr>
          <a:xfrm>
            <a:off x="7366851" y="4856947"/>
            <a:ext cx="125013" cy="41976"/>
          </a:xfrm>
          <a:prstGeom prst="rect">
            <a:avLst/>
          </a:prstGeom>
          <a:solidFill>
            <a:srgbClr val="000000"/>
          </a:solidFill>
          <a:ln w="12700">
            <a:solidFill>
              <a:srgbClr val="000000">
                <a:alpha val="0"/>
              </a:srgbClr>
            </a:solidFill>
            <a:prstDash val="solid"/>
          </a:ln>
        </p:spPr>
      </p:sp>
      <p:sp>
        <p:nvSpPr>
          <p:cNvPr id="21" name="Shape 19"/>
          <p:cNvSpPr/>
          <p:nvPr/>
        </p:nvSpPr>
        <p:spPr>
          <a:xfrm>
            <a:off x="7615963" y="4856947"/>
            <a:ext cx="41976" cy="41976"/>
          </a:xfrm>
          <a:prstGeom prst="rect">
            <a:avLst/>
          </a:prstGeom>
          <a:solidFill>
            <a:srgbClr val="000000"/>
          </a:solidFill>
          <a:ln w="12700">
            <a:solidFill>
              <a:srgbClr val="000000">
                <a:alpha val="0"/>
              </a:srgbClr>
            </a:solidFill>
            <a:prstDash val="solid"/>
          </a:ln>
        </p:spPr>
      </p:sp>
      <p:sp>
        <p:nvSpPr>
          <p:cNvPr id="22" name="Shape 20"/>
          <p:cNvSpPr/>
          <p:nvPr/>
        </p:nvSpPr>
        <p:spPr>
          <a:xfrm>
            <a:off x="7782038" y="4856947"/>
            <a:ext cx="291088" cy="41976"/>
          </a:xfrm>
          <a:prstGeom prst="rect">
            <a:avLst/>
          </a:prstGeom>
          <a:solidFill>
            <a:srgbClr val="000000"/>
          </a:solidFill>
          <a:ln w="12700">
            <a:solidFill>
              <a:srgbClr val="000000">
                <a:alpha val="0"/>
              </a:srgbClr>
            </a:solidFill>
            <a:prstDash val="solid"/>
          </a:ln>
        </p:spPr>
      </p:sp>
      <p:sp>
        <p:nvSpPr>
          <p:cNvPr id="23" name="Shape 21"/>
          <p:cNvSpPr/>
          <p:nvPr/>
        </p:nvSpPr>
        <p:spPr>
          <a:xfrm>
            <a:off x="6868627" y="4898466"/>
            <a:ext cx="41976" cy="41976"/>
          </a:xfrm>
          <a:prstGeom prst="rect">
            <a:avLst/>
          </a:prstGeom>
          <a:solidFill>
            <a:srgbClr val="000000"/>
          </a:solidFill>
          <a:ln w="12700">
            <a:solidFill>
              <a:srgbClr val="000000">
                <a:alpha val="0"/>
              </a:srgbClr>
            </a:solidFill>
            <a:prstDash val="solid"/>
          </a:ln>
        </p:spPr>
      </p:sp>
      <p:sp>
        <p:nvSpPr>
          <p:cNvPr id="24" name="Shape 22"/>
          <p:cNvSpPr/>
          <p:nvPr/>
        </p:nvSpPr>
        <p:spPr>
          <a:xfrm>
            <a:off x="7117739" y="4898466"/>
            <a:ext cx="41976" cy="41976"/>
          </a:xfrm>
          <a:prstGeom prst="rect">
            <a:avLst/>
          </a:prstGeom>
          <a:solidFill>
            <a:srgbClr val="000000"/>
          </a:solidFill>
          <a:ln w="12700">
            <a:solidFill>
              <a:srgbClr val="000000">
                <a:alpha val="0"/>
              </a:srgbClr>
            </a:solidFill>
            <a:prstDash val="solid"/>
          </a:ln>
        </p:spPr>
      </p:sp>
      <p:sp>
        <p:nvSpPr>
          <p:cNvPr id="25" name="Shape 23"/>
          <p:cNvSpPr/>
          <p:nvPr/>
        </p:nvSpPr>
        <p:spPr>
          <a:xfrm>
            <a:off x="7200776" y="4898466"/>
            <a:ext cx="166532" cy="41976"/>
          </a:xfrm>
          <a:prstGeom prst="rect">
            <a:avLst/>
          </a:prstGeom>
          <a:solidFill>
            <a:srgbClr val="000000"/>
          </a:solidFill>
          <a:ln w="12700">
            <a:solidFill>
              <a:srgbClr val="000000">
                <a:alpha val="0"/>
              </a:srgbClr>
            </a:solidFill>
            <a:prstDash val="solid"/>
          </a:ln>
        </p:spPr>
      </p:sp>
      <p:sp>
        <p:nvSpPr>
          <p:cNvPr id="26" name="Shape 24"/>
          <p:cNvSpPr/>
          <p:nvPr/>
        </p:nvSpPr>
        <p:spPr>
          <a:xfrm>
            <a:off x="7408370" y="4898466"/>
            <a:ext cx="83495" cy="41976"/>
          </a:xfrm>
          <a:prstGeom prst="rect">
            <a:avLst/>
          </a:prstGeom>
          <a:solidFill>
            <a:srgbClr val="000000"/>
          </a:solidFill>
          <a:ln w="12700">
            <a:solidFill>
              <a:srgbClr val="000000">
                <a:alpha val="0"/>
              </a:srgbClr>
            </a:solidFill>
            <a:prstDash val="solid"/>
          </a:ln>
        </p:spPr>
      </p:sp>
      <p:sp>
        <p:nvSpPr>
          <p:cNvPr id="27" name="Shape 25"/>
          <p:cNvSpPr/>
          <p:nvPr/>
        </p:nvSpPr>
        <p:spPr>
          <a:xfrm>
            <a:off x="7532926" y="4898466"/>
            <a:ext cx="83495" cy="41976"/>
          </a:xfrm>
          <a:prstGeom prst="rect">
            <a:avLst/>
          </a:prstGeom>
          <a:solidFill>
            <a:srgbClr val="000000"/>
          </a:solidFill>
          <a:ln w="12700">
            <a:solidFill>
              <a:srgbClr val="000000">
                <a:alpha val="0"/>
              </a:srgbClr>
            </a:solidFill>
            <a:prstDash val="solid"/>
          </a:ln>
        </p:spPr>
      </p:sp>
      <p:sp>
        <p:nvSpPr>
          <p:cNvPr id="28" name="Shape 26"/>
          <p:cNvSpPr/>
          <p:nvPr/>
        </p:nvSpPr>
        <p:spPr>
          <a:xfrm>
            <a:off x="7699001" y="4898466"/>
            <a:ext cx="41976" cy="41976"/>
          </a:xfrm>
          <a:prstGeom prst="rect">
            <a:avLst/>
          </a:prstGeom>
          <a:solidFill>
            <a:srgbClr val="000000"/>
          </a:solidFill>
          <a:ln w="12700">
            <a:solidFill>
              <a:srgbClr val="000000">
                <a:alpha val="0"/>
              </a:srgbClr>
            </a:solidFill>
            <a:prstDash val="solid"/>
          </a:ln>
        </p:spPr>
      </p:sp>
      <p:sp>
        <p:nvSpPr>
          <p:cNvPr id="29" name="Shape 27"/>
          <p:cNvSpPr/>
          <p:nvPr/>
        </p:nvSpPr>
        <p:spPr>
          <a:xfrm>
            <a:off x="7782038" y="4898466"/>
            <a:ext cx="41976" cy="41976"/>
          </a:xfrm>
          <a:prstGeom prst="rect">
            <a:avLst/>
          </a:prstGeom>
          <a:solidFill>
            <a:srgbClr val="000000"/>
          </a:solidFill>
          <a:ln w="12700">
            <a:solidFill>
              <a:srgbClr val="000000">
                <a:alpha val="0"/>
              </a:srgbClr>
            </a:solidFill>
            <a:prstDash val="solid"/>
          </a:ln>
        </p:spPr>
      </p:sp>
      <p:sp>
        <p:nvSpPr>
          <p:cNvPr id="30" name="Shape 28"/>
          <p:cNvSpPr/>
          <p:nvPr/>
        </p:nvSpPr>
        <p:spPr>
          <a:xfrm>
            <a:off x="8031150" y="4898466"/>
            <a:ext cx="41976" cy="41976"/>
          </a:xfrm>
          <a:prstGeom prst="rect">
            <a:avLst/>
          </a:prstGeom>
          <a:solidFill>
            <a:srgbClr val="000000"/>
          </a:solidFill>
          <a:ln w="12700">
            <a:solidFill>
              <a:srgbClr val="000000">
                <a:alpha val="0"/>
              </a:srgbClr>
            </a:solidFill>
            <a:prstDash val="solid"/>
          </a:ln>
        </p:spPr>
      </p:sp>
      <p:sp>
        <p:nvSpPr>
          <p:cNvPr id="31" name="Shape 29"/>
          <p:cNvSpPr/>
          <p:nvPr/>
        </p:nvSpPr>
        <p:spPr>
          <a:xfrm>
            <a:off x="6868627" y="4939984"/>
            <a:ext cx="41976" cy="41976"/>
          </a:xfrm>
          <a:prstGeom prst="rect">
            <a:avLst/>
          </a:prstGeom>
          <a:solidFill>
            <a:srgbClr val="000000"/>
          </a:solidFill>
          <a:ln w="12700">
            <a:solidFill>
              <a:srgbClr val="000000">
                <a:alpha val="0"/>
              </a:srgbClr>
            </a:solidFill>
            <a:prstDash val="solid"/>
          </a:ln>
        </p:spPr>
      </p:sp>
      <p:sp>
        <p:nvSpPr>
          <p:cNvPr id="32" name="Shape 30"/>
          <p:cNvSpPr/>
          <p:nvPr/>
        </p:nvSpPr>
        <p:spPr>
          <a:xfrm>
            <a:off x="6951664" y="4939984"/>
            <a:ext cx="125013" cy="41976"/>
          </a:xfrm>
          <a:prstGeom prst="rect">
            <a:avLst/>
          </a:prstGeom>
          <a:solidFill>
            <a:srgbClr val="000000"/>
          </a:solidFill>
          <a:ln w="12700">
            <a:solidFill>
              <a:srgbClr val="000000">
                <a:alpha val="0"/>
              </a:srgbClr>
            </a:solidFill>
            <a:prstDash val="solid"/>
          </a:ln>
        </p:spPr>
      </p:sp>
      <p:sp>
        <p:nvSpPr>
          <p:cNvPr id="33" name="Shape 31"/>
          <p:cNvSpPr/>
          <p:nvPr/>
        </p:nvSpPr>
        <p:spPr>
          <a:xfrm>
            <a:off x="7117739" y="4939984"/>
            <a:ext cx="41976" cy="41976"/>
          </a:xfrm>
          <a:prstGeom prst="rect">
            <a:avLst/>
          </a:prstGeom>
          <a:solidFill>
            <a:srgbClr val="000000"/>
          </a:solidFill>
          <a:ln w="12700">
            <a:solidFill>
              <a:srgbClr val="000000">
                <a:alpha val="0"/>
              </a:srgbClr>
            </a:solidFill>
            <a:prstDash val="solid"/>
          </a:ln>
        </p:spPr>
      </p:sp>
      <p:sp>
        <p:nvSpPr>
          <p:cNvPr id="34" name="Shape 32"/>
          <p:cNvSpPr/>
          <p:nvPr/>
        </p:nvSpPr>
        <p:spPr>
          <a:xfrm>
            <a:off x="7200776" y="4939984"/>
            <a:ext cx="41976" cy="41976"/>
          </a:xfrm>
          <a:prstGeom prst="rect">
            <a:avLst/>
          </a:prstGeom>
          <a:solidFill>
            <a:srgbClr val="000000"/>
          </a:solidFill>
          <a:ln w="12700">
            <a:solidFill>
              <a:srgbClr val="000000">
                <a:alpha val="0"/>
              </a:srgbClr>
            </a:solidFill>
            <a:prstDash val="solid"/>
          </a:ln>
        </p:spPr>
      </p:sp>
      <p:sp>
        <p:nvSpPr>
          <p:cNvPr id="35" name="Shape 33"/>
          <p:cNvSpPr/>
          <p:nvPr/>
        </p:nvSpPr>
        <p:spPr>
          <a:xfrm>
            <a:off x="7283814" y="4939984"/>
            <a:ext cx="41976" cy="41976"/>
          </a:xfrm>
          <a:prstGeom prst="rect">
            <a:avLst/>
          </a:prstGeom>
          <a:solidFill>
            <a:srgbClr val="000000"/>
          </a:solidFill>
          <a:ln w="12700">
            <a:solidFill>
              <a:srgbClr val="000000">
                <a:alpha val="0"/>
              </a:srgbClr>
            </a:solidFill>
            <a:prstDash val="solid"/>
          </a:ln>
        </p:spPr>
      </p:sp>
      <p:sp>
        <p:nvSpPr>
          <p:cNvPr id="36" name="Shape 34"/>
          <p:cNvSpPr/>
          <p:nvPr/>
        </p:nvSpPr>
        <p:spPr>
          <a:xfrm>
            <a:off x="7449889" y="4939984"/>
            <a:ext cx="41976" cy="41976"/>
          </a:xfrm>
          <a:prstGeom prst="rect">
            <a:avLst/>
          </a:prstGeom>
          <a:solidFill>
            <a:srgbClr val="000000"/>
          </a:solidFill>
          <a:ln w="12700">
            <a:solidFill>
              <a:srgbClr val="000000">
                <a:alpha val="0"/>
              </a:srgbClr>
            </a:solidFill>
            <a:prstDash val="solid"/>
          </a:ln>
        </p:spPr>
      </p:sp>
      <p:sp>
        <p:nvSpPr>
          <p:cNvPr id="37" name="Shape 35"/>
          <p:cNvSpPr/>
          <p:nvPr/>
        </p:nvSpPr>
        <p:spPr>
          <a:xfrm>
            <a:off x="7532926" y="4939984"/>
            <a:ext cx="41976" cy="41976"/>
          </a:xfrm>
          <a:prstGeom prst="rect">
            <a:avLst/>
          </a:prstGeom>
          <a:solidFill>
            <a:srgbClr val="000000"/>
          </a:solidFill>
          <a:ln w="12700">
            <a:solidFill>
              <a:srgbClr val="000000">
                <a:alpha val="0"/>
              </a:srgbClr>
            </a:solidFill>
            <a:prstDash val="solid"/>
          </a:ln>
        </p:spPr>
      </p:sp>
      <p:sp>
        <p:nvSpPr>
          <p:cNvPr id="38" name="Shape 36"/>
          <p:cNvSpPr/>
          <p:nvPr/>
        </p:nvSpPr>
        <p:spPr>
          <a:xfrm>
            <a:off x="7657482" y="4939984"/>
            <a:ext cx="41976" cy="41976"/>
          </a:xfrm>
          <a:prstGeom prst="rect">
            <a:avLst/>
          </a:prstGeom>
          <a:solidFill>
            <a:srgbClr val="000000"/>
          </a:solidFill>
          <a:ln w="12700">
            <a:solidFill>
              <a:srgbClr val="000000">
                <a:alpha val="0"/>
              </a:srgbClr>
            </a:solidFill>
            <a:prstDash val="solid"/>
          </a:ln>
        </p:spPr>
      </p:sp>
      <p:sp>
        <p:nvSpPr>
          <p:cNvPr id="39" name="Shape 37"/>
          <p:cNvSpPr/>
          <p:nvPr/>
        </p:nvSpPr>
        <p:spPr>
          <a:xfrm>
            <a:off x="7782038" y="4939984"/>
            <a:ext cx="41976" cy="41976"/>
          </a:xfrm>
          <a:prstGeom prst="rect">
            <a:avLst/>
          </a:prstGeom>
          <a:solidFill>
            <a:srgbClr val="000000"/>
          </a:solidFill>
          <a:ln w="12700">
            <a:solidFill>
              <a:srgbClr val="000000">
                <a:alpha val="0"/>
              </a:srgbClr>
            </a:solidFill>
            <a:prstDash val="solid"/>
          </a:ln>
        </p:spPr>
      </p:sp>
      <p:sp>
        <p:nvSpPr>
          <p:cNvPr id="40" name="Shape 38"/>
          <p:cNvSpPr/>
          <p:nvPr/>
        </p:nvSpPr>
        <p:spPr>
          <a:xfrm>
            <a:off x="7865076" y="4939984"/>
            <a:ext cx="125013" cy="41976"/>
          </a:xfrm>
          <a:prstGeom prst="rect">
            <a:avLst/>
          </a:prstGeom>
          <a:solidFill>
            <a:srgbClr val="000000"/>
          </a:solidFill>
          <a:ln w="12700">
            <a:solidFill>
              <a:srgbClr val="000000">
                <a:alpha val="0"/>
              </a:srgbClr>
            </a:solidFill>
            <a:prstDash val="solid"/>
          </a:ln>
        </p:spPr>
      </p:sp>
      <p:sp>
        <p:nvSpPr>
          <p:cNvPr id="41" name="Shape 39"/>
          <p:cNvSpPr/>
          <p:nvPr/>
        </p:nvSpPr>
        <p:spPr>
          <a:xfrm>
            <a:off x="8031150" y="4939984"/>
            <a:ext cx="41976" cy="41976"/>
          </a:xfrm>
          <a:prstGeom prst="rect">
            <a:avLst/>
          </a:prstGeom>
          <a:solidFill>
            <a:srgbClr val="000000"/>
          </a:solidFill>
          <a:ln w="12700">
            <a:solidFill>
              <a:srgbClr val="000000">
                <a:alpha val="0"/>
              </a:srgbClr>
            </a:solidFill>
            <a:prstDash val="solid"/>
          </a:ln>
        </p:spPr>
      </p:sp>
      <p:sp>
        <p:nvSpPr>
          <p:cNvPr id="42" name="Shape 40"/>
          <p:cNvSpPr/>
          <p:nvPr/>
        </p:nvSpPr>
        <p:spPr>
          <a:xfrm>
            <a:off x="6868627" y="4981503"/>
            <a:ext cx="41976" cy="41976"/>
          </a:xfrm>
          <a:prstGeom prst="rect">
            <a:avLst/>
          </a:prstGeom>
          <a:solidFill>
            <a:srgbClr val="000000"/>
          </a:solidFill>
          <a:ln w="12700">
            <a:solidFill>
              <a:srgbClr val="000000">
                <a:alpha val="0"/>
              </a:srgbClr>
            </a:solidFill>
            <a:prstDash val="solid"/>
          </a:ln>
        </p:spPr>
      </p:sp>
      <p:sp>
        <p:nvSpPr>
          <p:cNvPr id="43" name="Shape 41"/>
          <p:cNvSpPr/>
          <p:nvPr/>
        </p:nvSpPr>
        <p:spPr>
          <a:xfrm>
            <a:off x="6951664" y="4981503"/>
            <a:ext cx="125013" cy="41976"/>
          </a:xfrm>
          <a:prstGeom prst="rect">
            <a:avLst/>
          </a:prstGeom>
          <a:solidFill>
            <a:srgbClr val="000000"/>
          </a:solidFill>
          <a:ln w="12700">
            <a:solidFill>
              <a:srgbClr val="000000">
                <a:alpha val="0"/>
              </a:srgbClr>
            </a:solidFill>
            <a:prstDash val="solid"/>
          </a:ln>
        </p:spPr>
      </p:sp>
      <p:sp>
        <p:nvSpPr>
          <p:cNvPr id="44" name="Shape 42"/>
          <p:cNvSpPr/>
          <p:nvPr/>
        </p:nvSpPr>
        <p:spPr>
          <a:xfrm>
            <a:off x="7117739" y="4981503"/>
            <a:ext cx="41976" cy="41976"/>
          </a:xfrm>
          <a:prstGeom prst="rect">
            <a:avLst/>
          </a:prstGeom>
          <a:solidFill>
            <a:srgbClr val="000000"/>
          </a:solidFill>
          <a:ln w="12700">
            <a:solidFill>
              <a:srgbClr val="000000">
                <a:alpha val="0"/>
              </a:srgbClr>
            </a:solidFill>
            <a:prstDash val="solid"/>
          </a:ln>
        </p:spPr>
      </p:sp>
      <p:sp>
        <p:nvSpPr>
          <p:cNvPr id="45" name="Shape 43"/>
          <p:cNvSpPr/>
          <p:nvPr/>
        </p:nvSpPr>
        <p:spPr>
          <a:xfrm>
            <a:off x="7200776" y="4981503"/>
            <a:ext cx="41976" cy="41976"/>
          </a:xfrm>
          <a:prstGeom prst="rect">
            <a:avLst/>
          </a:prstGeom>
          <a:solidFill>
            <a:srgbClr val="000000"/>
          </a:solidFill>
          <a:ln w="12700">
            <a:solidFill>
              <a:srgbClr val="000000">
                <a:alpha val="0"/>
              </a:srgbClr>
            </a:solidFill>
            <a:prstDash val="solid"/>
          </a:ln>
        </p:spPr>
      </p:sp>
      <p:sp>
        <p:nvSpPr>
          <p:cNvPr id="46" name="Shape 44"/>
          <p:cNvSpPr/>
          <p:nvPr/>
        </p:nvSpPr>
        <p:spPr>
          <a:xfrm>
            <a:off x="7325333" y="4981503"/>
            <a:ext cx="125013" cy="41976"/>
          </a:xfrm>
          <a:prstGeom prst="rect">
            <a:avLst/>
          </a:prstGeom>
          <a:solidFill>
            <a:srgbClr val="000000"/>
          </a:solidFill>
          <a:ln w="12700">
            <a:solidFill>
              <a:srgbClr val="000000">
                <a:alpha val="0"/>
              </a:srgbClr>
            </a:solidFill>
            <a:prstDash val="solid"/>
          </a:ln>
        </p:spPr>
      </p:sp>
      <p:sp>
        <p:nvSpPr>
          <p:cNvPr id="47" name="Shape 45"/>
          <p:cNvSpPr/>
          <p:nvPr/>
        </p:nvSpPr>
        <p:spPr>
          <a:xfrm>
            <a:off x="7532926" y="4981503"/>
            <a:ext cx="83495" cy="41976"/>
          </a:xfrm>
          <a:prstGeom prst="rect">
            <a:avLst/>
          </a:prstGeom>
          <a:solidFill>
            <a:srgbClr val="000000"/>
          </a:solidFill>
          <a:ln w="12700">
            <a:solidFill>
              <a:srgbClr val="000000">
                <a:alpha val="0"/>
              </a:srgbClr>
            </a:solidFill>
            <a:prstDash val="solid"/>
          </a:ln>
        </p:spPr>
      </p:sp>
      <p:sp>
        <p:nvSpPr>
          <p:cNvPr id="48" name="Shape 46"/>
          <p:cNvSpPr/>
          <p:nvPr/>
        </p:nvSpPr>
        <p:spPr>
          <a:xfrm>
            <a:off x="7699001" y="4981503"/>
            <a:ext cx="41976" cy="41976"/>
          </a:xfrm>
          <a:prstGeom prst="rect">
            <a:avLst/>
          </a:prstGeom>
          <a:solidFill>
            <a:srgbClr val="000000"/>
          </a:solidFill>
          <a:ln w="12700">
            <a:solidFill>
              <a:srgbClr val="000000">
                <a:alpha val="0"/>
              </a:srgbClr>
            </a:solidFill>
            <a:prstDash val="solid"/>
          </a:ln>
        </p:spPr>
      </p:sp>
      <p:sp>
        <p:nvSpPr>
          <p:cNvPr id="49" name="Shape 47"/>
          <p:cNvSpPr/>
          <p:nvPr/>
        </p:nvSpPr>
        <p:spPr>
          <a:xfrm>
            <a:off x="7782038" y="4981503"/>
            <a:ext cx="41976" cy="41976"/>
          </a:xfrm>
          <a:prstGeom prst="rect">
            <a:avLst/>
          </a:prstGeom>
          <a:solidFill>
            <a:srgbClr val="000000"/>
          </a:solidFill>
          <a:ln w="12700">
            <a:solidFill>
              <a:srgbClr val="000000">
                <a:alpha val="0"/>
              </a:srgbClr>
            </a:solidFill>
            <a:prstDash val="solid"/>
          </a:ln>
        </p:spPr>
      </p:sp>
      <p:sp>
        <p:nvSpPr>
          <p:cNvPr id="50" name="Shape 48"/>
          <p:cNvSpPr/>
          <p:nvPr/>
        </p:nvSpPr>
        <p:spPr>
          <a:xfrm>
            <a:off x="7865076" y="4981503"/>
            <a:ext cx="125013" cy="41976"/>
          </a:xfrm>
          <a:prstGeom prst="rect">
            <a:avLst/>
          </a:prstGeom>
          <a:solidFill>
            <a:srgbClr val="000000"/>
          </a:solidFill>
          <a:ln w="12700">
            <a:solidFill>
              <a:srgbClr val="000000">
                <a:alpha val="0"/>
              </a:srgbClr>
            </a:solidFill>
            <a:prstDash val="solid"/>
          </a:ln>
        </p:spPr>
      </p:sp>
      <p:sp>
        <p:nvSpPr>
          <p:cNvPr id="51" name="Shape 49"/>
          <p:cNvSpPr/>
          <p:nvPr/>
        </p:nvSpPr>
        <p:spPr>
          <a:xfrm>
            <a:off x="8031150" y="4981503"/>
            <a:ext cx="41976" cy="41976"/>
          </a:xfrm>
          <a:prstGeom prst="rect">
            <a:avLst/>
          </a:prstGeom>
          <a:solidFill>
            <a:srgbClr val="000000"/>
          </a:solidFill>
          <a:ln w="12700">
            <a:solidFill>
              <a:srgbClr val="000000">
                <a:alpha val="0"/>
              </a:srgbClr>
            </a:solidFill>
            <a:prstDash val="solid"/>
          </a:ln>
        </p:spPr>
      </p:sp>
      <p:sp>
        <p:nvSpPr>
          <p:cNvPr id="52" name="Shape 50"/>
          <p:cNvSpPr/>
          <p:nvPr/>
        </p:nvSpPr>
        <p:spPr>
          <a:xfrm>
            <a:off x="6868627" y="5023022"/>
            <a:ext cx="41976" cy="41976"/>
          </a:xfrm>
          <a:prstGeom prst="rect">
            <a:avLst/>
          </a:prstGeom>
          <a:solidFill>
            <a:srgbClr val="000000"/>
          </a:solidFill>
          <a:ln w="12700">
            <a:solidFill>
              <a:srgbClr val="000000">
                <a:alpha val="0"/>
              </a:srgbClr>
            </a:solidFill>
            <a:prstDash val="solid"/>
          </a:ln>
        </p:spPr>
      </p:sp>
      <p:sp>
        <p:nvSpPr>
          <p:cNvPr id="53" name="Shape 51"/>
          <p:cNvSpPr/>
          <p:nvPr/>
        </p:nvSpPr>
        <p:spPr>
          <a:xfrm>
            <a:off x="6951664" y="5023022"/>
            <a:ext cx="125013" cy="41976"/>
          </a:xfrm>
          <a:prstGeom prst="rect">
            <a:avLst/>
          </a:prstGeom>
          <a:solidFill>
            <a:srgbClr val="000000"/>
          </a:solidFill>
          <a:ln w="12700">
            <a:solidFill>
              <a:srgbClr val="000000">
                <a:alpha val="0"/>
              </a:srgbClr>
            </a:solidFill>
            <a:prstDash val="solid"/>
          </a:ln>
        </p:spPr>
      </p:sp>
      <p:sp>
        <p:nvSpPr>
          <p:cNvPr id="54" name="Shape 52"/>
          <p:cNvSpPr/>
          <p:nvPr/>
        </p:nvSpPr>
        <p:spPr>
          <a:xfrm>
            <a:off x="7117739" y="5023022"/>
            <a:ext cx="41976" cy="41976"/>
          </a:xfrm>
          <a:prstGeom prst="rect">
            <a:avLst/>
          </a:prstGeom>
          <a:solidFill>
            <a:srgbClr val="000000"/>
          </a:solidFill>
          <a:ln w="12700">
            <a:solidFill>
              <a:srgbClr val="000000">
                <a:alpha val="0"/>
              </a:srgbClr>
            </a:solidFill>
            <a:prstDash val="solid"/>
          </a:ln>
        </p:spPr>
      </p:sp>
      <p:sp>
        <p:nvSpPr>
          <p:cNvPr id="55" name="Shape 53"/>
          <p:cNvSpPr/>
          <p:nvPr/>
        </p:nvSpPr>
        <p:spPr>
          <a:xfrm>
            <a:off x="7242295" y="5023022"/>
            <a:ext cx="41976" cy="41976"/>
          </a:xfrm>
          <a:prstGeom prst="rect">
            <a:avLst/>
          </a:prstGeom>
          <a:solidFill>
            <a:srgbClr val="000000"/>
          </a:solidFill>
          <a:ln w="12700">
            <a:solidFill>
              <a:srgbClr val="000000">
                <a:alpha val="0"/>
              </a:srgbClr>
            </a:solidFill>
            <a:prstDash val="solid"/>
          </a:ln>
        </p:spPr>
      </p:sp>
      <p:sp>
        <p:nvSpPr>
          <p:cNvPr id="56" name="Shape 54"/>
          <p:cNvSpPr/>
          <p:nvPr/>
        </p:nvSpPr>
        <p:spPr>
          <a:xfrm>
            <a:off x="7325333" y="5023022"/>
            <a:ext cx="83495" cy="41976"/>
          </a:xfrm>
          <a:prstGeom prst="rect">
            <a:avLst/>
          </a:prstGeom>
          <a:solidFill>
            <a:srgbClr val="000000"/>
          </a:solidFill>
          <a:ln w="12700">
            <a:solidFill>
              <a:srgbClr val="000000">
                <a:alpha val="0"/>
              </a:srgbClr>
            </a:solidFill>
            <a:prstDash val="solid"/>
          </a:ln>
        </p:spPr>
      </p:sp>
      <p:sp>
        <p:nvSpPr>
          <p:cNvPr id="57" name="Shape 55"/>
          <p:cNvSpPr/>
          <p:nvPr/>
        </p:nvSpPr>
        <p:spPr>
          <a:xfrm>
            <a:off x="7449889" y="5023022"/>
            <a:ext cx="41976" cy="41976"/>
          </a:xfrm>
          <a:prstGeom prst="rect">
            <a:avLst/>
          </a:prstGeom>
          <a:solidFill>
            <a:srgbClr val="000000"/>
          </a:solidFill>
          <a:ln w="12700">
            <a:solidFill>
              <a:srgbClr val="000000">
                <a:alpha val="0"/>
              </a:srgbClr>
            </a:solidFill>
            <a:prstDash val="solid"/>
          </a:ln>
        </p:spPr>
      </p:sp>
      <p:sp>
        <p:nvSpPr>
          <p:cNvPr id="58" name="Shape 56"/>
          <p:cNvSpPr/>
          <p:nvPr/>
        </p:nvSpPr>
        <p:spPr>
          <a:xfrm>
            <a:off x="7532926" y="5023022"/>
            <a:ext cx="208051" cy="41976"/>
          </a:xfrm>
          <a:prstGeom prst="rect">
            <a:avLst/>
          </a:prstGeom>
          <a:solidFill>
            <a:srgbClr val="000000"/>
          </a:solidFill>
          <a:ln w="12700">
            <a:solidFill>
              <a:srgbClr val="000000">
                <a:alpha val="0"/>
              </a:srgbClr>
            </a:solidFill>
            <a:prstDash val="solid"/>
          </a:ln>
        </p:spPr>
      </p:sp>
      <p:sp>
        <p:nvSpPr>
          <p:cNvPr id="59" name="Shape 57"/>
          <p:cNvSpPr/>
          <p:nvPr/>
        </p:nvSpPr>
        <p:spPr>
          <a:xfrm>
            <a:off x="7782038" y="5023022"/>
            <a:ext cx="41976" cy="41976"/>
          </a:xfrm>
          <a:prstGeom prst="rect">
            <a:avLst/>
          </a:prstGeom>
          <a:solidFill>
            <a:srgbClr val="000000"/>
          </a:solidFill>
          <a:ln w="12700">
            <a:solidFill>
              <a:srgbClr val="000000">
                <a:alpha val="0"/>
              </a:srgbClr>
            </a:solidFill>
            <a:prstDash val="solid"/>
          </a:ln>
        </p:spPr>
      </p:sp>
      <p:sp>
        <p:nvSpPr>
          <p:cNvPr id="60" name="Shape 58"/>
          <p:cNvSpPr/>
          <p:nvPr/>
        </p:nvSpPr>
        <p:spPr>
          <a:xfrm>
            <a:off x="7865076" y="5023022"/>
            <a:ext cx="125013" cy="41976"/>
          </a:xfrm>
          <a:prstGeom prst="rect">
            <a:avLst/>
          </a:prstGeom>
          <a:solidFill>
            <a:srgbClr val="000000"/>
          </a:solidFill>
          <a:ln w="12700">
            <a:solidFill>
              <a:srgbClr val="000000">
                <a:alpha val="0"/>
              </a:srgbClr>
            </a:solidFill>
            <a:prstDash val="solid"/>
          </a:ln>
        </p:spPr>
      </p:sp>
      <p:sp>
        <p:nvSpPr>
          <p:cNvPr id="61" name="Shape 59"/>
          <p:cNvSpPr/>
          <p:nvPr/>
        </p:nvSpPr>
        <p:spPr>
          <a:xfrm>
            <a:off x="8031150" y="5023022"/>
            <a:ext cx="41976" cy="41976"/>
          </a:xfrm>
          <a:prstGeom prst="rect">
            <a:avLst/>
          </a:prstGeom>
          <a:solidFill>
            <a:srgbClr val="000000"/>
          </a:solidFill>
          <a:ln w="12700">
            <a:solidFill>
              <a:srgbClr val="000000">
                <a:alpha val="0"/>
              </a:srgbClr>
            </a:solidFill>
            <a:prstDash val="solid"/>
          </a:ln>
        </p:spPr>
      </p:sp>
      <p:sp>
        <p:nvSpPr>
          <p:cNvPr id="62" name="Shape 60"/>
          <p:cNvSpPr/>
          <p:nvPr/>
        </p:nvSpPr>
        <p:spPr>
          <a:xfrm>
            <a:off x="6868627" y="5064540"/>
            <a:ext cx="41976" cy="41976"/>
          </a:xfrm>
          <a:prstGeom prst="rect">
            <a:avLst/>
          </a:prstGeom>
          <a:solidFill>
            <a:srgbClr val="000000"/>
          </a:solidFill>
          <a:ln w="12700">
            <a:solidFill>
              <a:srgbClr val="000000">
                <a:alpha val="0"/>
              </a:srgbClr>
            </a:solidFill>
            <a:prstDash val="solid"/>
          </a:ln>
        </p:spPr>
      </p:sp>
      <p:sp>
        <p:nvSpPr>
          <p:cNvPr id="63" name="Shape 61"/>
          <p:cNvSpPr/>
          <p:nvPr/>
        </p:nvSpPr>
        <p:spPr>
          <a:xfrm>
            <a:off x="7117739" y="5064540"/>
            <a:ext cx="41976" cy="41976"/>
          </a:xfrm>
          <a:prstGeom prst="rect">
            <a:avLst/>
          </a:prstGeom>
          <a:solidFill>
            <a:srgbClr val="000000"/>
          </a:solidFill>
          <a:ln w="12700">
            <a:solidFill>
              <a:srgbClr val="000000">
                <a:alpha val="0"/>
              </a:srgbClr>
            </a:solidFill>
            <a:prstDash val="solid"/>
          </a:ln>
        </p:spPr>
      </p:sp>
      <p:sp>
        <p:nvSpPr>
          <p:cNvPr id="64" name="Shape 62"/>
          <p:cNvSpPr/>
          <p:nvPr/>
        </p:nvSpPr>
        <p:spPr>
          <a:xfrm>
            <a:off x="7242295" y="5064540"/>
            <a:ext cx="208051" cy="41976"/>
          </a:xfrm>
          <a:prstGeom prst="rect">
            <a:avLst/>
          </a:prstGeom>
          <a:solidFill>
            <a:srgbClr val="000000"/>
          </a:solidFill>
          <a:ln w="12700">
            <a:solidFill>
              <a:srgbClr val="000000">
                <a:alpha val="0"/>
              </a:srgbClr>
            </a:solidFill>
            <a:prstDash val="solid"/>
          </a:ln>
        </p:spPr>
      </p:sp>
      <p:sp>
        <p:nvSpPr>
          <p:cNvPr id="65" name="Shape 63"/>
          <p:cNvSpPr/>
          <p:nvPr/>
        </p:nvSpPr>
        <p:spPr>
          <a:xfrm>
            <a:off x="7532926" y="5064540"/>
            <a:ext cx="41976" cy="41976"/>
          </a:xfrm>
          <a:prstGeom prst="rect">
            <a:avLst/>
          </a:prstGeom>
          <a:solidFill>
            <a:srgbClr val="000000"/>
          </a:solidFill>
          <a:ln w="12700">
            <a:solidFill>
              <a:srgbClr val="000000">
                <a:alpha val="0"/>
              </a:srgbClr>
            </a:solidFill>
            <a:prstDash val="solid"/>
          </a:ln>
        </p:spPr>
      </p:sp>
      <p:sp>
        <p:nvSpPr>
          <p:cNvPr id="66" name="Shape 64"/>
          <p:cNvSpPr/>
          <p:nvPr/>
        </p:nvSpPr>
        <p:spPr>
          <a:xfrm>
            <a:off x="7782038" y="5064540"/>
            <a:ext cx="41976" cy="41976"/>
          </a:xfrm>
          <a:prstGeom prst="rect">
            <a:avLst/>
          </a:prstGeom>
          <a:solidFill>
            <a:srgbClr val="000000"/>
          </a:solidFill>
          <a:ln w="12700">
            <a:solidFill>
              <a:srgbClr val="000000">
                <a:alpha val="0"/>
              </a:srgbClr>
            </a:solidFill>
            <a:prstDash val="solid"/>
          </a:ln>
        </p:spPr>
      </p:sp>
      <p:sp>
        <p:nvSpPr>
          <p:cNvPr id="67" name="Shape 65"/>
          <p:cNvSpPr/>
          <p:nvPr/>
        </p:nvSpPr>
        <p:spPr>
          <a:xfrm>
            <a:off x="8031150" y="5064540"/>
            <a:ext cx="41976" cy="41976"/>
          </a:xfrm>
          <a:prstGeom prst="rect">
            <a:avLst/>
          </a:prstGeom>
          <a:solidFill>
            <a:srgbClr val="000000"/>
          </a:solidFill>
          <a:ln w="12700">
            <a:solidFill>
              <a:srgbClr val="000000">
                <a:alpha val="0"/>
              </a:srgbClr>
            </a:solidFill>
            <a:prstDash val="solid"/>
          </a:ln>
        </p:spPr>
      </p:sp>
      <p:sp>
        <p:nvSpPr>
          <p:cNvPr id="68" name="Shape 66"/>
          <p:cNvSpPr/>
          <p:nvPr/>
        </p:nvSpPr>
        <p:spPr>
          <a:xfrm>
            <a:off x="6868627" y="5106059"/>
            <a:ext cx="291088" cy="41976"/>
          </a:xfrm>
          <a:prstGeom prst="rect">
            <a:avLst/>
          </a:prstGeom>
          <a:solidFill>
            <a:srgbClr val="000000"/>
          </a:solidFill>
          <a:ln w="12700">
            <a:solidFill>
              <a:srgbClr val="000000">
                <a:alpha val="0"/>
              </a:srgbClr>
            </a:solidFill>
            <a:prstDash val="solid"/>
          </a:ln>
        </p:spPr>
      </p:sp>
      <p:sp>
        <p:nvSpPr>
          <p:cNvPr id="69" name="Shape 67"/>
          <p:cNvSpPr/>
          <p:nvPr/>
        </p:nvSpPr>
        <p:spPr>
          <a:xfrm>
            <a:off x="7200776" y="5106059"/>
            <a:ext cx="41976" cy="41976"/>
          </a:xfrm>
          <a:prstGeom prst="rect">
            <a:avLst/>
          </a:prstGeom>
          <a:solidFill>
            <a:srgbClr val="000000"/>
          </a:solidFill>
          <a:ln w="12700">
            <a:solidFill>
              <a:srgbClr val="000000">
                <a:alpha val="0"/>
              </a:srgbClr>
            </a:solidFill>
            <a:prstDash val="solid"/>
          </a:ln>
        </p:spPr>
      </p:sp>
      <p:sp>
        <p:nvSpPr>
          <p:cNvPr id="70" name="Shape 68"/>
          <p:cNvSpPr/>
          <p:nvPr/>
        </p:nvSpPr>
        <p:spPr>
          <a:xfrm>
            <a:off x="7283814" y="5106059"/>
            <a:ext cx="41976" cy="41976"/>
          </a:xfrm>
          <a:prstGeom prst="rect">
            <a:avLst/>
          </a:prstGeom>
          <a:solidFill>
            <a:srgbClr val="000000"/>
          </a:solidFill>
          <a:ln w="12700">
            <a:solidFill>
              <a:srgbClr val="000000">
                <a:alpha val="0"/>
              </a:srgbClr>
            </a:solidFill>
            <a:prstDash val="solid"/>
          </a:ln>
        </p:spPr>
      </p:sp>
      <p:sp>
        <p:nvSpPr>
          <p:cNvPr id="71" name="Shape 69"/>
          <p:cNvSpPr/>
          <p:nvPr/>
        </p:nvSpPr>
        <p:spPr>
          <a:xfrm>
            <a:off x="7366851" y="5106059"/>
            <a:ext cx="41976" cy="41976"/>
          </a:xfrm>
          <a:prstGeom prst="rect">
            <a:avLst/>
          </a:prstGeom>
          <a:solidFill>
            <a:srgbClr val="000000"/>
          </a:solidFill>
          <a:ln w="12700">
            <a:solidFill>
              <a:srgbClr val="000000">
                <a:alpha val="0"/>
              </a:srgbClr>
            </a:solidFill>
            <a:prstDash val="solid"/>
          </a:ln>
        </p:spPr>
      </p:sp>
      <p:sp>
        <p:nvSpPr>
          <p:cNvPr id="72" name="Shape 70"/>
          <p:cNvSpPr/>
          <p:nvPr/>
        </p:nvSpPr>
        <p:spPr>
          <a:xfrm>
            <a:off x="7449889" y="5106059"/>
            <a:ext cx="41976" cy="41976"/>
          </a:xfrm>
          <a:prstGeom prst="rect">
            <a:avLst/>
          </a:prstGeom>
          <a:solidFill>
            <a:srgbClr val="000000"/>
          </a:solidFill>
          <a:ln w="12700">
            <a:solidFill>
              <a:srgbClr val="000000">
                <a:alpha val="0"/>
              </a:srgbClr>
            </a:solidFill>
            <a:prstDash val="solid"/>
          </a:ln>
        </p:spPr>
      </p:sp>
      <p:sp>
        <p:nvSpPr>
          <p:cNvPr id="73" name="Shape 71"/>
          <p:cNvSpPr/>
          <p:nvPr/>
        </p:nvSpPr>
        <p:spPr>
          <a:xfrm>
            <a:off x="7532926" y="5106059"/>
            <a:ext cx="41976" cy="41976"/>
          </a:xfrm>
          <a:prstGeom prst="rect">
            <a:avLst/>
          </a:prstGeom>
          <a:solidFill>
            <a:srgbClr val="000000"/>
          </a:solidFill>
          <a:ln w="12700">
            <a:solidFill>
              <a:srgbClr val="000000">
                <a:alpha val="0"/>
              </a:srgbClr>
            </a:solidFill>
            <a:prstDash val="solid"/>
          </a:ln>
        </p:spPr>
      </p:sp>
      <p:sp>
        <p:nvSpPr>
          <p:cNvPr id="74" name="Shape 72"/>
          <p:cNvSpPr/>
          <p:nvPr/>
        </p:nvSpPr>
        <p:spPr>
          <a:xfrm>
            <a:off x="7615963" y="5106059"/>
            <a:ext cx="41976" cy="41976"/>
          </a:xfrm>
          <a:prstGeom prst="rect">
            <a:avLst/>
          </a:prstGeom>
          <a:solidFill>
            <a:srgbClr val="000000"/>
          </a:solidFill>
          <a:ln w="12700">
            <a:solidFill>
              <a:srgbClr val="000000">
                <a:alpha val="0"/>
              </a:srgbClr>
            </a:solidFill>
            <a:prstDash val="solid"/>
          </a:ln>
        </p:spPr>
      </p:sp>
      <p:sp>
        <p:nvSpPr>
          <p:cNvPr id="75" name="Shape 73"/>
          <p:cNvSpPr/>
          <p:nvPr/>
        </p:nvSpPr>
        <p:spPr>
          <a:xfrm>
            <a:off x="7699001" y="5106059"/>
            <a:ext cx="41976" cy="41976"/>
          </a:xfrm>
          <a:prstGeom prst="rect">
            <a:avLst/>
          </a:prstGeom>
          <a:solidFill>
            <a:srgbClr val="000000"/>
          </a:solidFill>
          <a:ln w="12700">
            <a:solidFill>
              <a:srgbClr val="000000">
                <a:alpha val="0"/>
              </a:srgbClr>
            </a:solidFill>
            <a:prstDash val="solid"/>
          </a:ln>
        </p:spPr>
      </p:sp>
      <p:sp>
        <p:nvSpPr>
          <p:cNvPr id="76" name="Shape 74"/>
          <p:cNvSpPr/>
          <p:nvPr/>
        </p:nvSpPr>
        <p:spPr>
          <a:xfrm>
            <a:off x="7782038" y="5106059"/>
            <a:ext cx="291088" cy="41976"/>
          </a:xfrm>
          <a:prstGeom prst="rect">
            <a:avLst/>
          </a:prstGeom>
          <a:solidFill>
            <a:srgbClr val="000000"/>
          </a:solidFill>
          <a:ln w="12700">
            <a:solidFill>
              <a:srgbClr val="000000">
                <a:alpha val="0"/>
              </a:srgbClr>
            </a:solidFill>
            <a:prstDash val="solid"/>
          </a:ln>
        </p:spPr>
      </p:sp>
      <p:sp>
        <p:nvSpPr>
          <p:cNvPr id="77" name="Shape 75"/>
          <p:cNvSpPr/>
          <p:nvPr/>
        </p:nvSpPr>
        <p:spPr>
          <a:xfrm>
            <a:off x="7200776" y="5147578"/>
            <a:ext cx="41976" cy="41976"/>
          </a:xfrm>
          <a:prstGeom prst="rect">
            <a:avLst/>
          </a:prstGeom>
          <a:solidFill>
            <a:srgbClr val="000000"/>
          </a:solidFill>
          <a:ln w="12700">
            <a:solidFill>
              <a:srgbClr val="000000">
                <a:alpha val="0"/>
              </a:srgbClr>
            </a:solidFill>
            <a:prstDash val="solid"/>
          </a:ln>
        </p:spPr>
      </p:sp>
      <p:sp>
        <p:nvSpPr>
          <p:cNvPr id="78" name="Shape 76"/>
          <p:cNvSpPr/>
          <p:nvPr/>
        </p:nvSpPr>
        <p:spPr>
          <a:xfrm>
            <a:off x="7283814" y="5147578"/>
            <a:ext cx="41976" cy="41976"/>
          </a:xfrm>
          <a:prstGeom prst="rect">
            <a:avLst/>
          </a:prstGeom>
          <a:solidFill>
            <a:srgbClr val="000000"/>
          </a:solidFill>
          <a:ln w="12700">
            <a:solidFill>
              <a:srgbClr val="000000">
                <a:alpha val="0"/>
              </a:srgbClr>
            </a:solidFill>
            <a:prstDash val="solid"/>
          </a:ln>
        </p:spPr>
      </p:sp>
      <p:sp>
        <p:nvSpPr>
          <p:cNvPr id="79" name="Shape 77"/>
          <p:cNvSpPr/>
          <p:nvPr/>
        </p:nvSpPr>
        <p:spPr>
          <a:xfrm>
            <a:off x="7366851" y="5147578"/>
            <a:ext cx="41976" cy="41976"/>
          </a:xfrm>
          <a:prstGeom prst="rect">
            <a:avLst/>
          </a:prstGeom>
          <a:solidFill>
            <a:srgbClr val="000000"/>
          </a:solidFill>
          <a:ln w="12700">
            <a:solidFill>
              <a:srgbClr val="000000">
                <a:alpha val="0"/>
              </a:srgbClr>
            </a:solidFill>
            <a:prstDash val="solid"/>
          </a:ln>
        </p:spPr>
      </p:sp>
      <p:sp>
        <p:nvSpPr>
          <p:cNvPr id="80" name="Shape 78"/>
          <p:cNvSpPr/>
          <p:nvPr/>
        </p:nvSpPr>
        <p:spPr>
          <a:xfrm>
            <a:off x="7449889" y="5147578"/>
            <a:ext cx="41976" cy="41976"/>
          </a:xfrm>
          <a:prstGeom prst="rect">
            <a:avLst/>
          </a:prstGeom>
          <a:solidFill>
            <a:srgbClr val="000000"/>
          </a:solidFill>
          <a:ln w="12700">
            <a:solidFill>
              <a:srgbClr val="000000">
                <a:alpha val="0"/>
              </a:srgbClr>
            </a:solidFill>
            <a:prstDash val="solid"/>
          </a:ln>
        </p:spPr>
      </p:sp>
      <p:sp>
        <p:nvSpPr>
          <p:cNvPr id="81" name="Shape 79"/>
          <p:cNvSpPr/>
          <p:nvPr/>
        </p:nvSpPr>
        <p:spPr>
          <a:xfrm>
            <a:off x="7657482" y="5147578"/>
            <a:ext cx="83495" cy="41976"/>
          </a:xfrm>
          <a:prstGeom prst="rect">
            <a:avLst/>
          </a:prstGeom>
          <a:solidFill>
            <a:srgbClr val="000000"/>
          </a:solidFill>
          <a:ln w="12700">
            <a:solidFill>
              <a:srgbClr val="000000">
                <a:alpha val="0"/>
              </a:srgbClr>
            </a:solidFill>
            <a:prstDash val="solid"/>
          </a:ln>
        </p:spPr>
      </p:sp>
      <p:sp>
        <p:nvSpPr>
          <p:cNvPr id="82" name="Shape 80"/>
          <p:cNvSpPr/>
          <p:nvPr/>
        </p:nvSpPr>
        <p:spPr>
          <a:xfrm>
            <a:off x="6868627" y="5189096"/>
            <a:ext cx="41976" cy="41976"/>
          </a:xfrm>
          <a:prstGeom prst="rect">
            <a:avLst/>
          </a:prstGeom>
          <a:solidFill>
            <a:srgbClr val="000000"/>
          </a:solidFill>
          <a:ln w="12700">
            <a:solidFill>
              <a:srgbClr val="000000">
                <a:alpha val="0"/>
              </a:srgbClr>
            </a:solidFill>
            <a:prstDash val="solid"/>
          </a:ln>
        </p:spPr>
      </p:sp>
      <p:sp>
        <p:nvSpPr>
          <p:cNvPr id="83" name="Shape 81"/>
          <p:cNvSpPr/>
          <p:nvPr/>
        </p:nvSpPr>
        <p:spPr>
          <a:xfrm>
            <a:off x="7117739" y="5189096"/>
            <a:ext cx="41976" cy="41976"/>
          </a:xfrm>
          <a:prstGeom prst="rect">
            <a:avLst/>
          </a:prstGeom>
          <a:solidFill>
            <a:srgbClr val="000000"/>
          </a:solidFill>
          <a:ln w="12700">
            <a:solidFill>
              <a:srgbClr val="000000">
                <a:alpha val="0"/>
              </a:srgbClr>
            </a:solidFill>
            <a:prstDash val="solid"/>
          </a:ln>
        </p:spPr>
      </p:sp>
      <p:sp>
        <p:nvSpPr>
          <p:cNvPr id="84" name="Shape 82"/>
          <p:cNvSpPr/>
          <p:nvPr/>
        </p:nvSpPr>
        <p:spPr>
          <a:xfrm>
            <a:off x="7200776" y="5189096"/>
            <a:ext cx="83495" cy="41976"/>
          </a:xfrm>
          <a:prstGeom prst="rect">
            <a:avLst/>
          </a:prstGeom>
          <a:solidFill>
            <a:srgbClr val="000000"/>
          </a:solidFill>
          <a:ln w="12700">
            <a:solidFill>
              <a:srgbClr val="000000">
                <a:alpha val="0"/>
              </a:srgbClr>
            </a:solidFill>
            <a:prstDash val="solid"/>
          </a:ln>
        </p:spPr>
      </p:sp>
      <p:sp>
        <p:nvSpPr>
          <p:cNvPr id="85" name="Shape 83"/>
          <p:cNvSpPr/>
          <p:nvPr/>
        </p:nvSpPr>
        <p:spPr>
          <a:xfrm>
            <a:off x="7325333" y="5189096"/>
            <a:ext cx="166532" cy="41976"/>
          </a:xfrm>
          <a:prstGeom prst="rect">
            <a:avLst/>
          </a:prstGeom>
          <a:solidFill>
            <a:srgbClr val="000000"/>
          </a:solidFill>
          <a:ln w="12700">
            <a:solidFill>
              <a:srgbClr val="000000">
                <a:alpha val="0"/>
              </a:srgbClr>
            </a:solidFill>
            <a:prstDash val="solid"/>
          </a:ln>
        </p:spPr>
      </p:sp>
      <p:sp>
        <p:nvSpPr>
          <p:cNvPr id="86" name="Shape 84"/>
          <p:cNvSpPr/>
          <p:nvPr/>
        </p:nvSpPr>
        <p:spPr>
          <a:xfrm>
            <a:off x="7574445" y="5189096"/>
            <a:ext cx="125013" cy="41976"/>
          </a:xfrm>
          <a:prstGeom prst="rect">
            <a:avLst/>
          </a:prstGeom>
          <a:solidFill>
            <a:srgbClr val="000000"/>
          </a:solidFill>
          <a:ln w="12700">
            <a:solidFill>
              <a:srgbClr val="000000">
                <a:alpha val="0"/>
              </a:srgbClr>
            </a:solidFill>
            <a:prstDash val="solid"/>
          </a:ln>
        </p:spPr>
      </p:sp>
      <p:sp>
        <p:nvSpPr>
          <p:cNvPr id="87" name="Shape 85"/>
          <p:cNvSpPr/>
          <p:nvPr/>
        </p:nvSpPr>
        <p:spPr>
          <a:xfrm>
            <a:off x="7740520" y="5189096"/>
            <a:ext cx="83495" cy="41976"/>
          </a:xfrm>
          <a:prstGeom prst="rect">
            <a:avLst/>
          </a:prstGeom>
          <a:solidFill>
            <a:srgbClr val="000000"/>
          </a:solidFill>
          <a:ln w="12700">
            <a:solidFill>
              <a:srgbClr val="000000">
                <a:alpha val="0"/>
              </a:srgbClr>
            </a:solidFill>
            <a:prstDash val="solid"/>
          </a:ln>
        </p:spPr>
      </p:sp>
      <p:sp>
        <p:nvSpPr>
          <p:cNvPr id="88" name="Shape 86"/>
          <p:cNvSpPr/>
          <p:nvPr/>
        </p:nvSpPr>
        <p:spPr>
          <a:xfrm>
            <a:off x="7906594" y="5189096"/>
            <a:ext cx="125013" cy="41976"/>
          </a:xfrm>
          <a:prstGeom prst="rect">
            <a:avLst/>
          </a:prstGeom>
          <a:solidFill>
            <a:srgbClr val="000000"/>
          </a:solidFill>
          <a:ln w="12700">
            <a:solidFill>
              <a:srgbClr val="000000">
                <a:alpha val="0"/>
              </a:srgbClr>
            </a:solidFill>
            <a:prstDash val="solid"/>
          </a:ln>
        </p:spPr>
      </p:sp>
      <p:sp>
        <p:nvSpPr>
          <p:cNvPr id="89" name="Shape 87"/>
          <p:cNvSpPr/>
          <p:nvPr/>
        </p:nvSpPr>
        <p:spPr>
          <a:xfrm>
            <a:off x="6868627" y="5230615"/>
            <a:ext cx="41976" cy="41976"/>
          </a:xfrm>
          <a:prstGeom prst="rect">
            <a:avLst/>
          </a:prstGeom>
          <a:solidFill>
            <a:srgbClr val="000000"/>
          </a:solidFill>
          <a:ln w="12700">
            <a:solidFill>
              <a:srgbClr val="000000">
                <a:alpha val="0"/>
              </a:srgbClr>
            </a:solidFill>
            <a:prstDash val="solid"/>
          </a:ln>
        </p:spPr>
      </p:sp>
      <p:sp>
        <p:nvSpPr>
          <p:cNvPr id="90" name="Shape 88"/>
          <p:cNvSpPr/>
          <p:nvPr/>
        </p:nvSpPr>
        <p:spPr>
          <a:xfrm>
            <a:off x="6951664" y="5230615"/>
            <a:ext cx="41976" cy="41976"/>
          </a:xfrm>
          <a:prstGeom prst="rect">
            <a:avLst/>
          </a:prstGeom>
          <a:solidFill>
            <a:srgbClr val="000000"/>
          </a:solidFill>
          <a:ln w="12700">
            <a:solidFill>
              <a:srgbClr val="000000">
                <a:alpha val="0"/>
              </a:srgbClr>
            </a:solidFill>
            <a:prstDash val="solid"/>
          </a:ln>
        </p:spPr>
      </p:sp>
      <p:sp>
        <p:nvSpPr>
          <p:cNvPr id="91" name="Shape 89"/>
          <p:cNvSpPr/>
          <p:nvPr/>
        </p:nvSpPr>
        <p:spPr>
          <a:xfrm>
            <a:off x="7034702" y="5230615"/>
            <a:ext cx="83495" cy="41976"/>
          </a:xfrm>
          <a:prstGeom prst="rect">
            <a:avLst/>
          </a:prstGeom>
          <a:solidFill>
            <a:srgbClr val="000000"/>
          </a:solidFill>
          <a:ln w="12700">
            <a:solidFill>
              <a:srgbClr val="000000">
                <a:alpha val="0"/>
              </a:srgbClr>
            </a:solidFill>
            <a:prstDash val="solid"/>
          </a:ln>
        </p:spPr>
      </p:sp>
      <p:sp>
        <p:nvSpPr>
          <p:cNvPr id="92" name="Shape 90"/>
          <p:cNvSpPr/>
          <p:nvPr/>
        </p:nvSpPr>
        <p:spPr>
          <a:xfrm>
            <a:off x="7200776" y="5230615"/>
            <a:ext cx="41976" cy="41976"/>
          </a:xfrm>
          <a:prstGeom prst="rect">
            <a:avLst/>
          </a:prstGeom>
          <a:solidFill>
            <a:srgbClr val="000000"/>
          </a:solidFill>
          <a:ln w="12700">
            <a:solidFill>
              <a:srgbClr val="000000">
                <a:alpha val="0"/>
              </a:srgbClr>
            </a:solidFill>
            <a:prstDash val="solid"/>
          </a:ln>
        </p:spPr>
      </p:sp>
      <p:sp>
        <p:nvSpPr>
          <p:cNvPr id="93" name="Shape 91"/>
          <p:cNvSpPr/>
          <p:nvPr/>
        </p:nvSpPr>
        <p:spPr>
          <a:xfrm>
            <a:off x="7491407" y="5230615"/>
            <a:ext cx="41976" cy="41976"/>
          </a:xfrm>
          <a:prstGeom prst="rect">
            <a:avLst/>
          </a:prstGeom>
          <a:solidFill>
            <a:srgbClr val="000000"/>
          </a:solidFill>
          <a:ln w="12700">
            <a:solidFill>
              <a:srgbClr val="000000">
                <a:alpha val="0"/>
              </a:srgbClr>
            </a:solidFill>
            <a:prstDash val="solid"/>
          </a:ln>
        </p:spPr>
      </p:sp>
      <p:sp>
        <p:nvSpPr>
          <p:cNvPr id="94" name="Shape 92"/>
          <p:cNvSpPr/>
          <p:nvPr/>
        </p:nvSpPr>
        <p:spPr>
          <a:xfrm>
            <a:off x="7574445" y="5230615"/>
            <a:ext cx="166532" cy="41976"/>
          </a:xfrm>
          <a:prstGeom prst="rect">
            <a:avLst/>
          </a:prstGeom>
          <a:solidFill>
            <a:srgbClr val="000000"/>
          </a:solidFill>
          <a:ln w="12700">
            <a:solidFill>
              <a:srgbClr val="000000">
                <a:alpha val="0"/>
              </a:srgbClr>
            </a:solidFill>
            <a:prstDash val="solid"/>
          </a:ln>
        </p:spPr>
      </p:sp>
      <p:sp>
        <p:nvSpPr>
          <p:cNvPr id="95" name="Shape 93"/>
          <p:cNvSpPr/>
          <p:nvPr/>
        </p:nvSpPr>
        <p:spPr>
          <a:xfrm>
            <a:off x="7823557" y="5230615"/>
            <a:ext cx="83495" cy="41976"/>
          </a:xfrm>
          <a:prstGeom prst="rect">
            <a:avLst/>
          </a:prstGeom>
          <a:solidFill>
            <a:srgbClr val="000000"/>
          </a:solidFill>
          <a:ln w="12700">
            <a:solidFill>
              <a:srgbClr val="000000">
                <a:alpha val="0"/>
              </a:srgbClr>
            </a:solidFill>
            <a:prstDash val="solid"/>
          </a:ln>
        </p:spPr>
      </p:sp>
      <p:sp>
        <p:nvSpPr>
          <p:cNvPr id="96" name="Shape 94"/>
          <p:cNvSpPr/>
          <p:nvPr/>
        </p:nvSpPr>
        <p:spPr>
          <a:xfrm>
            <a:off x="7948113" y="5230615"/>
            <a:ext cx="83495" cy="41976"/>
          </a:xfrm>
          <a:prstGeom prst="rect">
            <a:avLst/>
          </a:prstGeom>
          <a:solidFill>
            <a:srgbClr val="000000"/>
          </a:solidFill>
          <a:ln w="12700">
            <a:solidFill>
              <a:srgbClr val="000000">
                <a:alpha val="0"/>
              </a:srgbClr>
            </a:solidFill>
            <a:prstDash val="solid"/>
          </a:ln>
        </p:spPr>
      </p:sp>
      <p:sp>
        <p:nvSpPr>
          <p:cNvPr id="97" name="Shape 95"/>
          <p:cNvSpPr/>
          <p:nvPr/>
        </p:nvSpPr>
        <p:spPr>
          <a:xfrm>
            <a:off x="6868627" y="5272134"/>
            <a:ext cx="41976" cy="41976"/>
          </a:xfrm>
          <a:prstGeom prst="rect">
            <a:avLst/>
          </a:prstGeom>
          <a:solidFill>
            <a:srgbClr val="000000"/>
          </a:solidFill>
          <a:ln w="12700">
            <a:solidFill>
              <a:srgbClr val="000000">
                <a:alpha val="0"/>
              </a:srgbClr>
            </a:solidFill>
            <a:prstDash val="solid"/>
          </a:ln>
        </p:spPr>
      </p:sp>
      <p:sp>
        <p:nvSpPr>
          <p:cNvPr id="98" name="Shape 96"/>
          <p:cNvSpPr/>
          <p:nvPr/>
        </p:nvSpPr>
        <p:spPr>
          <a:xfrm>
            <a:off x="7034702" y="5272134"/>
            <a:ext cx="41976" cy="41976"/>
          </a:xfrm>
          <a:prstGeom prst="rect">
            <a:avLst/>
          </a:prstGeom>
          <a:solidFill>
            <a:srgbClr val="000000"/>
          </a:solidFill>
          <a:ln w="12700">
            <a:solidFill>
              <a:srgbClr val="000000">
                <a:alpha val="0"/>
              </a:srgbClr>
            </a:solidFill>
            <a:prstDash val="solid"/>
          </a:ln>
        </p:spPr>
      </p:sp>
      <p:sp>
        <p:nvSpPr>
          <p:cNvPr id="99" name="Shape 97"/>
          <p:cNvSpPr/>
          <p:nvPr/>
        </p:nvSpPr>
        <p:spPr>
          <a:xfrm>
            <a:off x="7117739" y="5272134"/>
            <a:ext cx="41976" cy="41976"/>
          </a:xfrm>
          <a:prstGeom prst="rect">
            <a:avLst/>
          </a:prstGeom>
          <a:solidFill>
            <a:srgbClr val="000000"/>
          </a:solidFill>
          <a:ln w="12700">
            <a:solidFill>
              <a:srgbClr val="000000">
                <a:alpha val="0"/>
              </a:srgbClr>
            </a:solidFill>
            <a:prstDash val="solid"/>
          </a:ln>
        </p:spPr>
      </p:sp>
      <p:sp>
        <p:nvSpPr>
          <p:cNvPr id="100" name="Shape 98"/>
          <p:cNvSpPr/>
          <p:nvPr/>
        </p:nvSpPr>
        <p:spPr>
          <a:xfrm>
            <a:off x="7242295" y="5272134"/>
            <a:ext cx="41976" cy="41976"/>
          </a:xfrm>
          <a:prstGeom prst="rect">
            <a:avLst/>
          </a:prstGeom>
          <a:solidFill>
            <a:srgbClr val="000000"/>
          </a:solidFill>
          <a:ln w="12700">
            <a:solidFill>
              <a:srgbClr val="000000">
                <a:alpha val="0"/>
              </a:srgbClr>
            </a:solidFill>
            <a:prstDash val="solid"/>
          </a:ln>
        </p:spPr>
      </p:sp>
      <p:sp>
        <p:nvSpPr>
          <p:cNvPr id="101" name="Shape 99"/>
          <p:cNvSpPr/>
          <p:nvPr/>
        </p:nvSpPr>
        <p:spPr>
          <a:xfrm>
            <a:off x="7325333" y="5272134"/>
            <a:ext cx="41976" cy="41976"/>
          </a:xfrm>
          <a:prstGeom prst="rect">
            <a:avLst/>
          </a:prstGeom>
          <a:solidFill>
            <a:srgbClr val="000000"/>
          </a:solidFill>
          <a:ln w="12700">
            <a:solidFill>
              <a:srgbClr val="000000">
                <a:alpha val="0"/>
              </a:srgbClr>
            </a:solidFill>
            <a:prstDash val="solid"/>
          </a:ln>
        </p:spPr>
      </p:sp>
      <p:sp>
        <p:nvSpPr>
          <p:cNvPr id="102" name="Shape 100"/>
          <p:cNvSpPr/>
          <p:nvPr/>
        </p:nvSpPr>
        <p:spPr>
          <a:xfrm>
            <a:off x="7449889" y="5272134"/>
            <a:ext cx="83495" cy="41976"/>
          </a:xfrm>
          <a:prstGeom prst="rect">
            <a:avLst/>
          </a:prstGeom>
          <a:solidFill>
            <a:srgbClr val="000000"/>
          </a:solidFill>
          <a:ln w="12700">
            <a:solidFill>
              <a:srgbClr val="000000">
                <a:alpha val="0"/>
              </a:srgbClr>
            </a:solidFill>
            <a:prstDash val="solid"/>
          </a:ln>
        </p:spPr>
      </p:sp>
      <p:sp>
        <p:nvSpPr>
          <p:cNvPr id="103" name="Shape 101"/>
          <p:cNvSpPr/>
          <p:nvPr/>
        </p:nvSpPr>
        <p:spPr>
          <a:xfrm>
            <a:off x="7574445" y="5272134"/>
            <a:ext cx="41976" cy="41976"/>
          </a:xfrm>
          <a:prstGeom prst="rect">
            <a:avLst/>
          </a:prstGeom>
          <a:solidFill>
            <a:srgbClr val="000000"/>
          </a:solidFill>
          <a:ln w="12700">
            <a:solidFill>
              <a:srgbClr val="000000">
                <a:alpha val="0"/>
              </a:srgbClr>
            </a:solidFill>
            <a:prstDash val="solid"/>
          </a:ln>
        </p:spPr>
      </p:sp>
      <p:sp>
        <p:nvSpPr>
          <p:cNvPr id="104" name="Shape 102"/>
          <p:cNvSpPr/>
          <p:nvPr/>
        </p:nvSpPr>
        <p:spPr>
          <a:xfrm>
            <a:off x="7782038" y="5272134"/>
            <a:ext cx="41976" cy="41976"/>
          </a:xfrm>
          <a:prstGeom prst="rect">
            <a:avLst/>
          </a:prstGeom>
          <a:solidFill>
            <a:srgbClr val="000000"/>
          </a:solidFill>
          <a:ln w="12700">
            <a:solidFill>
              <a:srgbClr val="000000">
                <a:alpha val="0"/>
              </a:srgbClr>
            </a:solidFill>
            <a:prstDash val="solid"/>
          </a:ln>
        </p:spPr>
      </p:sp>
      <p:sp>
        <p:nvSpPr>
          <p:cNvPr id="105" name="Shape 103"/>
          <p:cNvSpPr/>
          <p:nvPr/>
        </p:nvSpPr>
        <p:spPr>
          <a:xfrm>
            <a:off x="6868627" y="5313653"/>
            <a:ext cx="41976" cy="41976"/>
          </a:xfrm>
          <a:prstGeom prst="rect">
            <a:avLst/>
          </a:prstGeom>
          <a:solidFill>
            <a:srgbClr val="000000"/>
          </a:solidFill>
          <a:ln w="12700">
            <a:solidFill>
              <a:srgbClr val="000000">
                <a:alpha val="0"/>
              </a:srgbClr>
            </a:solidFill>
            <a:prstDash val="solid"/>
          </a:ln>
        </p:spPr>
      </p:sp>
      <p:sp>
        <p:nvSpPr>
          <p:cNvPr id="106" name="Shape 104"/>
          <p:cNvSpPr/>
          <p:nvPr/>
        </p:nvSpPr>
        <p:spPr>
          <a:xfrm>
            <a:off x="6951664" y="5313653"/>
            <a:ext cx="41976" cy="41976"/>
          </a:xfrm>
          <a:prstGeom prst="rect">
            <a:avLst/>
          </a:prstGeom>
          <a:solidFill>
            <a:srgbClr val="000000"/>
          </a:solidFill>
          <a:ln w="12700">
            <a:solidFill>
              <a:srgbClr val="000000">
                <a:alpha val="0"/>
              </a:srgbClr>
            </a:solidFill>
            <a:prstDash val="solid"/>
          </a:ln>
        </p:spPr>
      </p:sp>
      <p:sp>
        <p:nvSpPr>
          <p:cNvPr id="107" name="Shape 105"/>
          <p:cNvSpPr/>
          <p:nvPr/>
        </p:nvSpPr>
        <p:spPr>
          <a:xfrm>
            <a:off x="7076220" y="5313653"/>
            <a:ext cx="41976" cy="41976"/>
          </a:xfrm>
          <a:prstGeom prst="rect">
            <a:avLst/>
          </a:prstGeom>
          <a:solidFill>
            <a:srgbClr val="000000"/>
          </a:solidFill>
          <a:ln w="12700">
            <a:solidFill>
              <a:srgbClr val="000000">
                <a:alpha val="0"/>
              </a:srgbClr>
            </a:solidFill>
            <a:prstDash val="solid"/>
          </a:ln>
        </p:spPr>
      </p:sp>
      <p:sp>
        <p:nvSpPr>
          <p:cNvPr id="108" name="Shape 106"/>
          <p:cNvSpPr/>
          <p:nvPr/>
        </p:nvSpPr>
        <p:spPr>
          <a:xfrm>
            <a:off x="7283814" y="5313653"/>
            <a:ext cx="83495" cy="41976"/>
          </a:xfrm>
          <a:prstGeom prst="rect">
            <a:avLst/>
          </a:prstGeom>
          <a:solidFill>
            <a:srgbClr val="000000"/>
          </a:solidFill>
          <a:ln w="12700">
            <a:solidFill>
              <a:srgbClr val="000000">
                <a:alpha val="0"/>
              </a:srgbClr>
            </a:solidFill>
            <a:prstDash val="solid"/>
          </a:ln>
        </p:spPr>
      </p:sp>
      <p:sp>
        <p:nvSpPr>
          <p:cNvPr id="109" name="Shape 107"/>
          <p:cNvSpPr/>
          <p:nvPr/>
        </p:nvSpPr>
        <p:spPr>
          <a:xfrm>
            <a:off x="7449889" y="5313653"/>
            <a:ext cx="83495" cy="41976"/>
          </a:xfrm>
          <a:prstGeom prst="rect">
            <a:avLst/>
          </a:prstGeom>
          <a:solidFill>
            <a:srgbClr val="000000"/>
          </a:solidFill>
          <a:ln w="12700">
            <a:solidFill>
              <a:srgbClr val="000000">
                <a:alpha val="0"/>
              </a:srgbClr>
            </a:solidFill>
            <a:prstDash val="solid"/>
          </a:ln>
        </p:spPr>
      </p:sp>
      <p:sp>
        <p:nvSpPr>
          <p:cNvPr id="110" name="Shape 108"/>
          <p:cNvSpPr/>
          <p:nvPr/>
        </p:nvSpPr>
        <p:spPr>
          <a:xfrm>
            <a:off x="7657482" y="5313653"/>
            <a:ext cx="83495" cy="41976"/>
          </a:xfrm>
          <a:prstGeom prst="rect">
            <a:avLst/>
          </a:prstGeom>
          <a:solidFill>
            <a:srgbClr val="000000"/>
          </a:solidFill>
          <a:ln w="12700">
            <a:solidFill>
              <a:srgbClr val="000000">
                <a:alpha val="0"/>
              </a:srgbClr>
            </a:solidFill>
            <a:prstDash val="solid"/>
          </a:ln>
        </p:spPr>
      </p:sp>
      <p:sp>
        <p:nvSpPr>
          <p:cNvPr id="111" name="Shape 109"/>
          <p:cNvSpPr/>
          <p:nvPr/>
        </p:nvSpPr>
        <p:spPr>
          <a:xfrm>
            <a:off x="7823557" y="5313653"/>
            <a:ext cx="41976" cy="41976"/>
          </a:xfrm>
          <a:prstGeom prst="rect">
            <a:avLst/>
          </a:prstGeom>
          <a:solidFill>
            <a:srgbClr val="000000"/>
          </a:solidFill>
          <a:ln w="12700">
            <a:solidFill>
              <a:srgbClr val="000000">
                <a:alpha val="0"/>
              </a:srgbClr>
            </a:solidFill>
            <a:prstDash val="solid"/>
          </a:ln>
        </p:spPr>
      </p:sp>
      <p:sp>
        <p:nvSpPr>
          <p:cNvPr id="112" name="Shape 110"/>
          <p:cNvSpPr/>
          <p:nvPr/>
        </p:nvSpPr>
        <p:spPr>
          <a:xfrm>
            <a:off x="7906594" y="5313653"/>
            <a:ext cx="41976" cy="41976"/>
          </a:xfrm>
          <a:prstGeom prst="rect">
            <a:avLst/>
          </a:prstGeom>
          <a:solidFill>
            <a:srgbClr val="000000"/>
          </a:solidFill>
          <a:ln w="12700">
            <a:solidFill>
              <a:srgbClr val="000000">
                <a:alpha val="0"/>
              </a:srgbClr>
            </a:solidFill>
            <a:prstDash val="solid"/>
          </a:ln>
        </p:spPr>
      </p:sp>
      <p:sp>
        <p:nvSpPr>
          <p:cNvPr id="113" name="Shape 111"/>
          <p:cNvSpPr/>
          <p:nvPr/>
        </p:nvSpPr>
        <p:spPr>
          <a:xfrm>
            <a:off x="7034702" y="5355171"/>
            <a:ext cx="208051" cy="41976"/>
          </a:xfrm>
          <a:prstGeom prst="rect">
            <a:avLst/>
          </a:prstGeom>
          <a:solidFill>
            <a:srgbClr val="000000"/>
          </a:solidFill>
          <a:ln w="12700">
            <a:solidFill>
              <a:srgbClr val="000000">
                <a:alpha val="0"/>
              </a:srgbClr>
            </a:solidFill>
            <a:prstDash val="solid"/>
          </a:ln>
        </p:spPr>
      </p:sp>
      <p:sp>
        <p:nvSpPr>
          <p:cNvPr id="114" name="Shape 112"/>
          <p:cNvSpPr/>
          <p:nvPr/>
        </p:nvSpPr>
        <p:spPr>
          <a:xfrm>
            <a:off x="7283814" y="5355171"/>
            <a:ext cx="41976" cy="41976"/>
          </a:xfrm>
          <a:prstGeom prst="rect">
            <a:avLst/>
          </a:prstGeom>
          <a:solidFill>
            <a:srgbClr val="000000"/>
          </a:solidFill>
          <a:ln w="12700">
            <a:solidFill>
              <a:srgbClr val="000000">
                <a:alpha val="0"/>
              </a:srgbClr>
            </a:solidFill>
            <a:prstDash val="solid"/>
          </a:ln>
        </p:spPr>
      </p:sp>
      <p:sp>
        <p:nvSpPr>
          <p:cNvPr id="115" name="Shape 113"/>
          <p:cNvSpPr/>
          <p:nvPr/>
        </p:nvSpPr>
        <p:spPr>
          <a:xfrm>
            <a:off x="7491407" y="5355171"/>
            <a:ext cx="41976" cy="41976"/>
          </a:xfrm>
          <a:prstGeom prst="rect">
            <a:avLst/>
          </a:prstGeom>
          <a:solidFill>
            <a:srgbClr val="000000"/>
          </a:solidFill>
          <a:ln w="12700">
            <a:solidFill>
              <a:srgbClr val="000000">
                <a:alpha val="0"/>
              </a:srgbClr>
            </a:solidFill>
            <a:prstDash val="solid"/>
          </a:ln>
        </p:spPr>
      </p:sp>
      <p:sp>
        <p:nvSpPr>
          <p:cNvPr id="116" name="Shape 114"/>
          <p:cNvSpPr/>
          <p:nvPr/>
        </p:nvSpPr>
        <p:spPr>
          <a:xfrm>
            <a:off x="7699001" y="5355171"/>
            <a:ext cx="41976" cy="41976"/>
          </a:xfrm>
          <a:prstGeom prst="rect">
            <a:avLst/>
          </a:prstGeom>
          <a:solidFill>
            <a:srgbClr val="000000"/>
          </a:solidFill>
          <a:ln w="12700">
            <a:solidFill>
              <a:srgbClr val="000000">
                <a:alpha val="0"/>
              </a:srgbClr>
            </a:solidFill>
            <a:prstDash val="solid"/>
          </a:ln>
        </p:spPr>
      </p:sp>
      <p:sp>
        <p:nvSpPr>
          <p:cNvPr id="117" name="Shape 115"/>
          <p:cNvSpPr/>
          <p:nvPr/>
        </p:nvSpPr>
        <p:spPr>
          <a:xfrm>
            <a:off x="7782038" y="5355171"/>
            <a:ext cx="83495" cy="41976"/>
          </a:xfrm>
          <a:prstGeom prst="rect">
            <a:avLst/>
          </a:prstGeom>
          <a:solidFill>
            <a:srgbClr val="000000"/>
          </a:solidFill>
          <a:ln w="12700">
            <a:solidFill>
              <a:srgbClr val="000000">
                <a:alpha val="0"/>
              </a:srgbClr>
            </a:solidFill>
            <a:prstDash val="solid"/>
          </a:ln>
        </p:spPr>
      </p:sp>
      <p:sp>
        <p:nvSpPr>
          <p:cNvPr id="118" name="Shape 116"/>
          <p:cNvSpPr/>
          <p:nvPr/>
        </p:nvSpPr>
        <p:spPr>
          <a:xfrm>
            <a:off x="8031150" y="5355171"/>
            <a:ext cx="41976" cy="41976"/>
          </a:xfrm>
          <a:prstGeom prst="rect">
            <a:avLst/>
          </a:prstGeom>
          <a:solidFill>
            <a:srgbClr val="000000"/>
          </a:solidFill>
          <a:ln w="12700">
            <a:solidFill>
              <a:srgbClr val="000000">
                <a:alpha val="0"/>
              </a:srgbClr>
            </a:solidFill>
            <a:prstDash val="solid"/>
          </a:ln>
        </p:spPr>
      </p:sp>
      <p:sp>
        <p:nvSpPr>
          <p:cNvPr id="119" name="Shape 117"/>
          <p:cNvSpPr/>
          <p:nvPr/>
        </p:nvSpPr>
        <p:spPr>
          <a:xfrm>
            <a:off x="6868627" y="5396690"/>
            <a:ext cx="41976" cy="41976"/>
          </a:xfrm>
          <a:prstGeom prst="rect">
            <a:avLst/>
          </a:prstGeom>
          <a:solidFill>
            <a:srgbClr val="000000"/>
          </a:solidFill>
          <a:ln w="12700">
            <a:solidFill>
              <a:srgbClr val="000000">
                <a:alpha val="0"/>
              </a:srgbClr>
            </a:solidFill>
            <a:prstDash val="solid"/>
          </a:ln>
        </p:spPr>
      </p:sp>
      <p:sp>
        <p:nvSpPr>
          <p:cNvPr id="120" name="Shape 118"/>
          <p:cNvSpPr/>
          <p:nvPr/>
        </p:nvSpPr>
        <p:spPr>
          <a:xfrm>
            <a:off x="7076220" y="5396690"/>
            <a:ext cx="41976" cy="41976"/>
          </a:xfrm>
          <a:prstGeom prst="rect">
            <a:avLst/>
          </a:prstGeom>
          <a:solidFill>
            <a:srgbClr val="000000"/>
          </a:solidFill>
          <a:ln w="12700">
            <a:solidFill>
              <a:srgbClr val="000000">
                <a:alpha val="0"/>
              </a:srgbClr>
            </a:solidFill>
            <a:prstDash val="solid"/>
          </a:ln>
        </p:spPr>
      </p:sp>
      <p:sp>
        <p:nvSpPr>
          <p:cNvPr id="121" name="Shape 119"/>
          <p:cNvSpPr/>
          <p:nvPr/>
        </p:nvSpPr>
        <p:spPr>
          <a:xfrm>
            <a:off x="7200776" y="5396690"/>
            <a:ext cx="83495" cy="41976"/>
          </a:xfrm>
          <a:prstGeom prst="rect">
            <a:avLst/>
          </a:prstGeom>
          <a:solidFill>
            <a:srgbClr val="000000"/>
          </a:solidFill>
          <a:ln w="12700">
            <a:solidFill>
              <a:srgbClr val="000000">
                <a:alpha val="0"/>
              </a:srgbClr>
            </a:solidFill>
            <a:prstDash val="solid"/>
          </a:ln>
        </p:spPr>
      </p:sp>
      <p:sp>
        <p:nvSpPr>
          <p:cNvPr id="122" name="Shape 120"/>
          <p:cNvSpPr/>
          <p:nvPr/>
        </p:nvSpPr>
        <p:spPr>
          <a:xfrm>
            <a:off x="7366851" y="5396690"/>
            <a:ext cx="83495" cy="41976"/>
          </a:xfrm>
          <a:prstGeom prst="rect">
            <a:avLst/>
          </a:prstGeom>
          <a:solidFill>
            <a:srgbClr val="000000"/>
          </a:solidFill>
          <a:ln w="12700">
            <a:solidFill>
              <a:srgbClr val="000000">
                <a:alpha val="0"/>
              </a:srgbClr>
            </a:solidFill>
            <a:prstDash val="solid"/>
          </a:ln>
        </p:spPr>
      </p:sp>
      <p:sp>
        <p:nvSpPr>
          <p:cNvPr id="123" name="Shape 121"/>
          <p:cNvSpPr/>
          <p:nvPr/>
        </p:nvSpPr>
        <p:spPr>
          <a:xfrm>
            <a:off x="7491407" y="5396690"/>
            <a:ext cx="249569" cy="41976"/>
          </a:xfrm>
          <a:prstGeom prst="rect">
            <a:avLst/>
          </a:prstGeom>
          <a:solidFill>
            <a:srgbClr val="000000"/>
          </a:solidFill>
          <a:ln w="12700">
            <a:solidFill>
              <a:srgbClr val="000000">
                <a:alpha val="0"/>
              </a:srgbClr>
            </a:solidFill>
            <a:prstDash val="solid"/>
          </a:ln>
        </p:spPr>
      </p:sp>
      <p:sp>
        <p:nvSpPr>
          <p:cNvPr id="124" name="Shape 122"/>
          <p:cNvSpPr/>
          <p:nvPr/>
        </p:nvSpPr>
        <p:spPr>
          <a:xfrm>
            <a:off x="7782038" y="5396690"/>
            <a:ext cx="41976" cy="41976"/>
          </a:xfrm>
          <a:prstGeom prst="rect">
            <a:avLst/>
          </a:prstGeom>
          <a:solidFill>
            <a:srgbClr val="000000"/>
          </a:solidFill>
          <a:ln w="12700">
            <a:solidFill>
              <a:srgbClr val="000000">
                <a:alpha val="0"/>
              </a:srgbClr>
            </a:solidFill>
            <a:prstDash val="solid"/>
          </a:ln>
        </p:spPr>
      </p:sp>
      <p:sp>
        <p:nvSpPr>
          <p:cNvPr id="125" name="Shape 123"/>
          <p:cNvSpPr/>
          <p:nvPr/>
        </p:nvSpPr>
        <p:spPr>
          <a:xfrm>
            <a:off x="7865076" y="5396690"/>
            <a:ext cx="41976" cy="41976"/>
          </a:xfrm>
          <a:prstGeom prst="rect">
            <a:avLst/>
          </a:prstGeom>
          <a:solidFill>
            <a:srgbClr val="000000"/>
          </a:solidFill>
          <a:ln w="12700">
            <a:solidFill>
              <a:srgbClr val="000000">
                <a:alpha val="0"/>
              </a:srgbClr>
            </a:solidFill>
            <a:prstDash val="solid"/>
          </a:ln>
        </p:spPr>
      </p:sp>
      <p:sp>
        <p:nvSpPr>
          <p:cNvPr id="126" name="Shape 124"/>
          <p:cNvSpPr/>
          <p:nvPr/>
        </p:nvSpPr>
        <p:spPr>
          <a:xfrm>
            <a:off x="7989632" y="5396690"/>
            <a:ext cx="83495" cy="41976"/>
          </a:xfrm>
          <a:prstGeom prst="rect">
            <a:avLst/>
          </a:prstGeom>
          <a:solidFill>
            <a:srgbClr val="000000"/>
          </a:solidFill>
          <a:ln w="12700">
            <a:solidFill>
              <a:srgbClr val="000000">
                <a:alpha val="0"/>
              </a:srgbClr>
            </a:solidFill>
            <a:prstDash val="solid"/>
          </a:ln>
        </p:spPr>
      </p:sp>
      <p:sp>
        <p:nvSpPr>
          <p:cNvPr id="127" name="Shape 125"/>
          <p:cNvSpPr/>
          <p:nvPr/>
        </p:nvSpPr>
        <p:spPr>
          <a:xfrm>
            <a:off x="6993183" y="5438209"/>
            <a:ext cx="83495" cy="41976"/>
          </a:xfrm>
          <a:prstGeom prst="rect">
            <a:avLst/>
          </a:prstGeom>
          <a:solidFill>
            <a:srgbClr val="000000"/>
          </a:solidFill>
          <a:ln w="12700">
            <a:solidFill>
              <a:srgbClr val="000000">
                <a:alpha val="0"/>
              </a:srgbClr>
            </a:solidFill>
            <a:prstDash val="solid"/>
          </a:ln>
        </p:spPr>
      </p:sp>
      <p:sp>
        <p:nvSpPr>
          <p:cNvPr id="128" name="Shape 126"/>
          <p:cNvSpPr/>
          <p:nvPr/>
        </p:nvSpPr>
        <p:spPr>
          <a:xfrm>
            <a:off x="7117739" y="5438209"/>
            <a:ext cx="83495" cy="41976"/>
          </a:xfrm>
          <a:prstGeom prst="rect">
            <a:avLst/>
          </a:prstGeom>
          <a:solidFill>
            <a:srgbClr val="000000"/>
          </a:solidFill>
          <a:ln w="12700">
            <a:solidFill>
              <a:srgbClr val="000000">
                <a:alpha val="0"/>
              </a:srgbClr>
            </a:solidFill>
            <a:prstDash val="solid"/>
          </a:ln>
        </p:spPr>
      </p:sp>
      <p:sp>
        <p:nvSpPr>
          <p:cNvPr id="129" name="Shape 127"/>
          <p:cNvSpPr/>
          <p:nvPr/>
        </p:nvSpPr>
        <p:spPr>
          <a:xfrm>
            <a:off x="7242295" y="5438209"/>
            <a:ext cx="125013" cy="41976"/>
          </a:xfrm>
          <a:prstGeom prst="rect">
            <a:avLst/>
          </a:prstGeom>
          <a:solidFill>
            <a:srgbClr val="000000"/>
          </a:solidFill>
          <a:ln w="12700">
            <a:solidFill>
              <a:srgbClr val="000000">
                <a:alpha val="0"/>
              </a:srgbClr>
            </a:solidFill>
            <a:prstDash val="solid"/>
          </a:ln>
        </p:spPr>
      </p:sp>
      <p:sp>
        <p:nvSpPr>
          <p:cNvPr id="130" name="Shape 128"/>
          <p:cNvSpPr/>
          <p:nvPr/>
        </p:nvSpPr>
        <p:spPr>
          <a:xfrm>
            <a:off x="7408370" y="5438209"/>
            <a:ext cx="41976" cy="41976"/>
          </a:xfrm>
          <a:prstGeom prst="rect">
            <a:avLst/>
          </a:prstGeom>
          <a:solidFill>
            <a:srgbClr val="000000"/>
          </a:solidFill>
          <a:ln w="12700">
            <a:solidFill>
              <a:srgbClr val="000000">
                <a:alpha val="0"/>
              </a:srgbClr>
            </a:solidFill>
            <a:prstDash val="solid"/>
          </a:ln>
        </p:spPr>
      </p:sp>
      <p:sp>
        <p:nvSpPr>
          <p:cNvPr id="131" name="Shape 129"/>
          <p:cNvSpPr/>
          <p:nvPr/>
        </p:nvSpPr>
        <p:spPr>
          <a:xfrm>
            <a:off x="7491407" y="5438209"/>
            <a:ext cx="41976" cy="41976"/>
          </a:xfrm>
          <a:prstGeom prst="rect">
            <a:avLst/>
          </a:prstGeom>
          <a:solidFill>
            <a:srgbClr val="000000"/>
          </a:solidFill>
          <a:ln w="12700">
            <a:solidFill>
              <a:srgbClr val="000000">
                <a:alpha val="0"/>
              </a:srgbClr>
            </a:solidFill>
            <a:prstDash val="solid"/>
          </a:ln>
        </p:spPr>
      </p:sp>
      <p:sp>
        <p:nvSpPr>
          <p:cNvPr id="132" name="Shape 130"/>
          <p:cNvSpPr/>
          <p:nvPr/>
        </p:nvSpPr>
        <p:spPr>
          <a:xfrm>
            <a:off x="7615963" y="5438209"/>
            <a:ext cx="41976" cy="41976"/>
          </a:xfrm>
          <a:prstGeom prst="rect">
            <a:avLst/>
          </a:prstGeom>
          <a:solidFill>
            <a:srgbClr val="000000"/>
          </a:solidFill>
          <a:ln w="12700">
            <a:solidFill>
              <a:srgbClr val="000000">
                <a:alpha val="0"/>
              </a:srgbClr>
            </a:solidFill>
            <a:prstDash val="solid"/>
          </a:ln>
        </p:spPr>
      </p:sp>
      <p:sp>
        <p:nvSpPr>
          <p:cNvPr id="133" name="Shape 131"/>
          <p:cNvSpPr/>
          <p:nvPr/>
        </p:nvSpPr>
        <p:spPr>
          <a:xfrm>
            <a:off x="7699001" y="5438209"/>
            <a:ext cx="166532" cy="41976"/>
          </a:xfrm>
          <a:prstGeom prst="rect">
            <a:avLst/>
          </a:prstGeom>
          <a:solidFill>
            <a:srgbClr val="000000"/>
          </a:solidFill>
          <a:ln w="12700">
            <a:solidFill>
              <a:srgbClr val="000000">
                <a:alpha val="0"/>
              </a:srgbClr>
            </a:solidFill>
            <a:prstDash val="solid"/>
          </a:ln>
        </p:spPr>
      </p:sp>
      <p:sp>
        <p:nvSpPr>
          <p:cNvPr id="134" name="Shape 132"/>
          <p:cNvSpPr/>
          <p:nvPr/>
        </p:nvSpPr>
        <p:spPr>
          <a:xfrm>
            <a:off x="7906594" y="5438209"/>
            <a:ext cx="83495" cy="41976"/>
          </a:xfrm>
          <a:prstGeom prst="rect">
            <a:avLst/>
          </a:prstGeom>
          <a:solidFill>
            <a:srgbClr val="000000"/>
          </a:solidFill>
          <a:ln w="12700">
            <a:solidFill>
              <a:srgbClr val="000000">
                <a:alpha val="0"/>
              </a:srgbClr>
            </a:solidFill>
            <a:prstDash val="solid"/>
          </a:ln>
        </p:spPr>
      </p:sp>
      <p:sp>
        <p:nvSpPr>
          <p:cNvPr id="135" name="Shape 133"/>
          <p:cNvSpPr/>
          <p:nvPr/>
        </p:nvSpPr>
        <p:spPr>
          <a:xfrm>
            <a:off x="6910146" y="5479727"/>
            <a:ext cx="41976" cy="41976"/>
          </a:xfrm>
          <a:prstGeom prst="rect">
            <a:avLst/>
          </a:prstGeom>
          <a:solidFill>
            <a:srgbClr val="000000"/>
          </a:solidFill>
          <a:ln w="12700">
            <a:solidFill>
              <a:srgbClr val="000000">
                <a:alpha val="0"/>
              </a:srgbClr>
            </a:solidFill>
            <a:prstDash val="solid"/>
          </a:ln>
        </p:spPr>
      </p:sp>
      <p:sp>
        <p:nvSpPr>
          <p:cNvPr id="136" name="Shape 134"/>
          <p:cNvSpPr/>
          <p:nvPr/>
        </p:nvSpPr>
        <p:spPr>
          <a:xfrm>
            <a:off x="7034702" y="5479727"/>
            <a:ext cx="41976" cy="41976"/>
          </a:xfrm>
          <a:prstGeom prst="rect">
            <a:avLst/>
          </a:prstGeom>
          <a:solidFill>
            <a:srgbClr val="000000"/>
          </a:solidFill>
          <a:ln w="12700">
            <a:solidFill>
              <a:srgbClr val="000000">
                <a:alpha val="0"/>
              </a:srgbClr>
            </a:solidFill>
            <a:prstDash val="solid"/>
          </a:ln>
        </p:spPr>
      </p:sp>
      <p:sp>
        <p:nvSpPr>
          <p:cNvPr id="137" name="Shape 135"/>
          <p:cNvSpPr/>
          <p:nvPr/>
        </p:nvSpPr>
        <p:spPr>
          <a:xfrm>
            <a:off x="7159258" y="5479727"/>
            <a:ext cx="41976" cy="41976"/>
          </a:xfrm>
          <a:prstGeom prst="rect">
            <a:avLst/>
          </a:prstGeom>
          <a:solidFill>
            <a:srgbClr val="000000"/>
          </a:solidFill>
          <a:ln w="12700">
            <a:solidFill>
              <a:srgbClr val="000000">
                <a:alpha val="0"/>
              </a:srgbClr>
            </a:solidFill>
            <a:prstDash val="solid"/>
          </a:ln>
        </p:spPr>
      </p:sp>
      <p:sp>
        <p:nvSpPr>
          <p:cNvPr id="138" name="Shape 136"/>
          <p:cNvSpPr/>
          <p:nvPr/>
        </p:nvSpPr>
        <p:spPr>
          <a:xfrm>
            <a:off x="7242295" y="5479727"/>
            <a:ext cx="41976" cy="41976"/>
          </a:xfrm>
          <a:prstGeom prst="rect">
            <a:avLst/>
          </a:prstGeom>
          <a:solidFill>
            <a:srgbClr val="000000"/>
          </a:solidFill>
          <a:ln w="12700">
            <a:solidFill>
              <a:srgbClr val="000000">
                <a:alpha val="0"/>
              </a:srgbClr>
            </a:solidFill>
            <a:prstDash val="solid"/>
          </a:ln>
        </p:spPr>
      </p:sp>
      <p:sp>
        <p:nvSpPr>
          <p:cNvPr id="139" name="Shape 137"/>
          <p:cNvSpPr/>
          <p:nvPr/>
        </p:nvSpPr>
        <p:spPr>
          <a:xfrm>
            <a:off x="7325333" y="5479727"/>
            <a:ext cx="41976" cy="41976"/>
          </a:xfrm>
          <a:prstGeom prst="rect">
            <a:avLst/>
          </a:prstGeom>
          <a:solidFill>
            <a:srgbClr val="000000"/>
          </a:solidFill>
          <a:ln w="12700">
            <a:solidFill>
              <a:srgbClr val="000000">
                <a:alpha val="0"/>
              </a:srgbClr>
            </a:solidFill>
            <a:prstDash val="solid"/>
          </a:ln>
        </p:spPr>
      </p:sp>
      <p:sp>
        <p:nvSpPr>
          <p:cNvPr id="140" name="Shape 138"/>
          <p:cNvSpPr/>
          <p:nvPr/>
        </p:nvSpPr>
        <p:spPr>
          <a:xfrm>
            <a:off x="7491407" y="5479727"/>
            <a:ext cx="83495" cy="41976"/>
          </a:xfrm>
          <a:prstGeom prst="rect">
            <a:avLst/>
          </a:prstGeom>
          <a:solidFill>
            <a:srgbClr val="000000"/>
          </a:solidFill>
          <a:ln w="12700">
            <a:solidFill>
              <a:srgbClr val="000000">
                <a:alpha val="0"/>
              </a:srgbClr>
            </a:solidFill>
            <a:prstDash val="solid"/>
          </a:ln>
        </p:spPr>
      </p:sp>
      <p:sp>
        <p:nvSpPr>
          <p:cNvPr id="141" name="Shape 139"/>
          <p:cNvSpPr/>
          <p:nvPr/>
        </p:nvSpPr>
        <p:spPr>
          <a:xfrm>
            <a:off x="7699001" y="5479727"/>
            <a:ext cx="208051" cy="41976"/>
          </a:xfrm>
          <a:prstGeom prst="rect">
            <a:avLst/>
          </a:prstGeom>
          <a:solidFill>
            <a:srgbClr val="000000"/>
          </a:solidFill>
          <a:ln w="12700">
            <a:solidFill>
              <a:srgbClr val="000000">
                <a:alpha val="0"/>
              </a:srgbClr>
            </a:solidFill>
            <a:prstDash val="solid"/>
          </a:ln>
        </p:spPr>
      </p:sp>
      <p:sp>
        <p:nvSpPr>
          <p:cNvPr id="142" name="Shape 140"/>
          <p:cNvSpPr/>
          <p:nvPr/>
        </p:nvSpPr>
        <p:spPr>
          <a:xfrm>
            <a:off x="7948113" y="5479727"/>
            <a:ext cx="41976" cy="41976"/>
          </a:xfrm>
          <a:prstGeom prst="rect">
            <a:avLst/>
          </a:prstGeom>
          <a:solidFill>
            <a:srgbClr val="000000"/>
          </a:solidFill>
          <a:ln w="12700">
            <a:solidFill>
              <a:srgbClr val="000000">
                <a:alpha val="0"/>
              </a:srgbClr>
            </a:solidFill>
            <a:prstDash val="solid"/>
          </a:ln>
        </p:spPr>
      </p:sp>
      <p:sp>
        <p:nvSpPr>
          <p:cNvPr id="143" name="Shape 141"/>
          <p:cNvSpPr/>
          <p:nvPr/>
        </p:nvSpPr>
        <p:spPr>
          <a:xfrm>
            <a:off x="8031150" y="5479727"/>
            <a:ext cx="41976" cy="41976"/>
          </a:xfrm>
          <a:prstGeom prst="rect">
            <a:avLst/>
          </a:prstGeom>
          <a:solidFill>
            <a:srgbClr val="000000"/>
          </a:solidFill>
          <a:ln w="12700">
            <a:solidFill>
              <a:srgbClr val="000000">
                <a:alpha val="0"/>
              </a:srgbClr>
            </a:solidFill>
            <a:prstDash val="solid"/>
          </a:ln>
        </p:spPr>
      </p:sp>
      <p:sp>
        <p:nvSpPr>
          <p:cNvPr id="144" name="Shape 142"/>
          <p:cNvSpPr/>
          <p:nvPr/>
        </p:nvSpPr>
        <p:spPr>
          <a:xfrm>
            <a:off x="7034702" y="5521246"/>
            <a:ext cx="41976" cy="41976"/>
          </a:xfrm>
          <a:prstGeom prst="rect">
            <a:avLst/>
          </a:prstGeom>
          <a:solidFill>
            <a:srgbClr val="000000"/>
          </a:solidFill>
          <a:ln w="12700">
            <a:solidFill>
              <a:srgbClr val="000000">
                <a:alpha val="0"/>
              </a:srgbClr>
            </a:solidFill>
            <a:prstDash val="solid"/>
          </a:ln>
        </p:spPr>
      </p:sp>
      <p:sp>
        <p:nvSpPr>
          <p:cNvPr id="145" name="Shape 143"/>
          <p:cNvSpPr/>
          <p:nvPr/>
        </p:nvSpPr>
        <p:spPr>
          <a:xfrm>
            <a:off x="7117739" y="5521246"/>
            <a:ext cx="83495" cy="41976"/>
          </a:xfrm>
          <a:prstGeom prst="rect">
            <a:avLst/>
          </a:prstGeom>
          <a:solidFill>
            <a:srgbClr val="000000"/>
          </a:solidFill>
          <a:ln w="12700">
            <a:solidFill>
              <a:srgbClr val="000000">
                <a:alpha val="0"/>
              </a:srgbClr>
            </a:solidFill>
            <a:prstDash val="solid"/>
          </a:ln>
        </p:spPr>
      </p:sp>
      <p:sp>
        <p:nvSpPr>
          <p:cNvPr id="146" name="Shape 144"/>
          <p:cNvSpPr/>
          <p:nvPr/>
        </p:nvSpPr>
        <p:spPr>
          <a:xfrm>
            <a:off x="7242295" y="5521246"/>
            <a:ext cx="41976" cy="41976"/>
          </a:xfrm>
          <a:prstGeom prst="rect">
            <a:avLst/>
          </a:prstGeom>
          <a:solidFill>
            <a:srgbClr val="000000"/>
          </a:solidFill>
          <a:ln w="12700">
            <a:solidFill>
              <a:srgbClr val="000000">
                <a:alpha val="0"/>
              </a:srgbClr>
            </a:solidFill>
            <a:prstDash val="solid"/>
          </a:ln>
        </p:spPr>
      </p:sp>
      <p:sp>
        <p:nvSpPr>
          <p:cNvPr id="147" name="Shape 145"/>
          <p:cNvSpPr/>
          <p:nvPr/>
        </p:nvSpPr>
        <p:spPr>
          <a:xfrm>
            <a:off x="7325333" y="5521246"/>
            <a:ext cx="41976" cy="41976"/>
          </a:xfrm>
          <a:prstGeom prst="rect">
            <a:avLst/>
          </a:prstGeom>
          <a:solidFill>
            <a:srgbClr val="000000"/>
          </a:solidFill>
          <a:ln w="12700">
            <a:solidFill>
              <a:srgbClr val="000000">
                <a:alpha val="0"/>
              </a:srgbClr>
            </a:solidFill>
            <a:prstDash val="solid"/>
          </a:ln>
        </p:spPr>
      </p:sp>
      <p:sp>
        <p:nvSpPr>
          <p:cNvPr id="148" name="Shape 146"/>
          <p:cNvSpPr/>
          <p:nvPr/>
        </p:nvSpPr>
        <p:spPr>
          <a:xfrm>
            <a:off x="7408370" y="5521246"/>
            <a:ext cx="41976" cy="41976"/>
          </a:xfrm>
          <a:prstGeom prst="rect">
            <a:avLst/>
          </a:prstGeom>
          <a:solidFill>
            <a:srgbClr val="000000"/>
          </a:solidFill>
          <a:ln w="12700">
            <a:solidFill>
              <a:srgbClr val="000000">
                <a:alpha val="0"/>
              </a:srgbClr>
            </a:solidFill>
            <a:prstDash val="solid"/>
          </a:ln>
        </p:spPr>
      </p:sp>
      <p:sp>
        <p:nvSpPr>
          <p:cNvPr id="149" name="Shape 147"/>
          <p:cNvSpPr/>
          <p:nvPr/>
        </p:nvSpPr>
        <p:spPr>
          <a:xfrm>
            <a:off x="7491407" y="5521246"/>
            <a:ext cx="41976" cy="41976"/>
          </a:xfrm>
          <a:prstGeom prst="rect">
            <a:avLst/>
          </a:prstGeom>
          <a:solidFill>
            <a:srgbClr val="000000"/>
          </a:solidFill>
          <a:ln w="12700">
            <a:solidFill>
              <a:srgbClr val="000000">
                <a:alpha val="0"/>
              </a:srgbClr>
            </a:solidFill>
            <a:prstDash val="solid"/>
          </a:ln>
        </p:spPr>
      </p:sp>
      <p:sp>
        <p:nvSpPr>
          <p:cNvPr id="150" name="Shape 148"/>
          <p:cNvSpPr/>
          <p:nvPr/>
        </p:nvSpPr>
        <p:spPr>
          <a:xfrm>
            <a:off x="7574445" y="5521246"/>
            <a:ext cx="41976" cy="41976"/>
          </a:xfrm>
          <a:prstGeom prst="rect">
            <a:avLst/>
          </a:prstGeom>
          <a:solidFill>
            <a:srgbClr val="000000"/>
          </a:solidFill>
          <a:ln w="12700">
            <a:solidFill>
              <a:srgbClr val="000000">
                <a:alpha val="0"/>
              </a:srgbClr>
            </a:solidFill>
            <a:prstDash val="solid"/>
          </a:ln>
        </p:spPr>
      </p:sp>
      <p:sp>
        <p:nvSpPr>
          <p:cNvPr id="151" name="Shape 149"/>
          <p:cNvSpPr/>
          <p:nvPr/>
        </p:nvSpPr>
        <p:spPr>
          <a:xfrm>
            <a:off x="7657482" y="5521246"/>
            <a:ext cx="41976" cy="41976"/>
          </a:xfrm>
          <a:prstGeom prst="rect">
            <a:avLst/>
          </a:prstGeom>
          <a:solidFill>
            <a:srgbClr val="000000"/>
          </a:solidFill>
          <a:ln w="12700">
            <a:solidFill>
              <a:srgbClr val="000000">
                <a:alpha val="0"/>
              </a:srgbClr>
            </a:solidFill>
            <a:prstDash val="solid"/>
          </a:ln>
        </p:spPr>
      </p:sp>
      <p:sp>
        <p:nvSpPr>
          <p:cNvPr id="152" name="Shape 150"/>
          <p:cNvSpPr/>
          <p:nvPr/>
        </p:nvSpPr>
        <p:spPr>
          <a:xfrm>
            <a:off x="7823557" y="5521246"/>
            <a:ext cx="41976" cy="41976"/>
          </a:xfrm>
          <a:prstGeom prst="rect">
            <a:avLst/>
          </a:prstGeom>
          <a:solidFill>
            <a:srgbClr val="000000"/>
          </a:solidFill>
          <a:ln w="12700">
            <a:solidFill>
              <a:srgbClr val="000000">
                <a:alpha val="0"/>
              </a:srgbClr>
            </a:solidFill>
            <a:prstDash val="solid"/>
          </a:ln>
        </p:spPr>
      </p:sp>
      <p:sp>
        <p:nvSpPr>
          <p:cNvPr id="153" name="Shape 151"/>
          <p:cNvSpPr/>
          <p:nvPr/>
        </p:nvSpPr>
        <p:spPr>
          <a:xfrm>
            <a:off x="7906594" y="5521246"/>
            <a:ext cx="83495" cy="41976"/>
          </a:xfrm>
          <a:prstGeom prst="rect">
            <a:avLst/>
          </a:prstGeom>
          <a:solidFill>
            <a:srgbClr val="000000"/>
          </a:solidFill>
          <a:ln w="12700">
            <a:solidFill>
              <a:srgbClr val="000000">
                <a:alpha val="0"/>
              </a:srgbClr>
            </a:solidFill>
            <a:prstDash val="solid"/>
          </a:ln>
        </p:spPr>
      </p:sp>
      <p:sp>
        <p:nvSpPr>
          <p:cNvPr id="154" name="Shape 152"/>
          <p:cNvSpPr/>
          <p:nvPr/>
        </p:nvSpPr>
        <p:spPr>
          <a:xfrm>
            <a:off x="6868627" y="5562765"/>
            <a:ext cx="83495" cy="41976"/>
          </a:xfrm>
          <a:prstGeom prst="rect">
            <a:avLst/>
          </a:prstGeom>
          <a:solidFill>
            <a:srgbClr val="000000"/>
          </a:solidFill>
          <a:ln w="12700">
            <a:solidFill>
              <a:srgbClr val="000000">
                <a:alpha val="0"/>
              </a:srgbClr>
            </a:solidFill>
            <a:prstDash val="solid"/>
          </a:ln>
        </p:spPr>
      </p:sp>
      <p:sp>
        <p:nvSpPr>
          <p:cNvPr id="155" name="Shape 153"/>
          <p:cNvSpPr/>
          <p:nvPr/>
        </p:nvSpPr>
        <p:spPr>
          <a:xfrm>
            <a:off x="6993183" y="5562765"/>
            <a:ext cx="125013" cy="41976"/>
          </a:xfrm>
          <a:prstGeom prst="rect">
            <a:avLst/>
          </a:prstGeom>
          <a:solidFill>
            <a:srgbClr val="000000"/>
          </a:solidFill>
          <a:ln w="12700">
            <a:solidFill>
              <a:srgbClr val="000000">
                <a:alpha val="0"/>
              </a:srgbClr>
            </a:solidFill>
            <a:prstDash val="solid"/>
          </a:ln>
        </p:spPr>
      </p:sp>
      <p:sp>
        <p:nvSpPr>
          <p:cNvPr id="156" name="Shape 154"/>
          <p:cNvSpPr/>
          <p:nvPr/>
        </p:nvSpPr>
        <p:spPr>
          <a:xfrm>
            <a:off x="7200776" y="5562765"/>
            <a:ext cx="83495" cy="41976"/>
          </a:xfrm>
          <a:prstGeom prst="rect">
            <a:avLst/>
          </a:prstGeom>
          <a:solidFill>
            <a:srgbClr val="000000"/>
          </a:solidFill>
          <a:ln w="12700">
            <a:solidFill>
              <a:srgbClr val="000000">
                <a:alpha val="0"/>
              </a:srgbClr>
            </a:solidFill>
            <a:prstDash val="solid"/>
          </a:ln>
        </p:spPr>
      </p:sp>
      <p:sp>
        <p:nvSpPr>
          <p:cNvPr id="157" name="Shape 155"/>
          <p:cNvSpPr/>
          <p:nvPr/>
        </p:nvSpPr>
        <p:spPr>
          <a:xfrm>
            <a:off x="7325333" y="5562765"/>
            <a:ext cx="41976" cy="41976"/>
          </a:xfrm>
          <a:prstGeom prst="rect">
            <a:avLst/>
          </a:prstGeom>
          <a:solidFill>
            <a:srgbClr val="000000"/>
          </a:solidFill>
          <a:ln w="12700">
            <a:solidFill>
              <a:srgbClr val="000000">
                <a:alpha val="0"/>
              </a:srgbClr>
            </a:solidFill>
            <a:prstDash val="solid"/>
          </a:ln>
        </p:spPr>
      </p:sp>
      <p:sp>
        <p:nvSpPr>
          <p:cNvPr id="158" name="Shape 156"/>
          <p:cNvSpPr/>
          <p:nvPr/>
        </p:nvSpPr>
        <p:spPr>
          <a:xfrm>
            <a:off x="7408370" y="5562765"/>
            <a:ext cx="41976" cy="41976"/>
          </a:xfrm>
          <a:prstGeom prst="rect">
            <a:avLst/>
          </a:prstGeom>
          <a:solidFill>
            <a:srgbClr val="000000"/>
          </a:solidFill>
          <a:ln w="12700">
            <a:solidFill>
              <a:srgbClr val="000000">
                <a:alpha val="0"/>
              </a:srgbClr>
            </a:solidFill>
            <a:prstDash val="solid"/>
          </a:ln>
        </p:spPr>
      </p:sp>
      <p:sp>
        <p:nvSpPr>
          <p:cNvPr id="159" name="Shape 157"/>
          <p:cNvSpPr/>
          <p:nvPr/>
        </p:nvSpPr>
        <p:spPr>
          <a:xfrm>
            <a:off x="7491407" y="5562765"/>
            <a:ext cx="249569" cy="41976"/>
          </a:xfrm>
          <a:prstGeom prst="rect">
            <a:avLst/>
          </a:prstGeom>
          <a:solidFill>
            <a:srgbClr val="000000"/>
          </a:solidFill>
          <a:ln w="12700">
            <a:solidFill>
              <a:srgbClr val="000000">
                <a:alpha val="0"/>
              </a:srgbClr>
            </a:solidFill>
            <a:prstDash val="solid"/>
          </a:ln>
        </p:spPr>
      </p:sp>
      <p:sp>
        <p:nvSpPr>
          <p:cNvPr id="160" name="Shape 158"/>
          <p:cNvSpPr/>
          <p:nvPr/>
        </p:nvSpPr>
        <p:spPr>
          <a:xfrm>
            <a:off x="7782038" y="5562765"/>
            <a:ext cx="125013" cy="41976"/>
          </a:xfrm>
          <a:prstGeom prst="rect">
            <a:avLst/>
          </a:prstGeom>
          <a:solidFill>
            <a:srgbClr val="000000"/>
          </a:solidFill>
          <a:ln w="12700">
            <a:solidFill>
              <a:srgbClr val="000000">
                <a:alpha val="0"/>
              </a:srgbClr>
            </a:solidFill>
            <a:prstDash val="solid"/>
          </a:ln>
        </p:spPr>
      </p:sp>
      <p:sp>
        <p:nvSpPr>
          <p:cNvPr id="161" name="Shape 159"/>
          <p:cNvSpPr/>
          <p:nvPr/>
        </p:nvSpPr>
        <p:spPr>
          <a:xfrm>
            <a:off x="7948113" y="5562765"/>
            <a:ext cx="125013" cy="41976"/>
          </a:xfrm>
          <a:prstGeom prst="rect">
            <a:avLst/>
          </a:prstGeom>
          <a:solidFill>
            <a:srgbClr val="000000"/>
          </a:solidFill>
          <a:ln w="12700">
            <a:solidFill>
              <a:srgbClr val="000000">
                <a:alpha val="0"/>
              </a:srgbClr>
            </a:solidFill>
            <a:prstDash val="solid"/>
          </a:ln>
        </p:spPr>
      </p:sp>
      <p:sp>
        <p:nvSpPr>
          <p:cNvPr id="162" name="Shape 160"/>
          <p:cNvSpPr/>
          <p:nvPr/>
        </p:nvSpPr>
        <p:spPr>
          <a:xfrm>
            <a:off x="6868627" y="5604283"/>
            <a:ext cx="166532" cy="41976"/>
          </a:xfrm>
          <a:prstGeom prst="rect">
            <a:avLst/>
          </a:prstGeom>
          <a:solidFill>
            <a:srgbClr val="000000"/>
          </a:solidFill>
          <a:ln w="12700">
            <a:solidFill>
              <a:srgbClr val="000000">
                <a:alpha val="0"/>
              </a:srgbClr>
            </a:solidFill>
            <a:prstDash val="solid"/>
          </a:ln>
        </p:spPr>
      </p:sp>
      <p:sp>
        <p:nvSpPr>
          <p:cNvPr id="163" name="Shape 161"/>
          <p:cNvSpPr/>
          <p:nvPr/>
        </p:nvSpPr>
        <p:spPr>
          <a:xfrm>
            <a:off x="7117739" y="5604283"/>
            <a:ext cx="41976" cy="41976"/>
          </a:xfrm>
          <a:prstGeom prst="rect">
            <a:avLst/>
          </a:prstGeom>
          <a:solidFill>
            <a:srgbClr val="000000"/>
          </a:solidFill>
          <a:ln w="12700">
            <a:solidFill>
              <a:srgbClr val="000000">
                <a:alpha val="0"/>
              </a:srgbClr>
            </a:solidFill>
            <a:prstDash val="solid"/>
          </a:ln>
        </p:spPr>
      </p:sp>
      <p:sp>
        <p:nvSpPr>
          <p:cNvPr id="164" name="Shape 162"/>
          <p:cNvSpPr/>
          <p:nvPr/>
        </p:nvSpPr>
        <p:spPr>
          <a:xfrm>
            <a:off x="7283814" y="5604283"/>
            <a:ext cx="83495" cy="41976"/>
          </a:xfrm>
          <a:prstGeom prst="rect">
            <a:avLst/>
          </a:prstGeom>
          <a:solidFill>
            <a:srgbClr val="000000"/>
          </a:solidFill>
          <a:ln w="12700">
            <a:solidFill>
              <a:srgbClr val="000000">
                <a:alpha val="0"/>
              </a:srgbClr>
            </a:solidFill>
            <a:prstDash val="solid"/>
          </a:ln>
        </p:spPr>
      </p:sp>
      <p:sp>
        <p:nvSpPr>
          <p:cNvPr id="165" name="Shape 163"/>
          <p:cNvSpPr/>
          <p:nvPr/>
        </p:nvSpPr>
        <p:spPr>
          <a:xfrm>
            <a:off x="7491407" y="5604283"/>
            <a:ext cx="41976" cy="41976"/>
          </a:xfrm>
          <a:prstGeom prst="rect">
            <a:avLst/>
          </a:prstGeom>
          <a:solidFill>
            <a:srgbClr val="000000"/>
          </a:solidFill>
          <a:ln w="12700">
            <a:solidFill>
              <a:srgbClr val="000000">
                <a:alpha val="0"/>
              </a:srgbClr>
            </a:solidFill>
            <a:prstDash val="solid"/>
          </a:ln>
        </p:spPr>
      </p:sp>
      <p:sp>
        <p:nvSpPr>
          <p:cNvPr id="166" name="Shape 164"/>
          <p:cNvSpPr/>
          <p:nvPr/>
        </p:nvSpPr>
        <p:spPr>
          <a:xfrm>
            <a:off x="7657482" y="5604283"/>
            <a:ext cx="83495" cy="41976"/>
          </a:xfrm>
          <a:prstGeom prst="rect">
            <a:avLst/>
          </a:prstGeom>
          <a:solidFill>
            <a:srgbClr val="000000"/>
          </a:solidFill>
          <a:ln w="12700">
            <a:solidFill>
              <a:srgbClr val="000000">
                <a:alpha val="0"/>
              </a:srgbClr>
            </a:solidFill>
            <a:prstDash val="solid"/>
          </a:ln>
        </p:spPr>
      </p:sp>
      <p:sp>
        <p:nvSpPr>
          <p:cNvPr id="167" name="Shape 165"/>
          <p:cNvSpPr/>
          <p:nvPr/>
        </p:nvSpPr>
        <p:spPr>
          <a:xfrm>
            <a:off x="7906594" y="5604283"/>
            <a:ext cx="41976" cy="41976"/>
          </a:xfrm>
          <a:prstGeom prst="rect">
            <a:avLst/>
          </a:prstGeom>
          <a:solidFill>
            <a:srgbClr val="000000"/>
          </a:solidFill>
          <a:ln w="12700">
            <a:solidFill>
              <a:srgbClr val="000000">
                <a:alpha val="0"/>
              </a:srgbClr>
            </a:solidFill>
            <a:prstDash val="solid"/>
          </a:ln>
        </p:spPr>
      </p:sp>
      <p:sp>
        <p:nvSpPr>
          <p:cNvPr id="168" name="Shape 166"/>
          <p:cNvSpPr/>
          <p:nvPr/>
        </p:nvSpPr>
        <p:spPr>
          <a:xfrm>
            <a:off x="8031150" y="5604283"/>
            <a:ext cx="41976" cy="41976"/>
          </a:xfrm>
          <a:prstGeom prst="rect">
            <a:avLst/>
          </a:prstGeom>
          <a:solidFill>
            <a:srgbClr val="000000"/>
          </a:solidFill>
          <a:ln w="12700">
            <a:solidFill>
              <a:srgbClr val="000000">
                <a:alpha val="0"/>
              </a:srgbClr>
            </a:solidFill>
            <a:prstDash val="solid"/>
          </a:ln>
        </p:spPr>
      </p:sp>
      <p:sp>
        <p:nvSpPr>
          <p:cNvPr id="169" name="Shape 167"/>
          <p:cNvSpPr/>
          <p:nvPr/>
        </p:nvSpPr>
        <p:spPr>
          <a:xfrm>
            <a:off x="6868627" y="5645802"/>
            <a:ext cx="41976" cy="41976"/>
          </a:xfrm>
          <a:prstGeom prst="rect">
            <a:avLst/>
          </a:prstGeom>
          <a:solidFill>
            <a:srgbClr val="000000"/>
          </a:solidFill>
          <a:ln w="12700">
            <a:solidFill>
              <a:srgbClr val="000000">
                <a:alpha val="0"/>
              </a:srgbClr>
            </a:solidFill>
            <a:prstDash val="solid"/>
          </a:ln>
        </p:spPr>
      </p:sp>
      <p:sp>
        <p:nvSpPr>
          <p:cNvPr id="170" name="Shape 168"/>
          <p:cNvSpPr/>
          <p:nvPr/>
        </p:nvSpPr>
        <p:spPr>
          <a:xfrm>
            <a:off x="7076220" y="5645802"/>
            <a:ext cx="41976" cy="41976"/>
          </a:xfrm>
          <a:prstGeom prst="rect">
            <a:avLst/>
          </a:prstGeom>
          <a:solidFill>
            <a:srgbClr val="000000"/>
          </a:solidFill>
          <a:ln w="12700">
            <a:solidFill>
              <a:srgbClr val="000000">
                <a:alpha val="0"/>
              </a:srgbClr>
            </a:solidFill>
            <a:prstDash val="solid"/>
          </a:ln>
        </p:spPr>
      </p:sp>
      <p:sp>
        <p:nvSpPr>
          <p:cNvPr id="171" name="Shape 169"/>
          <p:cNvSpPr/>
          <p:nvPr/>
        </p:nvSpPr>
        <p:spPr>
          <a:xfrm>
            <a:off x="7366851" y="5645802"/>
            <a:ext cx="41976" cy="41976"/>
          </a:xfrm>
          <a:prstGeom prst="rect">
            <a:avLst/>
          </a:prstGeom>
          <a:solidFill>
            <a:srgbClr val="000000"/>
          </a:solidFill>
          <a:ln w="12700">
            <a:solidFill>
              <a:srgbClr val="000000">
                <a:alpha val="0"/>
              </a:srgbClr>
            </a:solidFill>
            <a:prstDash val="solid"/>
          </a:ln>
        </p:spPr>
      </p:sp>
      <p:sp>
        <p:nvSpPr>
          <p:cNvPr id="172" name="Shape 170"/>
          <p:cNvSpPr/>
          <p:nvPr/>
        </p:nvSpPr>
        <p:spPr>
          <a:xfrm>
            <a:off x="7449889" y="5645802"/>
            <a:ext cx="83495" cy="41976"/>
          </a:xfrm>
          <a:prstGeom prst="rect">
            <a:avLst/>
          </a:prstGeom>
          <a:solidFill>
            <a:srgbClr val="000000"/>
          </a:solidFill>
          <a:ln w="12700">
            <a:solidFill>
              <a:srgbClr val="000000">
                <a:alpha val="0"/>
              </a:srgbClr>
            </a:solidFill>
            <a:prstDash val="solid"/>
          </a:ln>
        </p:spPr>
      </p:sp>
      <p:sp>
        <p:nvSpPr>
          <p:cNvPr id="173" name="Shape 171"/>
          <p:cNvSpPr/>
          <p:nvPr/>
        </p:nvSpPr>
        <p:spPr>
          <a:xfrm>
            <a:off x="7615963" y="5645802"/>
            <a:ext cx="41976" cy="41976"/>
          </a:xfrm>
          <a:prstGeom prst="rect">
            <a:avLst/>
          </a:prstGeom>
          <a:solidFill>
            <a:srgbClr val="000000"/>
          </a:solidFill>
          <a:ln w="12700">
            <a:solidFill>
              <a:srgbClr val="000000">
                <a:alpha val="0"/>
              </a:srgbClr>
            </a:solidFill>
            <a:prstDash val="solid"/>
          </a:ln>
        </p:spPr>
      </p:sp>
      <p:sp>
        <p:nvSpPr>
          <p:cNvPr id="174" name="Shape 172"/>
          <p:cNvSpPr/>
          <p:nvPr/>
        </p:nvSpPr>
        <p:spPr>
          <a:xfrm>
            <a:off x="7699001" y="5645802"/>
            <a:ext cx="41976" cy="41976"/>
          </a:xfrm>
          <a:prstGeom prst="rect">
            <a:avLst/>
          </a:prstGeom>
          <a:solidFill>
            <a:srgbClr val="000000"/>
          </a:solidFill>
          <a:ln w="12700">
            <a:solidFill>
              <a:srgbClr val="000000">
                <a:alpha val="0"/>
              </a:srgbClr>
            </a:solidFill>
            <a:prstDash val="solid"/>
          </a:ln>
        </p:spPr>
      </p:sp>
      <p:sp>
        <p:nvSpPr>
          <p:cNvPr id="175" name="Shape 173"/>
          <p:cNvSpPr/>
          <p:nvPr/>
        </p:nvSpPr>
        <p:spPr>
          <a:xfrm>
            <a:off x="7782038" y="5645802"/>
            <a:ext cx="125013" cy="41976"/>
          </a:xfrm>
          <a:prstGeom prst="rect">
            <a:avLst/>
          </a:prstGeom>
          <a:solidFill>
            <a:srgbClr val="000000"/>
          </a:solidFill>
          <a:ln w="12700">
            <a:solidFill>
              <a:srgbClr val="000000">
                <a:alpha val="0"/>
              </a:srgbClr>
            </a:solidFill>
            <a:prstDash val="solid"/>
          </a:ln>
        </p:spPr>
      </p:sp>
      <p:sp>
        <p:nvSpPr>
          <p:cNvPr id="176" name="Shape 174"/>
          <p:cNvSpPr/>
          <p:nvPr/>
        </p:nvSpPr>
        <p:spPr>
          <a:xfrm>
            <a:off x="6868627" y="5687321"/>
            <a:ext cx="41976" cy="41976"/>
          </a:xfrm>
          <a:prstGeom prst="rect">
            <a:avLst/>
          </a:prstGeom>
          <a:solidFill>
            <a:srgbClr val="000000"/>
          </a:solidFill>
          <a:ln w="12700">
            <a:solidFill>
              <a:srgbClr val="000000">
                <a:alpha val="0"/>
              </a:srgbClr>
            </a:solidFill>
            <a:prstDash val="solid"/>
          </a:ln>
        </p:spPr>
      </p:sp>
      <p:sp>
        <p:nvSpPr>
          <p:cNvPr id="177" name="Shape 175"/>
          <p:cNvSpPr/>
          <p:nvPr/>
        </p:nvSpPr>
        <p:spPr>
          <a:xfrm>
            <a:off x="6951664" y="5687321"/>
            <a:ext cx="41976" cy="41976"/>
          </a:xfrm>
          <a:prstGeom prst="rect">
            <a:avLst/>
          </a:prstGeom>
          <a:solidFill>
            <a:srgbClr val="000000"/>
          </a:solidFill>
          <a:ln w="12700">
            <a:solidFill>
              <a:srgbClr val="000000">
                <a:alpha val="0"/>
              </a:srgbClr>
            </a:solidFill>
            <a:prstDash val="solid"/>
          </a:ln>
        </p:spPr>
      </p:sp>
      <p:sp>
        <p:nvSpPr>
          <p:cNvPr id="178" name="Shape 176"/>
          <p:cNvSpPr/>
          <p:nvPr/>
        </p:nvSpPr>
        <p:spPr>
          <a:xfrm>
            <a:off x="7034702" y="5687321"/>
            <a:ext cx="41976" cy="41976"/>
          </a:xfrm>
          <a:prstGeom prst="rect">
            <a:avLst/>
          </a:prstGeom>
          <a:solidFill>
            <a:srgbClr val="000000"/>
          </a:solidFill>
          <a:ln w="12700">
            <a:solidFill>
              <a:srgbClr val="000000">
                <a:alpha val="0"/>
              </a:srgbClr>
            </a:solidFill>
            <a:prstDash val="solid"/>
          </a:ln>
        </p:spPr>
      </p:sp>
      <p:sp>
        <p:nvSpPr>
          <p:cNvPr id="179" name="Shape 177"/>
          <p:cNvSpPr/>
          <p:nvPr/>
        </p:nvSpPr>
        <p:spPr>
          <a:xfrm>
            <a:off x="7117739" y="5687321"/>
            <a:ext cx="83495" cy="41976"/>
          </a:xfrm>
          <a:prstGeom prst="rect">
            <a:avLst/>
          </a:prstGeom>
          <a:solidFill>
            <a:srgbClr val="000000"/>
          </a:solidFill>
          <a:ln w="12700">
            <a:solidFill>
              <a:srgbClr val="000000">
                <a:alpha val="0"/>
              </a:srgbClr>
            </a:solidFill>
            <a:prstDash val="solid"/>
          </a:ln>
        </p:spPr>
      </p:sp>
      <p:sp>
        <p:nvSpPr>
          <p:cNvPr id="180" name="Shape 178"/>
          <p:cNvSpPr/>
          <p:nvPr/>
        </p:nvSpPr>
        <p:spPr>
          <a:xfrm>
            <a:off x="7366851" y="5687321"/>
            <a:ext cx="41976" cy="41976"/>
          </a:xfrm>
          <a:prstGeom prst="rect">
            <a:avLst/>
          </a:prstGeom>
          <a:solidFill>
            <a:srgbClr val="000000"/>
          </a:solidFill>
          <a:ln w="12700">
            <a:solidFill>
              <a:srgbClr val="000000">
                <a:alpha val="0"/>
              </a:srgbClr>
            </a:solidFill>
            <a:prstDash val="solid"/>
          </a:ln>
        </p:spPr>
      </p:sp>
      <p:sp>
        <p:nvSpPr>
          <p:cNvPr id="181" name="Shape 179"/>
          <p:cNvSpPr/>
          <p:nvPr/>
        </p:nvSpPr>
        <p:spPr>
          <a:xfrm>
            <a:off x="7574445" y="5687321"/>
            <a:ext cx="83495" cy="41976"/>
          </a:xfrm>
          <a:prstGeom prst="rect">
            <a:avLst/>
          </a:prstGeom>
          <a:solidFill>
            <a:srgbClr val="000000"/>
          </a:solidFill>
          <a:ln w="12700">
            <a:solidFill>
              <a:srgbClr val="000000">
                <a:alpha val="0"/>
              </a:srgbClr>
            </a:solidFill>
            <a:prstDash val="solid"/>
          </a:ln>
        </p:spPr>
      </p:sp>
      <p:sp>
        <p:nvSpPr>
          <p:cNvPr id="182" name="Shape 180"/>
          <p:cNvSpPr/>
          <p:nvPr/>
        </p:nvSpPr>
        <p:spPr>
          <a:xfrm>
            <a:off x="7699001" y="5687321"/>
            <a:ext cx="208051" cy="41976"/>
          </a:xfrm>
          <a:prstGeom prst="rect">
            <a:avLst/>
          </a:prstGeom>
          <a:solidFill>
            <a:srgbClr val="000000"/>
          </a:solidFill>
          <a:ln w="12700">
            <a:solidFill>
              <a:srgbClr val="000000">
                <a:alpha val="0"/>
              </a:srgbClr>
            </a:solidFill>
            <a:prstDash val="solid"/>
          </a:ln>
        </p:spPr>
      </p:sp>
      <p:sp>
        <p:nvSpPr>
          <p:cNvPr id="183" name="Shape 181"/>
          <p:cNvSpPr/>
          <p:nvPr/>
        </p:nvSpPr>
        <p:spPr>
          <a:xfrm>
            <a:off x="7948113" y="5687321"/>
            <a:ext cx="125013" cy="41976"/>
          </a:xfrm>
          <a:prstGeom prst="rect">
            <a:avLst/>
          </a:prstGeom>
          <a:solidFill>
            <a:srgbClr val="000000"/>
          </a:solidFill>
          <a:ln w="12700">
            <a:solidFill>
              <a:srgbClr val="000000">
                <a:alpha val="0"/>
              </a:srgbClr>
            </a:solidFill>
            <a:prstDash val="solid"/>
          </a:ln>
        </p:spPr>
      </p:sp>
      <p:sp>
        <p:nvSpPr>
          <p:cNvPr id="184" name="Shape 182"/>
          <p:cNvSpPr/>
          <p:nvPr/>
        </p:nvSpPr>
        <p:spPr>
          <a:xfrm>
            <a:off x="7200776" y="5728840"/>
            <a:ext cx="83495" cy="41976"/>
          </a:xfrm>
          <a:prstGeom prst="rect">
            <a:avLst/>
          </a:prstGeom>
          <a:solidFill>
            <a:srgbClr val="000000"/>
          </a:solidFill>
          <a:ln w="12700">
            <a:solidFill>
              <a:srgbClr val="000000">
                <a:alpha val="0"/>
              </a:srgbClr>
            </a:solidFill>
            <a:prstDash val="solid"/>
          </a:ln>
        </p:spPr>
      </p:sp>
      <p:sp>
        <p:nvSpPr>
          <p:cNvPr id="185" name="Shape 183"/>
          <p:cNvSpPr/>
          <p:nvPr/>
        </p:nvSpPr>
        <p:spPr>
          <a:xfrm>
            <a:off x="7325333" y="5728840"/>
            <a:ext cx="208051" cy="41976"/>
          </a:xfrm>
          <a:prstGeom prst="rect">
            <a:avLst/>
          </a:prstGeom>
          <a:solidFill>
            <a:srgbClr val="000000"/>
          </a:solidFill>
          <a:ln w="12700">
            <a:solidFill>
              <a:srgbClr val="000000">
                <a:alpha val="0"/>
              </a:srgbClr>
            </a:solidFill>
            <a:prstDash val="solid"/>
          </a:ln>
        </p:spPr>
      </p:sp>
      <p:sp>
        <p:nvSpPr>
          <p:cNvPr id="186" name="Shape 184"/>
          <p:cNvSpPr/>
          <p:nvPr/>
        </p:nvSpPr>
        <p:spPr>
          <a:xfrm>
            <a:off x="7574445" y="5728840"/>
            <a:ext cx="83495" cy="41976"/>
          </a:xfrm>
          <a:prstGeom prst="rect">
            <a:avLst/>
          </a:prstGeom>
          <a:solidFill>
            <a:srgbClr val="000000"/>
          </a:solidFill>
          <a:ln w="12700">
            <a:solidFill>
              <a:srgbClr val="000000">
                <a:alpha val="0"/>
              </a:srgbClr>
            </a:solidFill>
            <a:prstDash val="solid"/>
          </a:ln>
        </p:spPr>
      </p:sp>
      <p:sp>
        <p:nvSpPr>
          <p:cNvPr id="187" name="Shape 185"/>
          <p:cNvSpPr/>
          <p:nvPr/>
        </p:nvSpPr>
        <p:spPr>
          <a:xfrm>
            <a:off x="7699001" y="5728840"/>
            <a:ext cx="41976" cy="41976"/>
          </a:xfrm>
          <a:prstGeom prst="rect">
            <a:avLst/>
          </a:prstGeom>
          <a:solidFill>
            <a:srgbClr val="000000"/>
          </a:solidFill>
          <a:ln w="12700">
            <a:solidFill>
              <a:srgbClr val="000000">
                <a:alpha val="0"/>
              </a:srgbClr>
            </a:solidFill>
            <a:prstDash val="solid"/>
          </a:ln>
        </p:spPr>
      </p:sp>
      <p:sp>
        <p:nvSpPr>
          <p:cNvPr id="188" name="Shape 186"/>
          <p:cNvSpPr/>
          <p:nvPr/>
        </p:nvSpPr>
        <p:spPr>
          <a:xfrm>
            <a:off x="7865076" y="5728840"/>
            <a:ext cx="83495" cy="41976"/>
          </a:xfrm>
          <a:prstGeom prst="rect">
            <a:avLst/>
          </a:prstGeom>
          <a:solidFill>
            <a:srgbClr val="000000"/>
          </a:solidFill>
          <a:ln w="12700">
            <a:solidFill>
              <a:srgbClr val="000000">
                <a:alpha val="0"/>
              </a:srgbClr>
            </a:solidFill>
            <a:prstDash val="solid"/>
          </a:ln>
        </p:spPr>
      </p:sp>
      <p:sp>
        <p:nvSpPr>
          <p:cNvPr id="189" name="Shape 187"/>
          <p:cNvSpPr/>
          <p:nvPr/>
        </p:nvSpPr>
        <p:spPr>
          <a:xfrm>
            <a:off x="6868627" y="5770358"/>
            <a:ext cx="291088" cy="41976"/>
          </a:xfrm>
          <a:prstGeom prst="rect">
            <a:avLst/>
          </a:prstGeom>
          <a:solidFill>
            <a:srgbClr val="000000"/>
          </a:solidFill>
          <a:ln w="12700">
            <a:solidFill>
              <a:srgbClr val="000000">
                <a:alpha val="0"/>
              </a:srgbClr>
            </a:solidFill>
            <a:prstDash val="solid"/>
          </a:ln>
        </p:spPr>
      </p:sp>
      <p:sp>
        <p:nvSpPr>
          <p:cNvPr id="190" name="Shape 188"/>
          <p:cNvSpPr/>
          <p:nvPr/>
        </p:nvSpPr>
        <p:spPr>
          <a:xfrm>
            <a:off x="7242295" y="5770358"/>
            <a:ext cx="41976" cy="41976"/>
          </a:xfrm>
          <a:prstGeom prst="rect">
            <a:avLst/>
          </a:prstGeom>
          <a:solidFill>
            <a:srgbClr val="000000"/>
          </a:solidFill>
          <a:ln w="12700">
            <a:solidFill>
              <a:srgbClr val="000000">
                <a:alpha val="0"/>
              </a:srgbClr>
            </a:solidFill>
            <a:prstDash val="solid"/>
          </a:ln>
        </p:spPr>
      </p:sp>
      <p:sp>
        <p:nvSpPr>
          <p:cNvPr id="191" name="Shape 189"/>
          <p:cNvSpPr/>
          <p:nvPr/>
        </p:nvSpPr>
        <p:spPr>
          <a:xfrm>
            <a:off x="7366851" y="5770358"/>
            <a:ext cx="249569" cy="41976"/>
          </a:xfrm>
          <a:prstGeom prst="rect">
            <a:avLst/>
          </a:prstGeom>
          <a:solidFill>
            <a:srgbClr val="000000"/>
          </a:solidFill>
          <a:ln w="12700">
            <a:solidFill>
              <a:srgbClr val="000000">
                <a:alpha val="0"/>
              </a:srgbClr>
            </a:solidFill>
            <a:prstDash val="solid"/>
          </a:ln>
        </p:spPr>
      </p:sp>
      <p:sp>
        <p:nvSpPr>
          <p:cNvPr id="192" name="Shape 190"/>
          <p:cNvSpPr/>
          <p:nvPr/>
        </p:nvSpPr>
        <p:spPr>
          <a:xfrm>
            <a:off x="7657482" y="5770358"/>
            <a:ext cx="83495" cy="41976"/>
          </a:xfrm>
          <a:prstGeom prst="rect">
            <a:avLst/>
          </a:prstGeom>
          <a:solidFill>
            <a:srgbClr val="000000"/>
          </a:solidFill>
          <a:ln w="12700">
            <a:solidFill>
              <a:srgbClr val="000000">
                <a:alpha val="0"/>
              </a:srgbClr>
            </a:solidFill>
            <a:prstDash val="solid"/>
          </a:ln>
        </p:spPr>
      </p:sp>
      <p:sp>
        <p:nvSpPr>
          <p:cNvPr id="193" name="Shape 191"/>
          <p:cNvSpPr/>
          <p:nvPr/>
        </p:nvSpPr>
        <p:spPr>
          <a:xfrm>
            <a:off x="7782038" y="5770358"/>
            <a:ext cx="41976" cy="41976"/>
          </a:xfrm>
          <a:prstGeom prst="rect">
            <a:avLst/>
          </a:prstGeom>
          <a:solidFill>
            <a:srgbClr val="000000"/>
          </a:solidFill>
          <a:ln w="12700">
            <a:solidFill>
              <a:srgbClr val="000000">
                <a:alpha val="0"/>
              </a:srgbClr>
            </a:solidFill>
            <a:prstDash val="solid"/>
          </a:ln>
        </p:spPr>
      </p:sp>
      <p:sp>
        <p:nvSpPr>
          <p:cNvPr id="194" name="Shape 192"/>
          <p:cNvSpPr/>
          <p:nvPr/>
        </p:nvSpPr>
        <p:spPr>
          <a:xfrm>
            <a:off x="7865076" y="5770358"/>
            <a:ext cx="125013" cy="41976"/>
          </a:xfrm>
          <a:prstGeom prst="rect">
            <a:avLst/>
          </a:prstGeom>
          <a:solidFill>
            <a:srgbClr val="000000"/>
          </a:solidFill>
          <a:ln w="12700">
            <a:solidFill>
              <a:srgbClr val="000000">
                <a:alpha val="0"/>
              </a:srgbClr>
            </a:solidFill>
            <a:prstDash val="solid"/>
          </a:ln>
        </p:spPr>
      </p:sp>
      <p:sp>
        <p:nvSpPr>
          <p:cNvPr id="195" name="Shape 193"/>
          <p:cNvSpPr/>
          <p:nvPr/>
        </p:nvSpPr>
        <p:spPr>
          <a:xfrm>
            <a:off x="6868627" y="5811877"/>
            <a:ext cx="41976" cy="41976"/>
          </a:xfrm>
          <a:prstGeom prst="rect">
            <a:avLst/>
          </a:prstGeom>
          <a:solidFill>
            <a:srgbClr val="000000"/>
          </a:solidFill>
          <a:ln w="12700">
            <a:solidFill>
              <a:srgbClr val="000000">
                <a:alpha val="0"/>
              </a:srgbClr>
            </a:solidFill>
            <a:prstDash val="solid"/>
          </a:ln>
        </p:spPr>
      </p:sp>
      <p:sp>
        <p:nvSpPr>
          <p:cNvPr id="196" name="Shape 194"/>
          <p:cNvSpPr/>
          <p:nvPr/>
        </p:nvSpPr>
        <p:spPr>
          <a:xfrm>
            <a:off x="7117739" y="5811877"/>
            <a:ext cx="41976" cy="41976"/>
          </a:xfrm>
          <a:prstGeom prst="rect">
            <a:avLst/>
          </a:prstGeom>
          <a:solidFill>
            <a:srgbClr val="000000"/>
          </a:solidFill>
          <a:ln w="12700">
            <a:solidFill>
              <a:srgbClr val="000000">
                <a:alpha val="0"/>
              </a:srgbClr>
            </a:solidFill>
            <a:prstDash val="solid"/>
          </a:ln>
        </p:spPr>
      </p:sp>
      <p:sp>
        <p:nvSpPr>
          <p:cNvPr id="197" name="Shape 195"/>
          <p:cNvSpPr/>
          <p:nvPr/>
        </p:nvSpPr>
        <p:spPr>
          <a:xfrm>
            <a:off x="7325333" y="5811877"/>
            <a:ext cx="41976" cy="41976"/>
          </a:xfrm>
          <a:prstGeom prst="rect">
            <a:avLst/>
          </a:prstGeom>
          <a:solidFill>
            <a:srgbClr val="000000"/>
          </a:solidFill>
          <a:ln w="12700">
            <a:solidFill>
              <a:srgbClr val="000000">
                <a:alpha val="0"/>
              </a:srgbClr>
            </a:solidFill>
            <a:prstDash val="solid"/>
          </a:ln>
        </p:spPr>
      </p:sp>
      <p:sp>
        <p:nvSpPr>
          <p:cNvPr id="198" name="Shape 196"/>
          <p:cNvSpPr/>
          <p:nvPr/>
        </p:nvSpPr>
        <p:spPr>
          <a:xfrm>
            <a:off x="7408370" y="5811877"/>
            <a:ext cx="41976" cy="41976"/>
          </a:xfrm>
          <a:prstGeom prst="rect">
            <a:avLst/>
          </a:prstGeom>
          <a:solidFill>
            <a:srgbClr val="000000"/>
          </a:solidFill>
          <a:ln w="12700">
            <a:solidFill>
              <a:srgbClr val="000000">
                <a:alpha val="0"/>
              </a:srgbClr>
            </a:solidFill>
            <a:prstDash val="solid"/>
          </a:ln>
        </p:spPr>
      </p:sp>
      <p:sp>
        <p:nvSpPr>
          <p:cNvPr id="199" name="Shape 197"/>
          <p:cNvSpPr/>
          <p:nvPr/>
        </p:nvSpPr>
        <p:spPr>
          <a:xfrm>
            <a:off x="7491407" y="5811877"/>
            <a:ext cx="41976" cy="41976"/>
          </a:xfrm>
          <a:prstGeom prst="rect">
            <a:avLst/>
          </a:prstGeom>
          <a:solidFill>
            <a:srgbClr val="000000"/>
          </a:solidFill>
          <a:ln w="12700">
            <a:solidFill>
              <a:srgbClr val="000000">
                <a:alpha val="0"/>
              </a:srgbClr>
            </a:solidFill>
            <a:prstDash val="solid"/>
          </a:ln>
        </p:spPr>
      </p:sp>
      <p:sp>
        <p:nvSpPr>
          <p:cNvPr id="200" name="Shape 198"/>
          <p:cNvSpPr/>
          <p:nvPr/>
        </p:nvSpPr>
        <p:spPr>
          <a:xfrm>
            <a:off x="7657482" y="5811877"/>
            <a:ext cx="83495" cy="41976"/>
          </a:xfrm>
          <a:prstGeom prst="rect">
            <a:avLst/>
          </a:prstGeom>
          <a:solidFill>
            <a:srgbClr val="000000"/>
          </a:solidFill>
          <a:ln w="12700">
            <a:solidFill>
              <a:srgbClr val="000000">
                <a:alpha val="0"/>
              </a:srgbClr>
            </a:solidFill>
            <a:prstDash val="solid"/>
          </a:ln>
        </p:spPr>
      </p:sp>
      <p:sp>
        <p:nvSpPr>
          <p:cNvPr id="201" name="Shape 199"/>
          <p:cNvSpPr/>
          <p:nvPr/>
        </p:nvSpPr>
        <p:spPr>
          <a:xfrm>
            <a:off x="7865076" y="5811877"/>
            <a:ext cx="41976" cy="41976"/>
          </a:xfrm>
          <a:prstGeom prst="rect">
            <a:avLst/>
          </a:prstGeom>
          <a:solidFill>
            <a:srgbClr val="000000"/>
          </a:solidFill>
          <a:ln w="12700">
            <a:solidFill>
              <a:srgbClr val="000000">
                <a:alpha val="0"/>
              </a:srgbClr>
            </a:solidFill>
            <a:prstDash val="solid"/>
          </a:ln>
        </p:spPr>
      </p:sp>
      <p:sp>
        <p:nvSpPr>
          <p:cNvPr id="202" name="Shape 200"/>
          <p:cNvSpPr/>
          <p:nvPr/>
        </p:nvSpPr>
        <p:spPr>
          <a:xfrm>
            <a:off x="7989632" y="5811877"/>
            <a:ext cx="41976" cy="41976"/>
          </a:xfrm>
          <a:prstGeom prst="rect">
            <a:avLst/>
          </a:prstGeom>
          <a:solidFill>
            <a:srgbClr val="000000"/>
          </a:solidFill>
          <a:ln w="12700">
            <a:solidFill>
              <a:srgbClr val="000000">
                <a:alpha val="0"/>
              </a:srgbClr>
            </a:solidFill>
            <a:prstDash val="solid"/>
          </a:ln>
        </p:spPr>
      </p:sp>
      <p:sp>
        <p:nvSpPr>
          <p:cNvPr id="203" name="Shape 201"/>
          <p:cNvSpPr/>
          <p:nvPr/>
        </p:nvSpPr>
        <p:spPr>
          <a:xfrm>
            <a:off x="6868627" y="5853396"/>
            <a:ext cx="41976" cy="41976"/>
          </a:xfrm>
          <a:prstGeom prst="rect">
            <a:avLst/>
          </a:prstGeom>
          <a:solidFill>
            <a:srgbClr val="000000"/>
          </a:solidFill>
          <a:ln w="12700">
            <a:solidFill>
              <a:srgbClr val="000000">
                <a:alpha val="0"/>
              </a:srgbClr>
            </a:solidFill>
            <a:prstDash val="solid"/>
          </a:ln>
        </p:spPr>
      </p:sp>
      <p:sp>
        <p:nvSpPr>
          <p:cNvPr id="204" name="Shape 202"/>
          <p:cNvSpPr/>
          <p:nvPr/>
        </p:nvSpPr>
        <p:spPr>
          <a:xfrm>
            <a:off x="6951664" y="5853396"/>
            <a:ext cx="125013" cy="41976"/>
          </a:xfrm>
          <a:prstGeom prst="rect">
            <a:avLst/>
          </a:prstGeom>
          <a:solidFill>
            <a:srgbClr val="000000"/>
          </a:solidFill>
          <a:ln w="12700">
            <a:solidFill>
              <a:srgbClr val="000000">
                <a:alpha val="0"/>
              </a:srgbClr>
            </a:solidFill>
            <a:prstDash val="solid"/>
          </a:ln>
        </p:spPr>
      </p:sp>
      <p:sp>
        <p:nvSpPr>
          <p:cNvPr id="205" name="Shape 203"/>
          <p:cNvSpPr/>
          <p:nvPr/>
        </p:nvSpPr>
        <p:spPr>
          <a:xfrm>
            <a:off x="7117739" y="5853396"/>
            <a:ext cx="41976" cy="41976"/>
          </a:xfrm>
          <a:prstGeom prst="rect">
            <a:avLst/>
          </a:prstGeom>
          <a:solidFill>
            <a:srgbClr val="000000"/>
          </a:solidFill>
          <a:ln w="12700">
            <a:solidFill>
              <a:srgbClr val="000000">
                <a:alpha val="0"/>
              </a:srgbClr>
            </a:solidFill>
            <a:prstDash val="solid"/>
          </a:ln>
        </p:spPr>
      </p:sp>
      <p:sp>
        <p:nvSpPr>
          <p:cNvPr id="206" name="Shape 204"/>
          <p:cNvSpPr/>
          <p:nvPr/>
        </p:nvSpPr>
        <p:spPr>
          <a:xfrm>
            <a:off x="7242295" y="5853396"/>
            <a:ext cx="41976" cy="41976"/>
          </a:xfrm>
          <a:prstGeom prst="rect">
            <a:avLst/>
          </a:prstGeom>
          <a:solidFill>
            <a:srgbClr val="000000"/>
          </a:solidFill>
          <a:ln w="12700">
            <a:solidFill>
              <a:srgbClr val="000000">
                <a:alpha val="0"/>
              </a:srgbClr>
            </a:solidFill>
            <a:prstDash val="solid"/>
          </a:ln>
        </p:spPr>
      </p:sp>
      <p:sp>
        <p:nvSpPr>
          <p:cNvPr id="207" name="Shape 205"/>
          <p:cNvSpPr/>
          <p:nvPr/>
        </p:nvSpPr>
        <p:spPr>
          <a:xfrm>
            <a:off x="7325333" y="5853396"/>
            <a:ext cx="125013" cy="41976"/>
          </a:xfrm>
          <a:prstGeom prst="rect">
            <a:avLst/>
          </a:prstGeom>
          <a:solidFill>
            <a:srgbClr val="000000"/>
          </a:solidFill>
          <a:ln w="12700">
            <a:solidFill>
              <a:srgbClr val="000000">
                <a:alpha val="0"/>
              </a:srgbClr>
            </a:solidFill>
            <a:prstDash val="solid"/>
          </a:ln>
        </p:spPr>
      </p:sp>
      <p:sp>
        <p:nvSpPr>
          <p:cNvPr id="208" name="Shape 206"/>
          <p:cNvSpPr/>
          <p:nvPr/>
        </p:nvSpPr>
        <p:spPr>
          <a:xfrm>
            <a:off x="7491407" y="5853396"/>
            <a:ext cx="83495" cy="41976"/>
          </a:xfrm>
          <a:prstGeom prst="rect">
            <a:avLst/>
          </a:prstGeom>
          <a:solidFill>
            <a:srgbClr val="000000"/>
          </a:solidFill>
          <a:ln w="12700">
            <a:solidFill>
              <a:srgbClr val="000000">
                <a:alpha val="0"/>
              </a:srgbClr>
            </a:solidFill>
            <a:prstDash val="solid"/>
          </a:ln>
        </p:spPr>
      </p:sp>
      <p:sp>
        <p:nvSpPr>
          <p:cNvPr id="209" name="Shape 207"/>
          <p:cNvSpPr/>
          <p:nvPr/>
        </p:nvSpPr>
        <p:spPr>
          <a:xfrm>
            <a:off x="7657482" y="5853396"/>
            <a:ext cx="291088" cy="41976"/>
          </a:xfrm>
          <a:prstGeom prst="rect">
            <a:avLst/>
          </a:prstGeom>
          <a:solidFill>
            <a:srgbClr val="000000"/>
          </a:solidFill>
          <a:ln w="12700">
            <a:solidFill>
              <a:srgbClr val="000000">
                <a:alpha val="0"/>
              </a:srgbClr>
            </a:solidFill>
            <a:prstDash val="solid"/>
          </a:ln>
        </p:spPr>
      </p:sp>
      <p:sp>
        <p:nvSpPr>
          <p:cNvPr id="210" name="Shape 208"/>
          <p:cNvSpPr/>
          <p:nvPr/>
        </p:nvSpPr>
        <p:spPr>
          <a:xfrm>
            <a:off x="7989632" y="5853396"/>
            <a:ext cx="41976" cy="41976"/>
          </a:xfrm>
          <a:prstGeom prst="rect">
            <a:avLst/>
          </a:prstGeom>
          <a:solidFill>
            <a:srgbClr val="000000"/>
          </a:solidFill>
          <a:ln w="12700">
            <a:solidFill>
              <a:srgbClr val="000000">
                <a:alpha val="0"/>
              </a:srgbClr>
            </a:solidFill>
            <a:prstDash val="solid"/>
          </a:ln>
        </p:spPr>
      </p:sp>
      <p:sp>
        <p:nvSpPr>
          <p:cNvPr id="211" name="Shape 209"/>
          <p:cNvSpPr/>
          <p:nvPr/>
        </p:nvSpPr>
        <p:spPr>
          <a:xfrm>
            <a:off x="6868627" y="5894914"/>
            <a:ext cx="41976" cy="41976"/>
          </a:xfrm>
          <a:prstGeom prst="rect">
            <a:avLst/>
          </a:prstGeom>
          <a:solidFill>
            <a:srgbClr val="000000"/>
          </a:solidFill>
          <a:ln w="12700">
            <a:solidFill>
              <a:srgbClr val="000000">
                <a:alpha val="0"/>
              </a:srgbClr>
            </a:solidFill>
            <a:prstDash val="solid"/>
          </a:ln>
        </p:spPr>
      </p:sp>
      <p:sp>
        <p:nvSpPr>
          <p:cNvPr id="212" name="Shape 210"/>
          <p:cNvSpPr/>
          <p:nvPr/>
        </p:nvSpPr>
        <p:spPr>
          <a:xfrm>
            <a:off x="6951664" y="5894914"/>
            <a:ext cx="125013" cy="41976"/>
          </a:xfrm>
          <a:prstGeom prst="rect">
            <a:avLst/>
          </a:prstGeom>
          <a:solidFill>
            <a:srgbClr val="000000"/>
          </a:solidFill>
          <a:ln w="12700">
            <a:solidFill>
              <a:srgbClr val="000000">
                <a:alpha val="0"/>
              </a:srgbClr>
            </a:solidFill>
            <a:prstDash val="solid"/>
          </a:ln>
        </p:spPr>
      </p:sp>
      <p:sp>
        <p:nvSpPr>
          <p:cNvPr id="213" name="Shape 211"/>
          <p:cNvSpPr/>
          <p:nvPr/>
        </p:nvSpPr>
        <p:spPr>
          <a:xfrm>
            <a:off x="7117739" y="5894914"/>
            <a:ext cx="41976" cy="41976"/>
          </a:xfrm>
          <a:prstGeom prst="rect">
            <a:avLst/>
          </a:prstGeom>
          <a:solidFill>
            <a:srgbClr val="000000"/>
          </a:solidFill>
          <a:ln w="12700">
            <a:solidFill>
              <a:srgbClr val="000000">
                <a:alpha val="0"/>
              </a:srgbClr>
            </a:solidFill>
            <a:prstDash val="solid"/>
          </a:ln>
        </p:spPr>
      </p:sp>
      <p:sp>
        <p:nvSpPr>
          <p:cNvPr id="214" name="Shape 212"/>
          <p:cNvSpPr/>
          <p:nvPr/>
        </p:nvSpPr>
        <p:spPr>
          <a:xfrm>
            <a:off x="7283814" y="5894914"/>
            <a:ext cx="83495" cy="41976"/>
          </a:xfrm>
          <a:prstGeom prst="rect">
            <a:avLst/>
          </a:prstGeom>
          <a:solidFill>
            <a:srgbClr val="000000"/>
          </a:solidFill>
          <a:ln w="12700">
            <a:solidFill>
              <a:srgbClr val="000000">
                <a:alpha val="0"/>
              </a:srgbClr>
            </a:solidFill>
            <a:prstDash val="solid"/>
          </a:ln>
        </p:spPr>
      </p:sp>
      <p:sp>
        <p:nvSpPr>
          <p:cNvPr id="215" name="Shape 213"/>
          <p:cNvSpPr/>
          <p:nvPr/>
        </p:nvSpPr>
        <p:spPr>
          <a:xfrm>
            <a:off x="7408370" y="5894914"/>
            <a:ext cx="41976" cy="41976"/>
          </a:xfrm>
          <a:prstGeom prst="rect">
            <a:avLst/>
          </a:prstGeom>
          <a:solidFill>
            <a:srgbClr val="000000"/>
          </a:solidFill>
          <a:ln w="12700">
            <a:solidFill>
              <a:srgbClr val="000000">
                <a:alpha val="0"/>
              </a:srgbClr>
            </a:solidFill>
            <a:prstDash val="solid"/>
          </a:ln>
        </p:spPr>
      </p:sp>
      <p:sp>
        <p:nvSpPr>
          <p:cNvPr id="216" name="Shape 214"/>
          <p:cNvSpPr/>
          <p:nvPr/>
        </p:nvSpPr>
        <p:spPr>
          <a:xfrm>
            <a:off x="7491407" y="5894914"/>
            <a:ext cx="208051" cy="41976"/>
          </a:xfrm>
          <a:prstGeom prst="rect">
            <a:avLst/>
          </a:prstGeom>
          <a:solidFill>
            <a:srgbClr val="000000"/>
          </a:solidFill>
          <a:ln w="12700">
            <a:solidFill>
              <a:srgbClr val="000000">
                <a:alpha val="0"/>
              </a:srgbClr>
            </a:solidFill>
            <a:prstDash val="solid"/>
          </a:ln>
        </p:spPr>
      </p:sp>
      <p:sp>
        <p:nvSpPr>
          <p:cNvPr id="217" name="Shape 215"/>
          <p:cNvSpPr/>
          <p:nvPr/>
        </p:nvSpPr>
        <p:spPr>
          <a:xfrm>
            <a:off x="7740520" y="5894914"/>
            <a:ext cx="41976" cy="41976"/>
          </a:xfrm>
          <a:prstGeom prst="rect">
            <a:avLst/>
          </a:prstGeom>
          <a:solidFill>
            <a:srgbClr val="000000"/>
          </a:solidFill>
          <a:ln w="12700">
            <a:solidFill>
              <a:srgbClr val="000000">
                <a:alpha val="0"/>
              </a:srgbClr>
            </a:solidFill>
            <a:prstDash val="solid"/>
          </a:ln>
        </p:spPr>
      </p:sp>
      <p:sp>
        <p:nvSpPr>
          <p:cNvPr id="218" name="Shape 216"/>
          <p:cNvSpPr/>
          <p:nvPr/>
        </p:nvSpPr>
        <p:spPr>
          <a:xfrm>
            <a:off x="7823557" y="5894914"/>
            <a:ext cx="41976" cy="41976"/>
          </a:xfrm>
          <a:prstGeom prst="rect">
            <a:avLst/>
          </a:prstGeom>
          <a:solidFill>
            <a:srgbClr val="000000"/>
          </a:solidFill>
          <a:ln w="12700">
            <a:solidFill>
              <a:srgbClr val="000000">
                <a:alpha val="0"/>
              </a:srgbClr>
            </a:solidFill>
            <a:prstDash val="solid"/>
          </a:ln>
        </p:spPr>
      </p:sp>
      <p:sp>
        <p:nvSpPr>
          <p:cNvPr id="219" name="Shape 217"/>
          <p:cNvSpPr/>
          <p:nvPr/>
        </p:nvSpPr>
        <p:spPr>
          <a:xfrm>
            <a:off x="7906594" y="5894914"/>
            <a:ext cx="83495" cy="41976"/>
          </a:xfrm>
          <a:prstGeom prst="rect">
            <a:avLst/>
          </a:prstGeom>
          <a:solidFill>
            <a:srgbClr val="000000"/>
          </a:solidFill>
          <a:ln w="12700">
            <a:solidFill>
              <a:srgbClr val="000000">
                <a:alpha val="0"/>
              </a:srgbClr>
            </a:solidFill>
            <a:prstDash val="solid"/>
          </a:ln>
        </p:spPr>
      </p:sp>
      <p:sp>
        <p:nvSpPr>
          <p:cNvPr id="220" name="Shape 218"/>
          <p:cNvSpPr/>
          <p:nvPr/>
        </p:nvSpPr>
        <p:spPr>
          <a:xfrm>
            <a:off x="8031150" y="5894914"/>
            <a:ext cx="41976" cy="41976"/>
          </a:xfrm>
          <a:prstGeom prst="rect">
            <a:avLst/>
          </a:prstGeom>
          <a:solidFill>
            <a:srgbClr val="000000"/>
          </a:solidFill>
          <a:ln w="12700">
            <a:solidFill>
              <a:srgbClr val="000000">
                <a:alpha val="0"/>
              </a:srgbClr>
            </a:solidFill>
            <a:prstDash val="solid"/>
          </a:ln>
        </p:spPr>
      </p:sp>
      <p:sp>
        <p:nvSpPr>
          <p:cNvPr id="221" name="Shape 219"/>
          <p:cNvSpPr/>
          <p:nvPr/>
        </p:nvSpPr>
        <p:spPr>
          <a:xfrm>
            <a:off x="6868627" y="5936433"/>
            <a:ext cx="41976" cy="41976"/>
          </a:xfrm>
          <a:prstGeom prst="rect">
            <a:avLst/>
          </a:prstGeom>
          <a:solidFill>
            <a:srgbClr val="000000"/>
          </a:solidFill>
          <a:ln w="12700">
            <a:solidFill>
              <a:srgbClr val="000000">
                <a:alpha val="0"/>
              </a:srgbClr>
            </a:solidFill>
            <a:prstDash val="solid"/>
          </a:ln>
        </p:spPr>
      </p:sp>
      <p:sp>
        <p:nvSpPr>
          <p:cNvPr id="222" name="Shape 220"/>
          <p:cNvSpPr/>
          <p:nvPr/>
        </p:nvSpPr>
        <p:spPr>
          <a:xfrm>
            <a:off x="6951664" y="5936433"/>
            <a:ext cx="125013" cy="41976"/>
          </a:xfrm>
          <a:prstGeom prst="rect">
            <a:avLst/>
          </a:prstGeom>
          <a:solidFill>
            <a:srgbClr val="000000"/>
          </a:solidFill>
          <a:ln w="12700">
            <a:solidFill>
              <a:srgbClr val="000000">
                <a:alpha val="0"/>
              </a:srgbClr>
            </a:solidFill>
            <a:prstDash val="solid"/>
          </a:ln>
        </p:spPr>
      </p:sp>
      <p:sp>
        <p:nvSpPr>
          <p:cNvPr id="223" name="Shape 221"/>
          <p:cNvSpPr/>
          <p:nvPr/>
        </p:nvSpPr>
        <p:spPr>
          <a:xfrm>
            <a:off x="7117739" y="5936433"/>
            <a:ext cx="41976" cy="41976"/>
          </a:xfrm>
          <a:prstGeom prst="rect">
            <a:avLst/>
          </a:prstGeom>
          <a:solidFill>
            <a:srgbClr val="000000"/>
          </a:solidFill>
          <a:ln w="12700">
            <a:solidFill>
              <a:srgbClr val="000000">
                <a:alpha val="0"/>
              </a:srgbClr>
            </a:solidFill>
            <a:prstDash val="solid"/>
          </a:ln>
        </p:spPr>
      </p:sp>
      <p:sp>
        <p:nvSpPr>
          <p:cNvPr id="224" name="Shape 222"/>
          <p:cNvSpPr/>
          <p:nvPr/>
        </p:nvSpPr>
        <p:spPr>
          <a:xfrm>
            <a:off x="7242295" y="5936433"/>
            <a:ext cx="41976" cy="41976"/>
          </a:xfrm>
          <a:prstGeom prst="rect">
            <a:avLst/>
          </a:prstGeom>
          <a:solidFill>
            <a:srgbClr val="000000"/>
          </a:solidFill>
          <a:ln w="12700">
            <a:solidFill>
              <a:srgbClr val="000000">
                <a:alpha val="0"/>
              </a:srgbClr>
            </a:solidFill>
            <a:prstDash val="solid"/>
          </a:ln>
        </p:spPr>
      </p:sp>
      <p:sp>
        <p:nvSpPr>
          <p:cNvPr id="225" name="Shape 223"/>
          <p:cNvSpPr/>
          <p:nvPr/>
        </p:nvSpPr>
        <p:spPr>
          <a:xfrm>
            <a:off x="7325333" y="5936433"/>
            <a:ext cx="41976" cy="41976"/>
          </a:xfrm>
          <a:prstGeom prst="rect">
            <a:avLst/>
          </a:prstGeom>
          <a:solidFill>
            <a:srgbClr val="000000"/>
          </a:solidFill>
          <a:ln w="12700">
            <a:solidFill>
              <a:srgbClr val="000000">
                <a:alpha val="0"/>
              </a:srgbClr>
            </a:solidFill>
            <a:prstDash val="solid"/>
          </a:ln>
        </p:spPr>
      </p:sp>
      <p:sp>
        <p:nvSpPr>
          <p:cNvPr id="226" name="Shape 224"/>
          <p:cNvSpPr/>
          <p:nvPr/>
        </p:nvSpPr>
        <p:spPr>
          <a:xfrm>
            <a:off x="7491407" y="5936433"/>
            <a:ext cx="125013" cy="41976"/>
          </a:xfrm>
          <a:prstGeom prst="rect">
            <a:avLst/>
          </a:prstGeom>
          <a:solidFill>
            <a:srgbClr val="000000"/>
          </a:solidFill>
          <a:ln w="12700">
            <a:solidFill>
              <a:srgbClr val="000000">
                <a:alpha val="0"/>
              </a:srgbClr>
            </a:solidFill>
            <a:prstDash val="solid"/>
          </a:ln>
        </p:spPr>
      </p:sp>
      <p:sp>
        <p:nvSpPr>
          <p:cNvPr id="227" name="Shape 225"/>
          <p:cNvSpPr/>
          <p:nvPr/>
        </p:nvSpPr>
        <p:spPr>
          <a:xfrm>
            <a:off x="7657482" y="5936433"/>
            <a:ext cx="41976" cy="41976"/>
          </a:xfrm>
          <a:prstGeom prst="rect">
            <a:avLst/>
          </a:prstGeom>
          <a:solidFill>
            <a:srgbClr val="000000"/>
          </a:solidFill>
          <a:ln w="12700">
            <a:solidFill>
              <a:srgbClr val="000000">
                <a:alpha val="0"/>
              </a:srgbClr>
            </a:solidFill>
            <a:prstDash val="solid"/>
          </a:ln>
        </p:spPr>
      </p:sp>
      <p:sp>
        <p:nvSpPr>
          <p:cNvPr id="228" name="Shape 226"/>
          <p:cNvSpPr/>
          <p:nvPr/>
        </p:nvSpPr>
        <p:spPr>
          <a:xfrm>
            <a:off x="7740520" y="5936433"/>
            <a:ext cx="291088" cy="41976"/>
          </a:xfrm>
          <a:prstGeom prst="rect">
            <a:avLst/>
          </a:prstGeom>
          <a:solidFill>
            <a:srgbClr val="000000"/>
          </a:solidFill>
          <a:ln w="12700">
            <a:solidFill>
              <a:srgbClr val="000000">
                <a:alpha val="0"/>
              </a:srgbClr>
            </a:solidFill>
            <a:prstDash val="solid"/>
          </a:ln>
        </p:spPr>
      </p:sp>
      <p:sp>
        <p:nvSpPr>
          <p:cNvPr id="229" name="Shape 227"/>
          <p:cNvSpPr/>
          <p:nvPr/>
        </p:nvSpPr>
        <p:spPr>
          <a:xfrm>
            <a:off x="6868627" y="5977952"/>
            <a:ext cx="41976" cy="41976"/>
          </a:xfrm>
          <a:prstGeom prst="rect">
            <a:avLst/>
          </a:prstGeom>
          <a:solidFill>
            <a:srgbClr val="000000"/>
          </a:solidFill>
          <a:ln w="12700">
            <a:solidFill>
              <a:srgbClr val="000000">
                <a:alpha val="0"/>
              </a:srgbClr>
            </a:solidFill>
            <a:prstDash val="solid"/>
          </a:ln>
        </p:spPr>
      </p:sp>
      <p:sp>
        <p:nvSpPr>
          <p:cNvPr id="230" name="Shape 228"/>
          <p:cNvSpPr/>
          <p:nvPr/>
        </p:nvSpPr>
        <p:spPr>
          <a:xfrm>
            <a:off x="7117739" y="5977952"/>
            <a:ext cx="41976" cy="41976"/>
          </a:xfrm>
          <a:prstGeom prst="rect">
            <a:avLst/>
          </a:prstGeom>
          <a:solidFill>
            <a:srgbClr val="000000"/>
          </a:solidFill>
          <a:ln w="12700">
            <a:solidFill>
              <a:srgbClr val="000000">
                <a:alpha val="0"/>
              </a:srgbClr>
            </a:solidFill>
            <a:prstDash val="solid"/>
          </a:ln>
        </p:spPr>
      </p:sp>
      <p:sp>
        <p:nvSpPr>
          <p:cNvPr id="231" name="Shape 229"/>
          <p:cNvSpPr/>
          <p:nvPr/>
        </p:nvSpPr>
        <p:spPr>
          <a:xfrm>
            <a:off x="7242295" y="5977952"/>
            <a:ext cx="41976" cy="41976"/>
          </a:xfrm>
          <a:prstGeom prst="rect">
            <a:avLst/>
          </a:prstGeom>
          <a:solidFill>
            <a:srgbClr val="000000"/>
          </a:solidFill>
          <a:ln w="12700">
            <a:solidFill>
              <a:srgbClr val="000000">
                <a:alpha val="0"/>
              </a:srgbClr>
            </a:solidFill>
            <a:prstDash val="solid"/>
          </a:ln>
        </p:spPr>
      </p:sp>
      <p:sp>
        <p:nvSpPr>
          <p:cNvPr id="232" name="Shape 230"/>
          <p:cNvSpPr/>
          <p:nvPr/>
        </p:nvSpPr>
        <p:spPr>
          <a:xfrm>
            <a:off x="7325333" y="5977952"/>
            <a:ext cx="41976" cy="41976"/>
          </a:xfrm>
          <a:prstGeom prst="rect">
            <a:avLst/>
          </a:prstGeom>
          <a:solidFill>
            <a:srgbClr val="000000"/>
          </a:solidFill>
          <a:ln w="12700">
            <a:solidFill>
              <a:srgbClr val="000000">
                <a:alpha val="0"/>
              </a:srgbClr>
            </a:solidFill>
            <a:prstDash val="solid"/>
          </a:ln>
        </p:spPr>
      </p:sp>
      <p:sp>
        <p:nvSpPr>
          <p:cNvPr id="233" name="Shape 231"/>
          <p:cNvSpPr/>
          <p:nvPr/>
        </p:nvSpPr>
        <p:spPr>
          <a:xfrm>
            <a:off x="7449889" y="5977952"/>
            <a:ext cx="41976" cy="41976"/>
          </a:xfrm>
          <a:prstGeom prst="rect">
            <a:avLst/>
          </a:prstGeom>
          <a:solidFill>
            <a:srgbClr val="000000"/>
          </a:solidFill>
          <a:ln w="12700">
            <a:solidFill>
              <a:srgbClr val="000000">
                <a:alpha val="0"/>
              </a:srgbClr>
            </a:solidFill>
            <a:prstDash val="solid"/>
          </a:ln>
        </p:spPr>
      </p:sp>
      <p:sp>
        <p:nvSpPr>
          <p:cNvPr id="234" name="Shape 232"/>
          <p:cNvSpPr/>
          <p:nvPr/>
        </p:nvSpPr>
        <p:spPr>
          <a:xfrm>
            <a:off x="7532926" y="5977952"/>
            <a:ext cx="41976" cy="41976"/>
          </a:xfrm>
          <a:prstGeom prst="rect">
            <a:avLst/>
          </a:prstGeom>
          <a:solidFill>
            <a:srgbClr val="000000"/>
          </a:solidFill>
          <a:ln w="12700">
            <a:solidFill>
              <a:srgbClr val="000000">
                <a:alpha val="0"/>
              </a:srgbClr>
            </a:solidFill>
            <a:prstDash val="solid"/>
          </a:ln>
        </p:spPr>
      </p:sp>
      <p:sp>
        <p:nvSpPr>
          <p:cNvPr id="235" name="Shape 233"/>
          <p:cNvSpPr/>
          <p:nvPr/>
        </p:nvSpPr>
        <p:spPr>
          <a:xfrm>
            <a:off x="7615963" y="5977952"/>
            <a:ext cx="41976" cy="41976"/>
          </a:xfrm>
          <a:prstGeom prst="rect">
            <a:avLst/>
          </a:prstGeom>
          <a:solidFill>
            <a:srgbClr val="000000"/>
          </a:solidFill>
          <a:ln w="12700">
            <a:solidFill>
              <a:srgbClr val="000000">
                <a:alpha val="0"/>
              </a:srgbClr>
            </a:solidFill>
            <a:prstDash val="solid"/>
          </a:ln>
        </p:spPr>
      </p:sp>
      <p:sp>
        <p:nvSpPr>
          <p:cNvPr id="236" name="Shape 234"/>
          <p:cNvSpPr/>
          <p:nvPr/>
        </p:nvSpPr>
        <p:spPr>
          <a:xfrm>
            <a:off x="7823557" y="5977952"/>
            <a:ext cx="41976" cy="41976"/>
          </a:xfrm>
          <a:prstGeom prst="rect">
            <a:avLst/>
          </a:prstGeom>
          <a:solidFill>
            <a:srgbClr val="000000"/>
          </a:solidFill>
          <a:ln w="12700">
            <a:solidFill>
              <a:srgbClr val="000000">
                <a:alpha val="0"/>
              </a:srgbClr>
            </a:solidFill>
            <a:prstDash val="solid"/>
          </a:ln>
        </p:spPr>
      </p:sp>
      <p:sp>
        <p:nvSpPr>
          <p:cNvPr id="237" name="Shape 235"/>
          <p:cNvSpPr/>
          <p:nvPr/>
        </p:nvSpPr>
        <p:spPr>
          <a:xfrm>
            <a:off x="7906594" y="5977952"/>
            <a:ext cx="83495" cy="41976"/>
          </a:xfrm>
          <a:prstGeom prst="rect">
            <a:avLst/>
          </a:prstGeom>
          <a:solidFill>
            <a:srgbClr val="000000"/>
          </a:solidFill>
          <a:ln w="12700">
            <a:solidFill>
              <a:srgbClr val="000000">
                <a:alpha val="0"/>
              </a:srgbClr>
            </a:solidFill>
            <a:prstDash val="solid"/>
          </a:ln>
        </p:spPr>
      </p:sp>
      <p:sp>
        <p:nvSpPr>
          <p:cNvPr id="238" name="Shape 236"/>
          <p:cNvSpPr/>
          <p:nvPr/>
        </p:nvSpPr>
        <p:spPr>
          <a:xfrm>
            <a:off x="8031150" y="5977952"/>
            <a:ext cx="41976" cy="41976"/>
          </a:xfrm>
          <a:prstGeom prst="rect">
            <a:avLst/>
          </a:prstGeom>
          <a:solidFill>
            <a:srgbClr val="000000"/>
          </a:solidFill>
          <a:ln w="12700">
            <a:solidFill>
              <a:srgbClr val="000000">
                <a:alpha val="0"/>
              </a:srgbClr>
            </a:solidFill>
            <a:prstDash val="solid"/>
          </a:ln>
        </p:spPr>
      </p:sp>
      <p:sp>
        <p:nvSpPr>
          <p:cNvPr id="239" name="Shape 237"/>
          <p:cNvSpPr/>
          <p:nvPr/>
        </p:nvSpPr>
        <p:spPr>
          <a:xfrm>
            <a:off x="6868627" y="6019470"/>
            <a:ext cx="291088" cy="41976"/>
          </a:xfrm>
          <a:prstGeom prst="rect">
            <a:avLst/>
          </a:prstGeom>
          <a:solidFill>
            <a:srgbClr val="000000"/>
          </a:solidFill>
          <a:ln w="12700">
            <a:solidFill>
              <a:srgbClr val="000000">
                <a:alpha val="0"/>
              </a:srgbClr>
            </a:solidFill>
            <a:prstDash val="solid"/>
          </a:ln>
        </p:spPr>
      </p:sp>
      <p:sp>
        <p:nvSpPr>
          <p:cNvPr id="240" name="Shape 238"/>
          <p:cNvSpPr/>
          <p:nvPr/>
        </p:nvSpPr>
        <p:spPr>
          <a:xfrm>
            <a:off x="7200776" y="6019470"/>
            <a:ext cx="41976" cy="41976"/>
          </a:xfrm>
          <a:prstGeom prst="rect">
            <a:avLst/>
          </a:prstGeom>
          <a:solidFill>
            <a:srgbClr val="000000"/>
          </a:solidFill>
          <a:ln w="12700">
            <a:solidFill>
              <a:srgbClr val="000000">
                <a:alpha val="0"/>
              </a:srgbClr>
            </a:solidFill>
            <a:prstDash val="solid"/>
          </a:ln>
        </p:spPr>
      </p:sp>
      <p:sp>
        <p:nvSpPr>
          <p:cNvPr id="241" name="Shape 239"/>
          <p:cNvSpPr/>
          <p:nvPr/>
        </p:nvSpPr>
        <p:spPr>
          <a:xfrm>
            <a:off x="7449889" y="6019470"/>
            <a:ext cx="41976" cy="41976"/>
          </a:xfrm>
          <a:prstGeom prst="rect">
            <a:avLst/>
          </a:prstGeom>
          <a:solidFill>
            <a:srgbClr val="000000"/>
          </a:solidFill>
          <a:ln w="12700">
            <a:solidFill>
              <a:srgbClr val="000000">
                <a:alpha val="0"/>
              </a:srgbClr>
            </a:solidFill>
            <a:prstDash val="solid"/>
          </a:ln>
        </p:spPr>
      </p:sp>
      <p:sp>
        <p:nvSpPr>
          <p:cNvPr id="242" name="Shape 240"/>
          <p:cNvSpPr/>
          <p:nvPr/>
        </p:nvSpPr>
        <p:spPr>
          <a:xfrm>
            <a:off x="7574445" y="6019470"/>
            <a:ext cx="41976" cy="41976"/>
          </a:xfrm>
          <a:prstGeom prst="rect">
            <a:avLst/>
          </a:prstGeom>
          <a:solidFill>
            <a:srgbClr val="000000"/>
          </a:solidFill>
          <a:ln w="12700">
            <a:solidFill>
              <a:srgbClr val="000000">
                <a:alpha val="0"/>
              </a:srgbClr>
            </a:solidFill>
            <a:prstDash val="solid"/>
          </a:ln>
        </p:spPr>
      </p:sp>
      <p:sp>
        <p:nvSpPr>
          <p:cNvPr id="243" name="Shape 241"/>
          <p:cNvSpPr/>
          <p:nvPr/>
        </p:nvSpPr>
        <p:spPr>
          <a:xfrm>
            <a:off x="7657482" y="6019470"/>
            <a:ext cx="41976" cy="41976"/>
          </a:xfrm>
          <a:prstGeom prst="rect">
            <a:avLst/>
          </a:prstGeom>
          <a:solidFill>
            <a:srgbClr val="000000"/>
          </a:solidFill>
          <a:ln w="12700">
            <a:solidFill>
              <a:srgbClr val="000000">
                <a:alpha val="0"/>
              </a:srgbClr>
            </a:solidFill>
            <a:prstDash val="solid"/>
          </a:ln>
        </p:spPr>
      </p:sp>
      <p:sp>
        <p:nvSpPr>
          <p:cNvPr id="244" name="Shape 242"/>
          <p:cNvSpPr/>
          <p:nvPr/>
        </p:nvSpPr>
        <p:spPr>
          <a:xfrm>
            <a:off x="7782038" y="6019470"/>
            <a:ext cx="208051" cy="41976"/>
          </a:xfrm>
          <a:prstGeom prst="rect">
            <a:avLst/>
          </a:prstGeom>
          <a:solidFill>
            <a:srgbClr val="000000"/>
          </a:solidFill>
          <a:ln w="12700">
            <a:solidFill>
              <a:srgbClr val="000000">
                <a:alpha val="0"/>
              </a:srgbClr>
            </a:solidFill>
            <a:prstDash val="solid"/>
          </a:ln>
        </p:spPr>
      </p:sp>
      <p:sp>
        <p:nvSpPr>
          <p:cNvPr id="245" name="Shape 243">
            <a:hlinkClick r:id="rId3" tooltip=""/>
          </p:cNvPr>
          <p:cNvSpPr/>
          <p:nvPr/>
        </p:nvSpPr>
        <p:spPr>
          <a:xfrm>
            <a:off x="6702552" y="4690872"/>
            <a:ext cx="1536192" cy="1536192"/>
          </a:xfrm>
          <a:prstGeom prst="rect">
            <a:avLst/>
          </a:prstGeom>
          <a:solidFill>
            <a:srgbClr val="FFFFFF">
              <a:alpha val="0"/>
            </a:srgbClr>
          </a:solidFill>
          <a:ln w="12700">
            <a:solidFill>
              <a:srgbClr val="FFFFFF">
                <a:alpha val="0"/>
              </a:srgbClr>
            </a:solidFill>
            <a:prstDash val="solid"/>
          </a:ln>
        </p:spPr>
      </p:sp>
      <p:sp>
        <p:nvSpPr>
          <p:cNvPr id="246" name="Shape 244"/>
          <p:cNvSpPr/>
          <p:nvPr/>
        </p:nvSpPr>
        <p:spPr>
          <a:xfrm>
            <a:off x="9025128" y="2715768"/>
            <a:ext cx="4956048" cy="4361688"/>
          </a:xfrm>
          <a:prstGeom prst="rect">
            <a:avLst>
              <a:gd name="adj" fmla="val 2516"/>
            </a:avLst>
          </a:prstGeom>
          <a:solidFill>
            <a:srgbClr val="EDF3F7"/>
          </a:solidFill>
          <a:ln w="12700">
            <a:solidFill>
              <a:srgbClr val="EDF3F7"/>
            </a:solidFill>
            <a:prstDash val="solid"/>
          </a:ln>
        </p:spPr>
      </p:sp>
      <p:sp>
        <p:nvSpPr>
          <p:cNvPr id="247" name="Text 245"/>
          <p:cNvSpPr/>
          <p:nvPr/>
        </p:nvSpPr>
        <p:spPr>
          <a:xfrm>
            <a:off x="9308592" y="2962656"/>
            <a:ext cx="4389120" cy="219456"/>
          </a:xfrm>
          <a:prstGeom prst="rect">
            <a:avLst/>
          </a:prstGeom>
          <a:noFill/>
          <a:ln/>
        </p:spPr>
        <p:txBody>
          <a:bodyPr wrap="square" lIns="0" tIns="0" rIns="0" bIns="0" rtlCol="0" anchor="ctr"/>
          <a:lstStyle/>
          <a:p>
            <a:pPr indent="0" marL="0">
              <a:buNone/>
            </a:pPr>
            <a:r>
              <a:rPr lang="en-US" sz="1200" b="1" dirty="0">
                <a:solidFill>
                  <a:srgbClr val="087E87"/>
                </a:solidFill>
                <a:latin typeface="Arial" pitchFamily="34" charset="0"/>
                <a:ea typeface="Arial" pitchFamily="34" charset="-122"/>
                <a:cs typeface="Arial" pitchFamily="34" charset="-120"/>
              </a:rPr>
              <a:t>Supporting</a:t>
            </a:r>
            <a:endParaRPr lang="en-US" sz="1200" dirty="0"/>
          </a:p>
        </p:txBody>
      </p:sp>
      <p:sp>
        <p:nvSpPr>
          <p:cNvPr id="248" name="Text 246"/>
          <p:cNvSpPr/>
          <p:nvPr/>
        </p:nvSpPr>
        <p:spPr>
          <a:xfrm>
            <a:off x="9308592" y="3392424"/>
            <a:ext cx="4389120" cy="429768"/>
          </a:xfrm>
          <a:prstGeom prst="rect">
            <a:avLst/>
          </a:prstGeom>
          <a:noFill/>
          <a:ln/>
        </p:spPr>
        <p:txBody>
          <a:bodyPr wrap="square" lIns="0" tIns="0" rIns="0" bIns="0" rtlCol="0" anchor="ctr"/>
          <a:lstStyle/>
          <a:p>
            <a:pPr indent="0" marL="0">
              <a:buNone/>
            </a:pPr>
            <a:r>
              <a:rPr lang="en-US" sz="2500" b="1" dirty="0">
                <a:solidFill>
                  <a:srgbClr val="102B46"/>
                </a:solidFill>
                <a:latin typeface="Arial" pitchFamily="34" charset="0"/>
                <a:ea typeface="Arial" pitchFamily="34" charset="-122"/>
                <a:cs typeface="Arial" pitchFamily="34" charset="-120"/>
              </a:rPr>
              <a:t>Chris Page</a:t>
            </a:r>
            <a:endParaRPr lang="en-US" sz="2500" dirty="0"/>
          </a:p>
        </p:txBody>
      </p:sp>
      <p:sp>
        <p:nvSpPr>
          <p:cNvPr id="249" name="Text 247"/>
          <p:cNvSpPr/>
          <p:nvPr/>
        </p:nvSpPr>
        <p:spPr>
          <a:xfrm>
            <a:off x="9308592" y="3995928"/>
            <a:ext cx="4407408" cy="603504"/>
          </a:xfrm>
          <a:prstGeom prst="rect">
            <a:avLst/>
          </a:prstGeom>
          <a:noFill/>
          <a:ln/>
        </p:spPr>
        <p:txBody>
          <a:bodyPr wrap="square" lIns="0" tIns="0" rIns="0" bIns="0" rtlCol="0" anchor="ctr"/>
          <a:lstStyle/>
          <a:p>
            <a:pPr indent="0" marL="0">
              <a:buNone/>
            </a:pPr>
            <a:r>
              <a:rPr lang="en-US" sz="1800" dirty="0">
                <a:solidFill>
                  <a:srgbClr val="172E43"/>
                </a:solidFill>
                <a:latin typeface="Arial" pitchFamily="34" charset="0"/>
                <a:ea typeface="Arial" pitchFamily="34" charset="-122"/>
                <a:cs typeface="Arial" pitchFamily="34" charset="-120"/>
              </a:rPr>
              <a:t>DCMS (BDUK) + Warwickshire CC</a:t>
            </a:r>
            <a:endParaRPr lang="en-US" sz="1800" dirty="0"/>
          </a:p>
        </p:txBody>
      </p:sp>
      <p:sp>
        <p:nvSpPr>
          <p:cNvPr id="250" name="Text 248"/>
          <p:cNvSpPr/>
          <p:nvPr/>
        </p:nvSpPr>
        <p:spPr>
          <a:xfrm>
            <a:off x="9308592" y="4718304"/>
            <a:ext cx="4389120" cy="347472"/>
          </a:xfrm>
          <a:prstGeom prst="rect">
            <a:avLst/>
          </a:prstGeom>
          <a:noFill/>
          <a:ln/>
        </p:spPr>
        <p:txBody>
          <a:bodyPr wrap="square" lIns="0" tIns="0" rIns="0" bIns="0" rtlCol="0" anchor="ctr"/>
          <a:lstStyle/>
          <a:p>
            <a:pPr indent="0" marL="0">
              <a:buNone/>
            </a:pPr>
            <a:r>
              <a:rPr lang="en-US" sz="1900" dirty="0">
                <a:solidFill>
                  <a:srgbClr val="172E43"/>
                </a:solidFill>
                <a:latin typeface="Arial" pitchFamily="34" charset="0"/>
                <a:ea typeface="Arial" pitchFamily="34" charset="-122"/>
                <a:cs typeface="Arial" pitchFamily="34" charset="-120"/>
              </a:rPr>
              <a:t>AI Research Engineer</a:t>
            </a:r>
            <a:endParaRPr lang="en-US" sz="1900" dirty="0"/>
          </a:p>
        </p:txBody>
      </p:sp>
      <p:sp>
        <p:nvSpPr>
          <p:cNvPr id="251" name="Text 249">
            <a:hlinkClick r:id="rId4" tooltip=""/>
          </p:cNvPr>
          <p:cNvSpPr/>
          <p:nvPr/>
        </p:nvSpPr>
        <p:spPr>
          <a:xfrm>
            <a:off x="9308592" y="5312664"/>
            <a:ext cx="4389120" cy="292608"/>
          </a:xfrm>
          <a:prstGeom prst="rect">
            <a:avLst/>
          </a:prstGeom>
          <a:noFill/>
          <a:ln/>
        </p:spPr>
        <p:txBody>
          <a:bodyPr wrap="square" lIns="0" tIns="0" rIns="0" bIns="0" rtlCol="0" anchor="ctr"/>
          <a:lstStyle/>
          <a:p>
            <a:pPr indent="0" marL="0">
              <a:buNone/>
            </a:pPr>
            <a:r>
              <a:rPr lang="en-US" sz="1800" u="sng" dirty="0">
                <a:solidFill>
                  <a:srgbClr val="145F9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chris.page@bduk.gov.uk</a:t>
            </a:r>
            <a:endParaRPr lang="en-US" sz="1800" dirty="0"/>
          </a:p>
        </p:txBody>
      </p:sp>
      <p:sp>
        <p:nvSpPr>
          <p:cNvPr id="252" name="Shape 250"/>
          <p:cNvSpPr/>
          <p:nvPr/>
        </p:nvSpPr>
        <p:spPr>
          <a:xfrm>
            <a:off x="12353544" y="5596128"/>
            <a:ext cx="1280160" cy="1280160"/>
          </a:xfrm>
          <a:prstGeom prst="rect">
            <a:avLst>
              <a:gd name="adj" fmla="val 8571"/>
            </a:avLst>
          </a:prstGeom>
          <a:solidFill>
            <a:srgbClr val="FFFFFF"/>
          </a:solidFill>
          <a:ln w="12700">
            <a:solidFill>
              <a:srgbClr val="FFFFFF"/>
            </a:solidFill>
            <a:prstDash val="solid"/>
          </a:ln>
        </p:spPr>
      </p:sp>
      <p:sp>
        <p:nvSpPr>
          <p:cNvPr id="253" name="Shape 251"/>
          <p:cNvSpPr/>
          <p:nvPr/>
        </p:nvSpPr>
        <p:spPr>
          <a:xfrm>
            <a:off x="12491940" y="5734524"/>
            <a:ext cx="242650" cy="35056"/>
          </a:xfrm>
          <a:prstGeom prst="rect">
            <a:avLst/>
          </a:prstGeom>
          <a:solidFill>
            <a:srgbClr val="000000"/>
          </a:solidFill>
          <a:ln w="12700">
            <a:solidFill>
              <a:srgbClr val="000000">
                <a:alpha val="0"/>
              </a:srgbClr>
            </a:solidFill>
            <a:prstDash val="solid"/>
          </a:ln>
        </p:spPr>
      </p:sp>
      <p:sp>
        <p:nvSpPr>
          <p:cNvPr id="254" name="Shape 252"/>
          <p:cNvSpPr/>
          <p:nvPr/>
        </p:nvSpPr>
        <p:spPr>
          <a:xfrm>
            <a:off x="12768731" y="5734524"/>
            <a:ext cx="104254" cy="35056"/>
          </a:xfrm>
          <a:prstGeom prst="rect">
            <a:avLst/>
          </a:prstGeom>
          <a:solidFill>
            <a:srgbClr val="000000"/>
          </a:solidFill>
          <a:ln w="12700">
            <a:solidFill>
              <a:srgbClr val="000000">
                <a:alpha val="0"/>
              </a:srgbClr>
            </a:solidFill>
            <a:prstDash val="solid"/>
          </a:ln>
        </p:spPr>
      </p:sp>
      <p:sp>
        <p:nvSpPr>
          <p:cNvPr id="255" name="Shape 253"/>
          <p:cNvSpPr/>
          <p:nvPr/>
        </p:nvSpPr>
        <p:spPr>
          <a:xfrm>
            <a:off x="13010923" y="5734524"/>
            <a:ext cx="208051" cy="35056"/>
          </a:xfrm>
          <a:prstGeom prst="rect">
            <a:avLst/>
          </a:prstGeom>
          <a:solidFill>
            <a:srgbClr val="000000"/>
          </a:solidFill>
          <a:ln w="12700">
            <a:solidFill>
              <a:srgbClr val="000000">
                <a:alpha val="0"/>
              </a:srgbClr>
            </a:solidFill>
            <a:prstDash val="solid"/>
          </a:ln>
        </p:spPr>
      </p:sp>
      <p:sp>
        <p:nvSpPr>
          <p:cNvPr id="256" name="Shape 254"/>
          <p:cNvSpPr/>
          <p:nvPr/>
        </p:nvSpPr>
        <p:spPr>
          <a:xfrm>
            <a:off x="13253116" y="5734524"/>
            <a:ext cx="242650" cy="35056"/>
          </a:xfrm>
          <a:prstGeom prst="rect">
            <a:avLst/>
          </a:prstGeom>
          <a:solidFill>
            <a:srgbClr val="000000"/>
          </a:solidFill>
          <a:ln w="12700">
            <a:solidFill>
              <a:srgbClr val="000000">
                <a:alpha val="0"/>
              </a:srgbClr>
            </a:solidFill>
            <a:prstDash val="solid"/>
          </a:ln>
        </p:spPr>
      </p:sp>
      <p:sp>
        <p:nvSpPr>
          <p:cNvPr id="257" name="Shape 255"/>
          <p:cNvSpPr/>
          <p:nvPr/>
        </p:nvSpPr>
        <p:spPr>
          <a:xfrm>
            <a:off x="12491940" y="5769123"/>
            <a:ext cx="35056" cy="35056"/>
          </a:xfrm>
          <a:prstGeom prst="rect">
            <a:avLst/>
          </a:prstGeom>
          <a:solidFill>
            <a:srgbClr val="000000"/>
          </a:solidFill>
          <a:ln w="12700">
            <a:solidFill>
              <a:srgbClr val="000000">
                <a:alpha val="0"/>
              </a:srgbClr>
            </a:solidFill>
            <a:prstDash val="solid"/>
          </a:ln>
        </p:spPr>
      </p:sp>
      <p:sp>
        <p:nvSpPr>
          <p:cNvPr id="258" name="Shape 256"/>
          <p:cNvSpPr/>
          <p:nvPr/>
        </p:nvSpPr>
        <p:spPr>
          <a:xfrm>
            <a:off x="12699533" y="5769123"/>
            <a:ext cx="35056" cy="35056"/>
          </a:xfrm>
          <a:prstGeom prst="rect">
            <a:avLst/>
          </a:prstGeom>
          <a:solidFill>
            <a:srgbClr val="000000"/>
          </a:solidFill>
          <a:ln w="12700">
            <a:solidFill>
              <a:srgbClr val="000000">
                <a:alpha val="0"/>
              </a:srgbClr>
            </a:solidFill>
            <a:prstDash val="solid"/>
          </a:ln>
        </p:spPr>
      </p:sp>
      <p:sp>
        <p:nvSpPr>
          <p:cNvPr id="259" name="Shape 257"/>
          <p:cNvSpPr/>
          <p:nvPr/>
        </p:nvSpPr>
        <p:spPr>
          <a:xfrm>
            <a:off x="12768731" y="5769123"/>
            <a:ext cx="138853" cy="35056"/>
          </a:xfrm>
          <a:prstGeom prst="rect">
            <a:avLst/>
          </a:prstGeom>
          <a:solidFill>
            <a:srgbClr val="000000"/>
          </a:solidFill>
          <a:ln w="12700">
            <a:solidFill>
              <a:srgbClr val="000000">
                <a:alpha val="0"/>
              </a:srgbClr>
            </a:solidFill>
            <a:prstDash val="solid"/>
          </a:ln>
        </p:spPr>
      </p:sp>
      <p:sp>
        <p:nvSpPr>
          <p:cNvPr id="260" name="Shape 258"/>
          <p:cNvSpPr/>
          <p:nvPr/>
        </p:nvSpPr>
        <p:spPr>
          <a:xfrm>
            <a:off x="12976325" y="5769123"/>
            <a:ext cx="69655" cy="35056"/>
          </a:xfrm>
          <a:prstGeom prst="rect">
            <a:avLst/>
          </a:prstGeom>
          <a:solidFill>
            <a:srgbClr val="000000"/>
          </a:solidFill>
          <a:ln w="12700">
            <a:solidFill>
              <a:srgbClr val="000000">
                <a:alpha val="0"/>
              </a:srgbClr>
            </a:solidFill>
            <a:prstDash val="solid"/>
          </a:ln>
        </p:spPr>
      </p:sp>
      <p:sp>
        <p:nvSpPr>
          <p:cNvPr id="261" name="Shape 259"/>
          <p:cNvSpPr/>
          <p:nvPr/>
        </p:nvSpPr>
        <p:spPr>
          <a:xfrm>
            <a:off x="13080121" y="5769123"/>
            <a:ext cx="69655" cy="35056"/>
          </a:xfrm>
          <a:prstGeom prst="rect">
            <a:avLst/>
          </a:prstGeom>
          <a:solidFill>
            <a:srgbClr val="000000"/>
          </a:solidFill>
          <a:ln w="12700">
            <a:solidFill>
              <a:srgbClr val="000000">
                <a:alpha val="0"/>
              </a:srgbClr>
            </a:solidFill>
            <a:prstDash val="solid"/>
          </a:ln>
        </p:spPr>
      </p:sp>
      <p:sp>
        <p:nvSpPr>
          <p:cNvPr id="262" name="Shape 260"/>
          <p:cNvSpPr/>
          <p:nvPr/>
        </p:nvSpPr>
        <p:spPr>
          <a:xfrm>
            <a:off x="13253116" y="5769123"/>
            <a:ext cx="35056" cy="35056"/>
          </a:xfrm>
          <a:prstGeom prst="rect">
            <a:avLst/>
          </a:prstGeom>
          <a:solidFill>
            <a:srgbClr val="000000"/>
          </a:solidFill>
          <a:ln w="12700">
            <a:solidFill>
              <a:srgbClr val="000000">
                <a:alpha val="0"/>
              </a:srgbClr>
            </a:solidFill>
            <a:prstDash val="solid"/>
          </a:ln>
        </p:spPr>
      </p:sp>
      <p:sp>
        <p:nvSpPr>
          <p:cNvPr id="263" name="Shape 261"/>
          <p:cNvSpPr/>
          <p:nvPr/>
        </p:nvSpPr>
        <p:spPr>
          <a:xfrm>
            <a:off x="13460709" y="5769123"/>
            <a:ext cx="35056" cy="35056"/>
          </a:xfrm>
          <a:prstGeom prst="rect">
            <a:avLst/>
          </a:prstGeom>
          <a:solidFill>
            <a:srgbClr val="000000"/>
          </a:solidFill>
          <a:ln w="12700">
            <a:solidFill>
              <a:srgbClr val="000000">
                <a:alpha val="0"/>
              </a:srgbClr>
            </a:solidFill>
            <a:prstDash val="solid"/>
          </a:ln>
        </p:spPr>
      </p:sp>
      <p:sp>
        <p:nvSpPr>
          <p:cNvPr id="264" name="Shape 262"/>
          <p:cNvSpPr/>
          <p:nvPr/>
        </p:nvSpPr>
        <p:spPr>
          <a:xfrm>
            <a:off x="12491940" y="5803722"/>
            <a:ext cx="35056" cy="35056"/>
          </a:xfrm>
          <a:prstGeom prst="rect">
            <a:avLst/>
          </a:prstGeom>
          <a:solidFill>
            <a:srgbClr val="000000"/>
          </a:solidFill>
          <a:ln w="12700">
            <a:solidFill>
              <a:srgbClr val="000000">
                <a:alpha val="0"/>
              </a:srgbClr>
            </a:solidFill>
            <a:prstDash val="solid"/>
          </a:ln>
        </p:spPr>
      </p:sp>
      <p:sp>
        <p:nvSpPr>
          <p:cNvPr id="265" name="Shape 263"/>
          <p:cNvSpPr/>
          <p:nvPr/>
        </p:nvSpPr>
        <p:spPr>
          <a:xfrm>
            <a:off x="12561138" y="5803722"/>
            <a:ext cx="104254" cy="35056"/>
          </a:xfrm>
          <a:prstGeom prst="rect">
            <a:avLst/>
          </a:prstGeom>
          <a:solidFill>
            <a:srgbClr val="000000"/>
          </a:solidFill>
          <a:ln w="12700">
            <a:solidFill>
              <a:srgbClr val="000000">
                <a:alpha val="0"/>
              </a:srgbClr>
            </a:solidFill>
            <a:prstDash val="solid"/>
          </a:ln>
        </p:spPr>
      </p:sp>
      <p:sp>
        <p:nvSpPr>
          <p:cNvPr id="266" name="Shape 264"/>
          <p:cNvSpPr/>
          <p:nvPr/>
        </p:nvSpPr>
        <p:spPr>
          <a:xfrm>
            <a:off x="12699533" y="5803722"/>
            <a:ext cx="35056" cy="35056"/>
          </a:xfrm>
          <a:prstGeom prst="rect">
            <a:avLst/>
          </a:prstGeom>
          <a:solidFill>
            <a:srgbClr val="000000"/>
          </a:solidFill>
          <a:ln w="12700">
            <a:solidFill>
              <a:srgbClr val="000000">
                <a:alpha val="0"/>
              </a:srgbClr>
            </a:solidFill>
            <a:prstDash val="solid"/>
          </a:ln>
        </p:spPr>
      </p:sp>
      <p:sp>
        <p:nvSpPr>
          <p:cNvPr id="267" name="Shape 265"/>
          <p:cNvSpPr/>
          <p:nvPr/>
        </p:nvSpPr>
        <p:spPr>
          <a:xfrm>
            <a:off x="12837929" y="5803722"/>
            <a:ext cx="35056" cy="35056"/>
          </a:xfrm>
          <a:prstGeom prst="rect">
            <a:avLst/>
          </a:prstGeom>
          <a:solidFill>
            <a:srgbClr val="000000"/>
          </a:solidFill>
          <a:ln w="12700">
            <a:solidFill>
              <a:srgbClr val="000000">
                <a:alpha val="0"/>
              </a:srgbClr>
            </a:solidFill>
            <a:prstDash val="solid"/>
          </a:ln>
        </p:spPr>
      </p:sp>
      <p:sp>
        <p:nvSpPr>
          <p:cNvPr id="268" name="Shape 266"/>
          <p:cNvSpPr/>
          <p:nvPr/>
        </p:nvSpPr>
        <p:spPr>
          <a:xfrm>
            <a:off x="12941726" y="5803722"/>
            <a:ext cx="104254" cy="35056"/>
          </a:xfrm>
          <a:prstGeom prst="rect">
            <a:avLst/>
          </a:prstGeom>
          <a:solidFill>
            <a:srgbClr val="000000"/>
          </a:solidFill>
          <a:ln w="12700">
            <a:solidFill>
              <a:srgbClr val="000000">
                <a:alpha val="0"/>
              </a:srgbClr>
            </a:solidFill>
            <a:prstDash val="solid"/>
          </a:ln>
        </p:spPr>
      </p:sp>
      <p:sp>
        <p:nvSpPr>
          <p:cNvPr id="269" name="Shape 267"/>
          <p:cNvSpPr/>
          <p:nvPr/>
        </p:nvSpPr>
        <p:spPr>
          <a:xfrm>
            <a:off x="13114720" y="5803722"/>
            <a:ext cx="35056" cy="35056"/>
          </a:xfrm>
          <a:prstGeom prst="rect">
            <a:avLst/>
          </a:prstGeom>
          <a:solidFill>
            <a:srgbClr val="000000"/>
          </a:solidFill>
          <a:ln w="12700">
            <a:solidFill>
              <a:srgbClr val="000000">
                <a:alpha val="0"/>
              </a:srgbClr>
            </a:solidFill>
            <a:prstDash val="solid"/>
          </a:ln>
        </p:spPr>
      </p:sp>
      <p:sp>
        <p:nvSpPr>
          <p:cNvPr id="270" name="Shape 268"/>
          <p:cNvSpPr/>
          <p:nvPr/>
        </p:nvSpPr>
        <p:spPr>
          <a:xfrm>
            <a:off x="13183918" y="5803722"/>
            <a:ext cx="35056" cy="35056"/>
          </a:xfrm>
          <a:prstGeom prst="rect">
            <a:avLst/>
          </a:prstGeom>
          <a:solidFill>
            <a:srgbClr val="000000"/>
          </a:solidFill>
          <a:ln w="12700">
            <a:solidFill>
              <a:srgbClr val="000000">
                <a:alpha val="0"/>
              </a:srgbClr>
            </a:solidFill>
            <a:prstDash val="solid"/>
          </a:ln>
        </p:spPr>
      </p:sp>
      <p:sp>
        <p:nvSpPr>
          <p:cNvPr id="271" name="Shape 269"/>
          <p:cNvSpPr/>
          <p:nvPr/>
        </p:nvSpPr>
        <p:spPr>
          <a:xfrm>
            <a:off x="13253116" y="5803722"/>
            <a:ext cx="35056" cy="35056"/>
          </a:xfrm>
          <a:prstGeom prst="rect">
            <a:avLst/>
          </a:prstGeom>
          <a:solidFill>
            <a:srgbClr val="000000"/>
          </a:solidFill>
          <a:ln w="12700">
            <a:solidFill>
              <a:srgbClr val="000000">
                <a:alpha val="0"/>
              </a:srgbClr>
            </a:solidFill>
            <a:prstDash val="solid"/>
          </a:ln>
        </p:spPr>
      </p:sp>
      <p:sp>
        <p:nvSpPr>
          <p:cNvPr id="272" name="Shape 270"/>
          <p:cNvSpPr/>
          <p:nvPr/>
        </p:nvSpPr>
        <p:spPr>
          <a:xfrm>
            <a:off x="13322314" y="5803722"/>
            <a:ext cx="104254" cy="35056"/>
          </a:xfrm>
          <a:prstGeom prst="rect">
            <a:avLst/>
          </a:prstGeom>
          <a:solidFill>
            <a:srgbClr val="000000"/>
          </a:solidFill>
          <a:ln w="12700">
            <a:solidFill>
              <a:srgbClr val="000000">
                <a:alpha val="0"/>
              </a:srgbClr>
            </a:solidFill>
            <a:prstDash val="solid"/>
          </a:ln>
        </p:spPr>
      </p:sp>
      <p:sp>
        <p:nvSpPr>
          <p:cNvPr id="273" name="Shape 271"/>
          <p:cNvSpPr/>
          <p:nvPr/>
        </p:nvSpPr>
        <p:spPr>
          <a:xfrm>
            <a:off x="13460709" y="5803722"/>
            <a:ext cx="35056" cy="35056"/>
          </a:xfrm>
          <a:prstGeom prst="rect">
            <a:avLst/>
          </a:prstGeom>
          <a:solidFill>
            <a:srgbClr val="000000"/>
          </a:solidFill>
          <a:ln w="12700">
            <a:solidFill>
              <a:srgbClr val="000000">
                <a:alpha val="0"/>
              </a:srgbClr>
            </a:solidFill>
            <a:prstDash val="solid"/>
          </a:ln>
        </p:spPr>
      </p:sp>
      <p:sp>
        <p:nvSpPr>
          <p:cNvPr id="274" name="Shape 272"/>
          <p:cNvSpPr/>
          <p:nvPr/>
        </p:nvSpPr>
        <p:spPr>
          <a:xfrm>
            <a:off x="12491940" y="5838320"/>
            <a:ext cx="35056" cy="35056"/>
          </a:xfrm>
          <a:prstGeom prst="rect">
            <a:avLst/>
          </a:prstGeom>
          <a:solidFill>
            <a:srgbClr val="000000"/>
          </a:solidFill>
          <a:ln w="12700">
            <a:solidFill>
              <a:srgbClr val="000000">
                <a:alpha val="0"/>
              </a:srgbClr>
            </a:solidFill>
            <a:prstDash val="solid"/>
          </a:ln>
        </p:spPr>
      </p:sp>
      <p:sp>
        <p:nvSpPr>
          <p:cNvPr id="275" name="Shape 273"/>
          <p:cNvSpPr/>
          <p:nvPr/>
        </p:nvSpPr>
        <p:spPr>
          <a:xfrm>
            <a:off x="12561138" y="5838320"/>
            <a:ext cx="104254" cy="35056"/>
          </a:xfrm>
          <a:prstGeom prst="rect">
            <a:avLst/>
          </a:prstGeom>
          <a:solidFill>
            <a:srgbClr val="000000"/>
          </a:solidFill>
          <a:ln w="12700">
            <a:solidFill>
              <a:srgbClr val="000000">
                <a:alpha val="0"/>
              </a:srgbClr>
            </a:solidFill>
            <a:prstDash val="solid"/>
          </a:ln>
        </p:spPr>
      </p:sp>
      <p:sp>
        <p:nvSpPr>
          <p:cNvPr id="276" name="Shape 274"/>
          <p:cNvSpPr/>
          <p:nvPr/>
        </p:nvSpPr>
        <p:spPr>
          <a:xfrm>
            <a:off x="12699533" y="5838320"/>
            <a:ext cx="35056" cy="35056"/>
          </a:xfrm>
          <a:prstGeom prst="rect">
            <a:avLst/>
          </a:prstGeom>
          <a:solidFill>
            <a:srgbClr val="000000"/>
          </a:solidFill>
          <a:ln w="12700">
            <a:solidFill>
              <a:srgbClr val="000000">
                <a:alpha val="0"/>
              </a:srgbClr>
            </a:solidFill>
            <a:prstDash val="solid"/>
          </a:ln>
        </p:spPr>
      </p:sp>
      <p:sp>
        <p:nvSpPr>
          <p:cNvPr id="277" name="Shape 275"/>
          <p:cNvSpPr/>
          <p:nvPr/>
        </p:nvSpPr>
        <p:spPr>
          <a:xfrm>
            <a:off x="12768731" y="5838320"/>
            <a:ext cx="69655" cy="35056"/>
          </a:xfrm>
          <a:prstGeom prst="rect">
            <a:avLst/>
          </a:prstGeom>
          <a:solidFill>
            <a:srgbClr val="000000"/>
          </a:solidFill>
          <a:ln w="12700">
            <a:solidFill>
              <a:srgbClr val="000000">
                <a:alpha val="0"/>
              </a:srgbClr>
            </a:solidFill>
            <a:prstDash val="solid"/>
          </a:ln>
        </p:spPr>
      </p:sp>
      <p:sp>
        <p:nvSpPr>
          <p:cNvPr id="278" name="Shape 276"/>
          <p:cNvSpPr/>
          <p:nvPr/>
        </p:nvSpPr>
        <p:spPr>
          <a:xfrm>
            <a:off x="12872528" y="5838320"/>
            <a:ext cx="35056" cy="35056"/>
          </a:xfrm>
          <a:prstGeom prst="rect">
            <a:avLst/>
          </a:prstGeom>
          <a:solidFill>
            <a:srgbClr val="000000"/>
          </a:solidFill>
          <a:ln w="12700">
            <a:solidFill>
              <a:srgbClr val="000000">
                <a:alpha val="0"/>
              </a:srgbClr>
            </a:solidFill>
            <a:prstDash val="solid"/>
          </a:ln>
        </p:spPr>
      </p:sp>
      <p:sp>
        <p:nvSpPr>
          <p:cNvPr id="279" name="Shape 277"/>
          <p:cNvSpPr/>
          <p:nvPr/>
        </p:nvSpPr>
        <p:spPr>
          <a:xfrm>
            <a:off x="13080121" y="5838320"/>
            <a:ext cx="104254" cy="35056"/>
          </a:xfrm>
          <a:prstGeom prst="rect">
            <a:avLst/>
          </a:prstGeom>
          <a:solidFill>
            <a:srgbClr val="000000"/>
          </a:solidFill>
          <a:ln w="12700">
            <a:solidFill>
              <a:srgbClr val="000000">
                <a:alpha val="0"/>
              </a:srgbClr>
            </a:solidFill>
            <a:prstDash val="solid"/>
          </a:ln>
        </p:spPr>
      </p:sp>
      <p:sp>
        <p:nvSpPr>
          <p:cNvPr id="280" name="Shape 278"/>
          <p:cNvSpPr/>
          <p:nvPr/>
        </p:nvSpPr>
        <p:spPr>
          <a:xfrm>
            <a:off x="13253116" y="5838320"/>
            <a:ext cx="35056" cy="35056"/>
          </a:xfrm>
          <a:prstGeom prst="rect">
            <a:avLst/>
          </a:prstGeom>
          <a:solidFill>
            <a:srgbClr val="000000"/>
          </a:solidFill>
          <a:ln w="12700">
            <a:solidFill>
              <a:srgbClr val="000000">
                <a:alpha val="0"/>
              </a:srgbClr>
            </a:solidFill>
            <a:prstDash val="solid"/>
          </a:ln>
        </p:spPr>
      </p:sp>
      <p:sp>
        <p:nvSpPr>
          <p:cNvPr id="281" name="Shape 279"/>
          <p:cNvSpPr/>
          <p:nvPr/>
        </p:nvSpPr>
        <p:spPr>
          <a:xfrm>
            <a:off x="13322314" y="5838320"/>
            <a:ext cx="104254" cy="35056"/>
          </a:xfrm>
          <a:prstGeom prst="rect">
            <a:avLst/>
          </a:prstGeom>
          <a:solidFill>
            <a:srgbClr val="000000"/>
          </a:solidFill>
          <a:ln w="12700">
            <a:solidFill>
              <a:srgbClr val="000000">
                <a:alpha val="0"/>
              </a:srgbClr>
            </a:solidFill>
            <a:prstDash val="solid"/>
          </a:ln>
        </p:spPr>
      </p:sp>
      <p:sp>
        <p:nvSpPr>
          <p:cNvPr id="282" name="Shape 280"/>
          <p:cNvSpPr/>
          <p:nvPr/>
        </p:nvSpPr>
        <p:spPr>
          <a:xfrm>
            <a:off x="13460709" y="5838320"/>
            <a:ext cx="35056" cy="35056"/>
          </a:xfrm>
          <a:prstGeom prst="rect">
            <a:avLst/>
          </a:prstGeom>
          <a:solidFill>
            <a:srgbClr val="000000"/>
          </a:solidFill>
          <a:ln w="12700">
            <a:solidFill>
              <a:srgbClr val="000000">
                <a:alpha val="0"/>
              </a:srgbClr>
            </a:solidFill>
            <a:prstDash val="solid"/>
          </a:ln>
        </p:spPr>
      </p:sp>
      <p:sp>
        <p:nvSpPr>
          <p:cNvPr id="283" name="Shape 281"/>
          <p:cNvSpPr/>
          <p:nvPr/>
        </p:nvSpPr>
        <p:spPr>
          <a:xfrm>
            <a:off x="12491940" y="5872919"/>
            <a:ext cx="35056" cy="35056"/>
          </a:xfrm>
          <a:prstGeom prst="rect">
            <a:avLst/>
          </a:prstGeom>
          <a:solidFill>
            <a:srgbClr val="000000"/>
          </a:solidFill>
          <a:ln w="12700">
            <a:solidFill>
              <a:srgbClr val="000000">
                <a:alpha val="0"/>
              </a:srgbClr>
            </a:solidFill>
            <a:prstDash val="solid"/>
          </a:ln>
        </p:spPr>
      </p:sp>
      <p:sp>
        <p:nvSpPr>
          <p:cNvPr id="284" name="Shape 282"/>
          <p:cNvSpPr/>
          <p:nvPr/>
        </p:nvSpPr>
        <p:spPr>
          <a:xfrm>
            <a:off x="12561138" y="5872919"/>
            <a:ext cx="104254" cy="35056"/>
          </a:xfrm>
          <a:prstGeom prst="rect">
            <a:avLst/>
          </a:prstGeom>
          <a:solidFill>
            <a:srgbClr val="000000"/>
          </a:solidFill>
          <a:ln w="12700">
            <a:solidFill>
              <a:srgbClr val="000000">
                <a:alpha val="0"/>
              </a:srgbClr>
            </a:solidFill>
            <a:prstDash val="solid"/>
          </a:ln>
        </p:spPr>
      </p:sp>
      <p:sp>
        <p:nvSpPr>
          <p:cNvPr id="285" name="Shape 283"/>
          <p:cNvSpPr/>
          <p:nvPr/>
        </p:nvSpPr>
        <p:spPr>
          <a:xfrm>
            <a:off x="12699533" y="5872919"/>
            <a:ext cx="35056" cy="35056"/>
          </a:xfrm>
          <a:prstGeom prst="rect">
            <a:avLst/>
          </a:prstGeom>
          <a:solidFill>
            <a:srgbClr val="000000"/>
          </a:solidFill>
          <a:ln w="12700">
            <a:solidFill>
              <a:srgbClr val="000000">
                <a:alpha val="0"/>
              </a:srgbClr>
            </a:solidFill>
            <a:prstDash val="solid"/>
          </a:ln>
        </p:spPr>
      </p:sp>
      <p:sp>
        <p:nvSpPr>
          <p:cNvPr id="286" name="Shape 284"/>
          <p:cNvSpPr/>
          <p:nvPr/>
        </p:nvSpPr>
        <p:spPr>
          <a:xfrm>
            <a:off x="12872528" y="5872919"/>
            <a:ext cx="35056" cy="35056"/>
          </a:xfrm>
          <a:prstGeom prst="rect">
            <a:avLst/>
          </a:prstGeom>
          <a:solidFill>
            <a:srgbClr val="000000"/>
          </a:solidFill>
          <a:ln w="12700">
            <a:solidFill>
              <a:srgbClr val="000000">
                <a:alpha val="0"/>
              </a:srgbClr>
            </a:solidFill>
            <a:prstDash val="solid"/>
          </a:ln>
        </p:spPr>
      </p:sp>
      <p:sp>
        <p:nvSpPr>
          <p:cNvPr id="287" name="Shape 285"/>
          <p:cNvSpPr/>
          <p:nvPr/>
        </p:nvSpPr>
        <p:spPr>
          <a:xfrm>
            <a:off x="12941726" y="5872919"/>
            <a:ext cx="35056" cy="35056"/>
          </a:xfrm>
          <a:prstGeom prst="rect">
            <a:avLst/>
          </a:prstGeom>
          <a:solidFill>
            <a:srgbClr val="000000"/>
          </a:solidFill>
          <a:ln w="12700">
            <a:solidFill>
              <a:srgbClr val="000000">
                <a:alpha val="0"/>
              </a:srgbClr>
            </a:solidFill>
            <a:prstDash val="solid"/>
          </a:ln>
        </p:spPr>
      </p:sp>
      <p:sp>
        <p:nvSpPr>
          <p:cNvPr id="288" name="Shape 286"/>
          <p:cNvSpPr/>
          <p:nvPr/>
        </p:nvSpPr>
        <p:spPr>
          <a:xfrm>
            <a:off x="13149319" y="5872919"/>
            <a:ext cx="35056" cy="35056"/>
          </a:xfrm>
          <a:prstGeom prst="rect">
            <a:avLst/>
          </a:prstGeom>
          <a:solidFill>
            <a:srgbClr val="000000"/>
          </a:solidFill>
          <a:ln w="12700">
            <a:solidFill>
              <a:srgbClr val="000000">
                <a:alpha val="0"/>
              </a:srgbClr>
            </a:solidFill>
            <a:prstDash val="solid"/>
          </a:ln>
        </p:spPr>
      </p:sp>
      <p:sp>
        <p:nvSpPr>
          <p:cNvPr id="289" name="Shape 287"/>
          <p:cNvSpPr/>
          <p:nvPr/>
        </p:nvSpPr>
        <p:spPr>
          <a:xfrm>
            <a:off x="13253116" y="5872919"/>
            <a:ext cx="35056" cy="35056"/>
          </a:xfrm>
          <a:prstGeom prst="rect">
            <a:avLst/>
          </a:prstGeom>
          <a:solidFill>
            <a:srgbClr val="000000"/>
          </a:solidFill>
          <a:ln w="12700">
            <a:solidFill>
              <a:srgbClr val="000000">
                <a:alpha val="0"/>
              </a:srgbClr>
            </a:solidFill>
            <a:prstDash val="solid"/>
          </a:ln>
        </p:spPr>
      </p:sp>
      <p:sp>
        <p:nvSpPr>
          <p:cNvPr id="290" name="Shape 288"/>
          <p:cNvSpPr/>
          <p:nvPr/>
        </p:nvSpPr>
        <p:spPr>
          <a:xfrm>
            <a:off x="13322314" y="5872919"/>
            <a:ext cx="104254" cy="35056"/>
          </a:xfrm>
          <a:prstGeom prst="rect">
            <a:avLst/>
          </a:prstGeom>
          <a:solidFill>
            <a:srgbClr val="000000"/>
          </a:solidFill>
          <a:ln w="12700">
            <a:solidFill>
              <a:srgbClr val="000000">
                <a:alpha val="0"/>
              </a:srgbClr>
            </a:solidFill>
            <a:prstDash val="solid"/>
          </a:ln>
        </p:spPr>
      </p:sp>
      <p:sp>
        <p:nvSpPr>
          <p:cNvPr id="291" name="Shape 289"/>
          <p:cNvSpPr/>
          <p:nvPr/>
        </p:nvSpPr>
        <p:spPr>
          <a:xfrm>
            <a:off x="13460709" y="5872919"/>
            <a:ext cx="35056" cy="35056"/>
          </a:xfrm>
          <a:prstGeom prst="rect">
            <a:avLst/>
          </a:prstGeom>
          <a:solidFill>
            <a:srgbClr val="000000"/>
          </a:solidFill>
          <a:ln w="12700">
            <a:solidFill>
              <a:srgbClr val="000000">
                <a:alpha val="0"/>
              </a:srgbClr>
            </a:solidFill>
            <a:prstDash val="solid"/>
          </a:ln>
        </p:spPr>
      </p:sp>
      <p:sp>
        <p:nvSpPr>
          <p:cNvPr id="292" name="Shape 290"/>
          <p:cNvSpPr/>
          <p:nvPr/>
        </p:nvSpPr>
        <p:spPr>
          <a:xfrm>
            <a:off x="12491940" y="5907518"/>
            <a:ext cx="35056" cy="35056"/>
          </a:xfrm>
          <a:prstGeom prst="rect">
            <a:avLst/>
          </a:prstGeom>
          <a:solidFill>
            <a:srgbClr val="000000"/>
          </a:solidFill>
          <a:ln w="12700">
            <a:solidFill>
              <a:srgbClr val="000000">
                <a:alpha val="0"/>
              </a:srgbClr>
            </a:solidFill>
            <a:prstDash val="solid"/>
          </a:ln>
        </p:spPr>
      </p:sp>
      <p:sp>
        <p:nvSpPr>
          <p:cNvPr id="293" name="Shape 291"/>
          <p:cNvSpPr/>
          <p:nvPr/>
        </p:nvSpPr>
        <p:spPr>
          <a:xfrm>
            <a:off x="12699533" y="5907518"/>
            <a:ext cx="35056" cy="35056"/>
          </a:xfrm>
          <a:prstGeom prst="rect">
            <a:avLst/>
          </a:prstGeom>
          <a:solidFill>
            <a:srgbClr val="000000"/>
          </a:solidFill>
          <a:ln w="12700">
            <a:solidFill>
              <a:srgbClr val="000000">
                <a:alpha val="0"/>
              </a:srgbClr>
            </a:solidFill>
            <a:prstDash val="solid"/>
          </a:ln>
        </p:spPr>
      </p:sp>
      <p:sp>
        <p:nvSpPr>
          <p:cNvPr id="294" name="Shape 292"/>
          <p:cNvSpPr/>
          <p:nvPr/>
        </p:nvSpPr>
        <p:spPr>
          <a:xfrm>
            <a:off x="12907127" y="5907518"/>
            <a:ext cx="35056" cy="35056"/>
          </a:xfrm>
          <a:prstGeom prst="rect">
            <a:avLst/>
          </a:prstGeom>
          <a:solidFill>
            <a:srgbClr val="000000"/>
          </a:solidFill>
          <a:ln w="12700">
            <a:solidFill>
              <a:srgbClr val="000000">
                <a:alpha val="0"/>
              </a:srgbClr>
            </a:solidFill>
            <a:prstDash val="solid"/>
          </a:ln>
        </p:spPr>
      </p:sp>
      <p:sp>
        <p:nvSpPr>
          <p:cNvPr id="295" name="Shape 293"/>
          <p:cNvSpPr/>
          <p:nvPr/>
        </p:nvSpPr>
        <p:spPr>
          <a:xfrm>
            <a:off x="12976325" y="5907518"/>
            <a:ext cx="35056" cy="35056"/>
          </a:xfrm>
          <a:prstGeom prst="rect">
            <a:avLst/>
          </a:prstGeom>
          <a:solidFill>
            <a:srgbClr val="000000"/>
          </a:solidFill>
          <a:ln w="12700">
            <a:solidFill>
              <a:srgbClr val="000000">
                <a:alpha val="0"/>
              </a:srgbClr>
            </a:solidFill>
            <a:prstDash val="solid"/>
          </a:ln>
        </p:spPr>
      </p:sp>
      <p:sp>
        <p:nvSpPr>
          <p:cNvPr id="296" name="Shape 294"/>
          <p:cNvSpPr/>
          <p:nvPr/>
        </p:nvSpPr>
        <p:spPr>
          <a:xfrm>
            <a:off x="13080121" y="5907518"/>
            <a:ext cx="138853" cy="35056"/>
          </a:xfrm>
          <a:prstGeom prst="rect">
            <a:avLst/>
          </a:prstGeom>
          <a:solidFill>
            <a:srgbClr val="000000"/>
          </a:solidFill>
          <a:ln w="12700">
            <a:solidFill>
              <a:srgbClr val="000000">
                <a:alpha val="0"/>
              </a:srgbClr>
            </a:solidFill>
            <a:prstDash val="solid"/>
          </a:ln>
        </p:spPr>
      </p:sp>
      <p:sp>
        <p:nvSpPr>
          <p:cNvPr id="297" name="Shape 295"/>
          <p:cNvSpPr/>
          <p:nvPr/>
        </p:nvSpPr>
        <p:spPr>
          <a:xfrm>
            <a:off x="13253116" y="5907518"/>
            <a:ext cx="35056" cy="35056"/>
          </a:xfrm>
          <a:prstGeom prst="rect">
            <a:avLst/>
          </a:prstGeom>
          <a:solidFill>
            <a:srgbClr val="000000"/>
          </a:solidFill>
          <a:ln w="12700">
            <a:solidFill>
              <a:srgbClr val="000000">
                <a:alpha val="0"/>
              </a:srgbClr>
            </a:solidFill>
            <a:prstDash val="solid"/>
          </a:ln>
        </p:spPr>
      </p:sp>
      <p:sp>
        <p:nvSpPr>
          <p:cNvPr id="298" name="Shape 296"/>
          <p:cNvSpPr/>
          <p:nvPr/>
        </p:nvSpPr>
        <p:spPr>
          <a:xfrm>
            <a:off x="13460709" y="5907518"/>
            <a:ext cx="35056" cy="35056"/>
          </a:xfrm>
          <a:prstGeom prst="rect">
            <a:avLst/>
          </a:prstGeom>
          <a:solidFill>
            <a:srgbClr val="000000"/>
          </a:solidFill>
          <a:ln w="12700">
            <a:solidFill>
              <a:srgbClr val="000000">
                <a:alpha val="0"/>
              </a:srgbClr>
            </a:solidFill>
            <a:prstDash val="solid"/>
          </a:ln>
        </p:spPr>
      </p:sp>
      <p:sp>
        <p:nvSpPr>
          <p:cNvPr id="299" name="Shape 297"/>
          <p:cNvSpPr/>
          <p:nvPr/>
        </p:nvSpPr>
        <p:spPr>
          <a:xfrm>
            <a:off x="12491940" y="5942117"/>
            <a:ext cx="242650" cy="35056"/>
          </a:xfrm>
          <a:prstGeom prst="rect">
            <a:avLst/>
          </a:prstGeom>
          <a:solidFill>
            <a:srgbClr val="000000"/>
          </a:solidFill>
          <a:ln w="12700">
            <a:solidFill>
              <a:srgbClr val="000000">
                <a:alpha val="0"/>
              </a:srgbClr>
            </a:solidFill>
            <a:prstDash val="solid"/>
          </a:ln>
        </p:spPr>
      </p:sp>
      <p:sp>
        <p:nvSpPr>
          <p:cNvPr id="300" name="Shape 298"/>
          <p:cNvSpPr/>
          <p:nvPr/>
        </p:nvSpPr>
        <p:spPr>
          <a:xfrm>
            <a:off x="12768731" y="5942117"/>
            <a:ext cx="35056" cy="35056"/>
          </a:xfrm>
          <a:prstGeom prst="rect">
            <a:avLst/>
          </a:prstGeom>
          <a:solidFill>
            <a:srgbClr val="000000"/>
          </a:solidFill>
          <a:ln w="12700">
            <a:solidFill>
              <a:srgbClr val="000000">
                <a:alpha val="0"/>
              </a:srgbClr>
            </a:solidFill>
            <a:prstDash val="solid"/>
          </a:ln>
        </p:spPr>
      </p:sp>
      <p:sp>
        <p:nvSpPr>
          <p:cNvPr id="301" name="Shape 299"/>
          <p:cNvSpPr/>
          <p:nvPr/>
        </p:nvSpPr>
        <p:spPr>
          <a:xfrm>
            <a:off x="12837929" y="5942117"/>
            <a:ext cx="35056" cy="35056"/>
          </a:xfrm>
          <a:prstGeom prst="rect">
            <a:avLst/>
          </a:prstGeom>
          <a:solidFill>
            <a:srgbClr val="000000"/>
          </a:solidFill>
          <a:ln w="12700">
            <a:solidFill>
              <a:srgbClr val="000000">
                <a:alpha val="0"/>
              </a:srgbClr>
            </a:solidFill>
            <a:prstDash val="solid"/>
          </a:ln>
        </p:spPr>
      </p:sp>
      <p:sp>
        <p:nvSpPr>
          <p:cNvPr id="302" name="Shape 300"/>
          <p:cNvSpPr/>
          <p:nvPr/>
        </p:nvSpPr>
        <p:spPr>
          <a:xfrm>
            <a:off x="12907127" y="5942117"/>
            <a:ext cx="35056" cy="35056"/>
          </a:xfrm>
          <a:prstGeom prst="rect">
            <a:avLst/>
          </a:prstGeom>
          <a:solidFill>
            <a:srgbClr val="000000"/>
          </a:solidFill>
          <a:ln w="12700">
            <a:solidFill>
              <a:srgbClr val="000000">
                <a:alpha val="0"/>
              </a:srgbClr>
            </a:solidFill>
            <a:prstDash val="solid"/>
          </a:ln>
        </p:spPr>
      </p:sp>
      <p:sp>
        <p:nvSpPr>
          <p:cNvPr id="303" name="Shape 301"/>
          <p:cNvSpPr/>
          <p:nvPr/>
        </p:nvSpPr>
        <p:spPr>
          <a:xfrm>
            <a:off x="12976325" y="5942117"/>
            <a:ext cx="35056" cy="35056"/>
          </a:xfrm>
          <a:prstGeom prst="rect">
            <a:avLst/>
          </a:prstGeom>
          <a:solidFill>
            <a:srgbClr val="000000"/>
          </a:solidFill>
          <a:ln w="12700">
            <a:solidFill>
              <a:srgbClr val="000000">
                <a:alpha val="0"/>
              </a:srgbClr>
            </a:solidFill>
            <a:prstDash val="solid"/>
          </a:ln>
        </p:spPr>
      </p:sp>
      <p:sp>
        <p:nvSpPr>
          <p:cNvPr id="304" name="Shape 302"/>
          <p:cNvSpPr/>
          <p:nvPr/>
        </p:nvSpPr>
        <p:spPr>
          <a:xfrm>
            <a:off x="13045522" y="5942117"/>
            <a:ext cx="35056" cy="35056"/>
          </a:xfrm>
          <a:prstGeom prst="rect">
            <a:avLst/>
          </a:prstGeom>
          <a:solidFill>
            <a:srgbClr val="000000"/>
          </a:solidFill>
          <a:ln w="12700">
            <a:solidFill>
              <a:srgbClr val="000000">
                <a:alpha val="0"/>
              </a:srgbClr>
            </a:solidFill>
            <a:prstDash val="solid"/>
          </a:ln>
        </p:spPr>
      </p:sp>
      <p:sp>
        <p:nvSpPr>
          <p:cNvPr id="305" name="Shape 303"/>
          <p:cNvSpPr/>
          <p:nvPr/>
        </p:nvSpPr>
        <p:spPr>
          <a:xfrm>
            <a:off x="13114720" y="5942117"/>
            <a:ext cx="35056" cy="35056"/>
          </a:xfrm>
          <a:prstGeom prst="rect">
            <a:avLst/>
          </a:prstGeom>
          <a:solidFill>
            <a:srgbClr val="000000"/>
          </a:solidFill>
          <a:ln w="12700">
            <a:solidFill>
              <a:srgbClr val="000000">
                <a:alpha val="0"/>
              </a:srgbClr>
            </a:solidFill>
            <a:prstDash val="solid"/>
          </a:ln>
        </p:spPr>
      </p:sp>
      <p:sp>
        <p:nvSpPr>
          <p:cNvPr id="306" name="Shape 304"/>
          <p:cNvSpPr/>
          <p:nvPr/>
        </p:nvSpPr>
        <p:spPr>
          <a:xfrm>
            <a:off x="13183918" y="5942117"/>
            <a:ext cx="35056" cy="35056"/>
          </a:xfrm>
          <a:prstGeom prst="rect">
            <a:avLst/>
          </a:prstGeom>
          <a:solidFill>
            <a:srgbClr val="000000"/>
          </a:solidFill>
          <a:ln w="12700">
            <a:solidFill>
              <a:srgbClr val="000000">
                <a:alpha val="0"/>
              </a:srgbClr>
            </a:solidFill>
            <a:prstDash val="solid"/>
          </a:ln>
        </p:spPr>
      </p:sp>
      <p:sp>
        <p:nvSpPr>
          <p:cNvPr id="307" name="Shape 305"/>
          <p:cNvSpPr/>
          <p:nvPr/>
        </p:nvSpPr>
        <p:spPr>
          <a:xfrm>
            <a:off x="13253116" y="5942117"/>
            <a:ext cx="242650" cy="35056"/>
          </a:xfrm>
          <a:prstGeom prst="rect">
            <a:avLst/>
          </a:prstGeom>
          <a:solidFill>
            <a:srgbClr val="000000"/>
          </a:solidFill>
          <a:ln w="12700">
            <a:solidFill>
              <a:srgbClr val="000000">
                <a:alpha val="0"/>
              </a:srgbClr>
            </a:solidFill>
            <a:prstDash val="solid"/>
          </a:ln>
        </p:spPr>
      </p:sp>
      <p:sp>
        <p:nvSpPr>
          <p:cNvPr id="308" name="Shape 306"/>
          <p:cNvSpPr/>
          <p:nvPr/>
        </p:nvSpPr>
        <p:spPr>
          <a:xfrm>
            <a:off x="12768731" y="5976716"/>
            <a:ext cx="104254" cy="35056"/>
          </a:xfrm>
          <a:prstGeom prst="rect">
            <a:avLst/>
          </a:prstGeom>
          <a:solidFill>
            <a:srgbClr val="000000"/>
          </a:solidFill>
          <a:ln w="12700">
            <a:solidFill>
              <a:srgbClr val="000000">
                <a:alpha val="0"/>
              </a:srgbClr>
            </a:solidFill>
            <a:prstDash val="solid"/>
          </a:ln>
        </p:spPr>
      </p:sp>
      <p:sp>
        <p:nvSpPr>
          <p:cNvPr id="309" name="Shape 307"/>
          <p:cNvSpPr/>
          <p:nvPr/>
        </p:nvSpPr>
        <p:spPr>
          <a:xfrm>
            <a:off x="12907127" y="5976716"/>
            <a:ext cx="138853" cy="35056"/>
          </a:xfrm>
          <a:prstGeom prst="rect">
            <a:avLst/>
          </a:prstGeom>
          <a:solidFill>
            <a:srgbClr val="000000"/>
          </a:solidFill>
          <a:ln w="12700">
            <a:solidFill>
              <a:srgbClr val="000000">
                <a:alpha val="0"/>
              </a:srgbClr>
            </a:solidFill>
            <a:prstDash val="solid"/>
          </a:ln>
        </p:spPr>
      </p:sp>
      <p:sp>
        <p:nvSpPr>
          <p:cNvPr id="310" name="Shape 308"/>
          <p:cNvSpPr/>
          <p:nvPr/>
        </p:nvSpPr>
        <p:spPr>
          <a:xfrm>
            <a:off x="13080121" y="5976716"/>
            <a:ext cx="138853" cy="35056"/>
          </a:xfrm>
          <a:prstGeom prst="rect">
            <a:avLst/>
          </a:prstGeom>
          <a:solidFill>
            <a:srgbClr val="000000"/>
          </a:solidFill>
          <a:ln w="12700">
            <a:solidFill>
              <a:srgbClr val="000000">
                <a:alpha val="0"/>
              </a:srgbClr>
            </a:solidFill>
            <a:prstDash val="solid"/>
          </a:ln>
        </p:spPr>
      </p:sp>
      <p:sp>
        <p:nvSpPr>
          <p:cNvPr id="311" name="Shape 309"/>
          <p:cNvSpPr/>
          <p:nvPr/>
        </p:nvSpPr>
        <p:spPr>
          <a:xfrm>
            <a:off x="12491940" y="6011315"/>
            <a:ext cx="35056" cy="35056"/>
          </a:xfrm>
          <a:prstGeom prst="rect">
            <a:avLst/>
          </a:prstGeom>
          <a:solidFill>
            <a:srgbClr val="000000"/>
          </a:solidFill>
          <a:ln w="12700">
            <a:solidFill>
              <a:srgbClr val="000000">
                <a:alpha val="0"/>
              </a:srgbClr>
            </a:solidFill>
            <a:prstDash val="solid"/>
          </a:ln>
        </p:spPr>
      </p:sp>
      <p:sp>
        <p:nvSpPr>
          <p:cNvPr id="312" name="Shape 310"/>
          <p:cNvSpPr/>
          <p:nvPr/>
        </p:nvSpPr>
        <p:spPr>
          <a:xfrm>
            <a:off x="12561138" y="6011315"/>
            <a:ext cx="69655" cy="35056"/>
          </a:xfrm>
          <a:prstGeom prst="rect">
            <a:avLst/>
          </a:prstGeom>
          <a:solidFill>
            <a:srgbClr val="000000"/>
          </a:solidFill>
          <a:ln w="12700">
            <a:solidFill>
              <a:srgbClr val="000000">
                <a:alpha val="0"/>
              </a:srgbClr>
            </a:solidFill>
            <a:prstDash val="solid"/>
          </a:ln>
        </p:spPr>
      </p:sp>
      <p:sp>
        <p:nvSpPr>
          <p:cNvPr id="313" name="Shape 311"/>
          <p:cNvSpPr/>
          <p:nvPr/>
        </p:nvSpPr>
        <p:spPr>
          <a:xfrm>
            <a:off x="12664934" y="6011315"/>
            <a:ext cx="104254" cy="35056"/>
          </a:xfrm>
          <a:prstGeom prst="rect">
            <a:avLst/>
          </a:prstGeom>
          <a:solidFill>
            <a:srgbClr val="000000"/>
          </a:solidFill>
          <a:ln w="12700">
            <a:solidFill>
              <a:srgbClr val="000000">
                <a:alpha val="0"/>
              </a:srgbClr>
            </a:solidFill>
            <a:prstDash val="solid"/>
          </a:ln>
        </p:spPr>
      </p:sp>
      <p:sp>
        <p:nvSpPr>
          <p:cNvPr id="314" name="Shape 312"/>
          <p:cNvSpPr/>
          <p:nvPr/>
        </p:nvSpPr>
        <p:spPr>
          <a:xfrm>
            <a:off x="12837929" y="6011315"/>
            <a:ext cx="35056" cy="35056"/>
          </a:xfrm>
          <a:prstGeom prst="rect">
            <a:avLst/>
          </a:prstGeom>
          <a:solidFill>
            <a:srgbClr val="000000"/>
          </a:solidFill>
          <a:ln w="12700">
            <a:solidFill>
              <a:srgbClr val="000000">
                <a:alpha val="0"/>
              </a:srgbClr>
            </a:solidFill>
            <a:prstDash val="solid"/>
          </a:ln>
        </p:spPr>
      </p:sp>
      <p:sp>
        <p:nvSpPr>
          <p:cNvPr id="315" name="Shape 313"/>
          <p:cNvSpPr/>
          <p:nvPr/>
        </p:nvSpPr>
        <p:spPr>
          <a:xfrm>
            <a:off x="12907127" y="6011315"/>
            <a:ext cx="104254" cy="35056"/>
          </a:xfrm>
          <a:prstGeom prst="rect">
            <a:avLst/>
          </a:prstGeom>
          <a:solidFill>
            <a:srgbClr val="000000"/>
          </a:solidFill>
          <a:ln w="12700">
            <a:solidFill>
              <a:srgbClr val="000000">
                <a:alpha val="0"/>
              </a:srgbClr>
            </a:solidFill>
            <a:prstDash val="solid"/>
          </a:ln>
        </p:spPr>
      </p:sp>
      <p:sp>
        <p:nvSpPr>
          <p:cNvPr id="316" name="Shape 314"/>
          <p:cNvSpPr/>
          <p:nvPr/>
        </p:nvSpPr>
        <p:spPr>
          <a:xfrm>
            <a:off x="13080121" y="6011315"/>
            <a:ext cx="104254" cy="35056"/>
          </a:xfrm>
          <a:prstGeom prst="rect">
            <a:avLst/>
          </a:prstGeom>
          <a:solidFill>
            <a:srgbClr val="000000"/>
          </a:solidFill>
          <a:ln w="12700">
            <a:solidFill>
              <a:srgbClr val="000000">
                <a:alpha val="0"/>
              </a:srgbClr>
            </a:solidFill>
            <a:prstDash val="solid"/>
          </a:ln>
        </p:spPr>
      </p:sp>
      <p:sp>
        <p:nvSpPr>
          <p:cNvPr id="317" name="Shape 315"/>
          <p:cNvSpPr/>
          <p:nvPr/>
        </p:nvSpPr>
        <p:spPr>
          <a:xfrm>
            <a:off x="13253116" y="6011315"/>
            <a:ext cx="35056" cy="35056"/>
          </a:xfrm>
          <a:prstGeom prst="rect">
            <a:avLst/>
          </a:prstGeom>
          <a:solidFill>
            <a:srgbClr val="000000"/>
          </a:solidFill>
          <a:ln w="12700">
            <a:solidFill>
              <a:srgbClr val="000000">
                <a:alpha val="0"/>
              </a:srgbClr>
            </a:solidFill>
            <a:prstDash val="solid"/>
          </a:ln>
        </p:spPr>
      </p:sp>
      <p:sp>
        <p:nvSpPr>
          <p:cNvPr id="318" name="Shape 316"/>
          <p:cNvSpPr/>
          <p:nvPr/>
        </p:nvSpPr>
        <p:spPr>
          <a:xfrm>
            <a:off x="13356913" y="6011315"/>
            <a:ext cx="35056" cy="35056"/>
          </a:xfrm>
          <a:prstGeom prst="rect">
            <a:avLst/>
          </a:prstGeom>
          <a:solidFill>
            <a:srgbClr val="000000"/>
          </a:solidFill>
          <a:ln w="12700">
            <a:solidFill>
              <a:srgbClr val="000000">
                <a:alpha val="0"/>
              </a:srgbClr>
            </a:solidFill>
            <a:prstDash val="solid"/>
          </a:ln>
        </p:spPr>
      </p:sp>
      <p:sp>
        <p:nvSpPr>
          <p:cNvPr id="319" name="Shape 317"/>
          <p:cNvSpPr/>
          <p:nvPr/>
        </p:nvSpPr>
        <p:spPr>
          <a:xfrm>
            <a:off x="13426110" y="6011315"/>
            <a:ext cx="69655" cy="35056"/>
          </a:xfrm>
          <a:prstGeom prst="rect">
            <a:avLst/>
          </a:prstGeom>
          <a:solidFill>
            <a:srgbClr val="000000"/>
          </a:solidFill>
          <a:ln w="12700">
            <a:solidFill>
              <a:srgbClr val="000000">
                <a:alpha val="0"/>
              </a:srgbClr>
            </a:solidFill>
            <a:prstDash val="solid"/>
          </a:ln>
        </p:spPr>
      </p:sp>
      <p:sp>
        <p:nvSpPr>
          <p:cNvPr id="320" name="Shape 318"/>
          <p:cNvSpPr/>
          <p:nvPr/>
        </p:nvSpPr>
        <p:spPr>
          <a:xfrm>
            <a:off x="12491940" y="6045914"/>
            <a:ext cx="35056" cy="35056"/>
          </a:xfrm>
          <a:prstGeom prst="rect">
            <a:avLst/>
          </a:prstGeom>
          <a:solidFill>
            <a:srgbClr val="000000"/>
          </a:solidFill>
          <a:ln w="12700">
            <a:solidFill>
              <a:srgbClr val="000000">
                <a:alpha val="0"/>
              </a:srgbClr>
            </a:solidFill>
            <a:prstDash val="solid"/>
          </a:ln>
        </p:spPr>
      </p:sp>
      <p:sp>
        <p:nvSpPr>
          <p:cNvPr id="321" name="Shape 319"/>
          <p:cNvSpPr/>
          <p:nvPr/>
        </p:nvSpPr>
        <p:spPr>
          <a:xfrm>
            <a:off x="12595736" y="6045914"/>
            <a:ext cx="69655" cy="35056"/>
          </a:xfrm>
          <a:prstGeom prst="rect">
            <a:avLst/>
          </a:prstGeom>
          <a:solidFill>
            <a:srgbClr val="000000"/>
          </a:solidFill>
          <a:ln w="12700">
            <a:solidFill>
              <a:srgbClr val="000000">
                <a:alpha val="0"/>
              </a:srgbClr>
            </a:solidFill>
            <a:prstDash val="solid"/>
          </a:ln>
        </p:spPr>
      </p:sp>
      <p:sp>
        <p:nvSpPr>
          <p:cNvPr id="322" name="Shape 320"/>
          <p:cNvSpPr/>
          <p:nvPr/>
        </p:nvSpPr>
        <p:spPr>
          <a:xfrm>
            <a:off x="12803330" y="6045914"/>
            <a:ext cx="35056" cy="35056"/>
          </a:xfrm>
          <a:prstGeom prst="rect">
            <a:avLst/>
          </a:prstGeom>
          <a:solidFill>
            <a:srgbClr val="000000"/>
          </a:solidFill>
          <a:ln w="12700">
            <a:solidFill>
              <a:srgbClr val="000000">
                <a:alpha val="0"/>
              </a:srgbClr>
            </a:solidFill>
            <a:prstDash val="solid"/>
          </a:ln>
        </p:spPr>
      </p:sp>
      <p:sp>
        <p:nvSpPr>
          <p:cNvPr id="323" name="Shape 321"/>
          <p:cNvSpPr/>
          <p:nvPr/>
        </p:nvSpPr>
        <p:spPr>
          <a:xfrm>
            <a:off x="12872528" y="6045914"/>
            <a:ext cx="69655" cy="35056"/>
          </a:xfrm>
          <a:prstGeom prst="rect">
            <a:avLst/>
          </a:prstGeom>
          <a:solidFill>
            <a:srgbClr val="000000"/>
          </a:solidFill>
          <a:ln w="12700">
            <a:solidFill>
              <a:srgbClr val="000000">
                <a:alpha val="0"/>
              </a:srgbClr>
            </a:solidFill>
            <a:prstDash val="solid"/>
          </a:ln>
        </p:spPr>
      </p:sp>
      <p:sp>
        <p:nvSpPr>
          <p:cNvPr id="324" name="Shape 322"/>
          <p:cNvSpPr/>
          <p:nvPr/>
        </p:nvSpPr>
        <p:spPr>
          <a:xfrm>
            <a:off x="13045522" y="6045914"/>
            <a:ext cx="311847" cy="35056"/>
          </a:xfrm>
          <a:prstGeom prst="rect">
            <a:avLst/>
          </a:prstGeom>
          <a:solidFill>
            <a:srgbClr val="000000"/>
          </a:solidFill>
          <a:ln w="12700">
            <a:solidFill>
              <a:srgbClr val="000000">
                <a:alpha val="0"/>
              </a:srgbClr>
            </a:solidFill>
            <a:prstDash val="solid"/>
          </a:ln>
        </p:spPr>
      </p:sp>
      <p:sp>
        <p:nvSpPr>
          <p:cNvPr id="325" name="Shape 323"/>
          <p:cNvSpPr/>
          <p:nvPr/>
        </p:nvSpPr>
        <p:spPr>
          <a:xfrm>
            <a:off x="13460709" y="6045914"/>
            <a:ext cx="35056" cy="35056"/>
          </a:xfrm>
          <a:prstGeom prst="rect">
            <a:avLst/>
          </a:prstGeom>
          <a:solidFill>
            <a:srgbClr val="000000"/>
          </a:solidFill>
          <a:ln w="12700">
            <a:solidFill>
              <a:srgbClr val="000000">
                <a:alpha val="0"/>
              </a:srgbClr>
            </a:solidFill>
            <a:prstDash val="solid"/>
          </a:ln>
        </p:spPr>
      </p:sp>
      <p:sp>
        <p:nvSpPr>
          <p:cNvPr id="326" name="Shape 324"/>
          <p:cNvSpPr/>
          <p:nvPr/>
        </p:nvSpPr>
        <p:spPr>
          <a:xfrm>
            <a:off x="12526539" y="6080513"/>
            <a:ext cx="69655" cy="35056"/>
          </a:xfrm>
          <a:prstGeom prst="rect">
            <a:avLst/>
          </a:prstGeom>
          <a:solidFill>
            <a:srgbClr val="000000"/>
          </a:solidFill>
          <a:ln w="12700">
            <a:solidFill>
              <a:srgbClr val="000000">
                <a:alpha val="0"/>
              </a:srgbClr>
            </a:solidFill>
            <a:prstDash val="solid"/>
          </a:ln>
        </p:spPr>
      </p:sp>
      <p:sp>
        <p:nvSpPr>
          <p:cNvPr id="327" name="Shape 325"/>
          <p:cNvSpPr/>
          <p:nvPr/>
        </p:nvSpPr>
        <p:spPr>
          <a:xfrm>
            <a:off x="12664934" y="6080513"/>
            <a:ext cx="69655" cy="35056"/>
          </a:xfrm>
          <a:prstGeom prst="rect">
            <a:avLst/>
          </a:prstGeom>
          <a:solidFill>
            <a:srgbClr val="000000"/>
          </a:solidFill>
          <a:ln w="12700">
            <a:solidFill>
              <a:srgbClr val="000000">
                <a:alpha val="0"/>
              </a:srgbClr>
            </a:solidFill>
            <a:prstDash val="solid"/>
          </a:ln>
        </p:spPr>
      </p:sp>
      <p:sp>
        <p:nvSpPr>
          <p:cNvPr id="328" name="Shape 326"/>
          <p:cNvSpPr/>
          <p:nvPr/>
        </p:nvSpPr>
        <p:spPr>
          <a:xfrm>
            <a:off x="12768731" y="6080513"/>
            <a:ext cx="104254" cy="35056"/>
          </a:xfrm>
          <a:prstGeom prst="rect">
            <a:avLst/>
          </a:prstGeom>
          <a:solidFill>
            <a:srgbClr val="000000"/>
          </a:solidFill>
          <a:ln w="12700">
            <a:solidFill>
              <a:srgbClr val="000000">
                <a:alpha val="0"/>
              </a:srgbClr>
            </a:solidFill>
            <a:prstDash val="solid"/>
          </a:ln>
        </p:spPr>
      </p:sp>
      <p:sp>
        <p:nvSpPr>
          <p:cNvPr id="329" name="Shape 327"/>
          <p:cNvSpPr/>
          <p:nvPr/>
        </p:nvSpPr>
        <p:spPr>
          <a:xfrm>
            <a:off x="12907127" y="6080513"/>
            <a:ext cx="35056" cy="35056"/>
          </a:xfrm>
          <a:prstGeom prst="rect">
            <a:avLst/>
          </a:prstGeom>
          <a:solidFill>
            <a:srgbClr val="000000"/>
          </a:solidFill>
          <a:ln w="12700">
            <a:solidFill>
              <a:srgbClr val="000000">
                <a:alpha val="0"/>
              </a:srgbClr>
            </a:solidFill>
            <a:prstDash val="solid"/>
          </a:ln>
        </p:spPr>
      </p:sp>
      <p:sp>
        <p:nvSpPr>
          <p:cNvPr id="330" name="Shape 328"/>
          <p:cNvSpPr/>
          <p:nvPr/>
        </p:nvSpPr>
        <p:spPr>
          <a:xfrm>
            <a:off x="12976325" y="6080513"/>
            <a:ext cx="35056" cy="35056"/>
          </a:xfrm>
          <a:prstGeom prst="rect">
            <a:avLst/>
          </a:prstGeom>
          <a:solidFill>
            <a:srgbClr val="000000"/>
          </a:solidFill>
          <a:ln w="12700">
            <a:solidFill>
              <a:srgbClr val="000000">
                <a:alpha val="0"/>
              </a:srgbClr>
            </a:solidFill>
            <a:prstDash val="solid"/>
          </a:ln>
        </p:spPr>
      </p:sp>
      <p:sp>
        <p:nvSpPr>
          <p:cNvPr id="331" name="Shape 329"/>
          <p:cNvSpPr/>
          <p:nvPr/>
        </p:nvSpPr>
        <p:spPr>
          <a:xfrm>
            <a:off x="13045522" y="6080513"/>
            <a:ext cx="69655" cy="35056"/>
          </a:xfrm>
          <a:prstGeom prst="rect">
            <a:avLst/>
          </a:prstGeom>
          <a:solidFill>
            <a:srgbClr val="000000"/>
          </a:solidFill>
          <a:ln w="12700">
            <a:solidFill>
              <a:srgbClr val="000000">
                <a:alpha val="0"/>
              </a:srgbClr>
            </a:solidFill>
            <a:prstDash val="solid"/>
          </a:ln>
        </p:spPr>
      </p:sp>
      <p:sp>
        <p:nvSpPr>
          <p:cNvPr id="332" name="Shape 330"/>
          <p:cNvSpPr/>
          <p:nvPr/>
        </p:nvSpPr>
        <p:spPr>
          <a:xfrm>
            <a:off x="13183918" y="6080513"/>
            <a:ext cx="35056" cy="35056"/>
          </a:xfrm>
          <a:prstGeom prst="rect">
            <a:avLst/>
          </a:prstGeom>
          <a:solidFill>
            <a:srgbClr val="000000"/>
          </a:solidFill>
          <a:ln w="12700">
            <a:solidFill>
              <a:srgbClr val="000000">
                <a:alpha val="0"/>
              </a:srgbClr>
            </a:solidFill>
            <a:prstDash val="solid"/>
          </a:ln>
        </p:spPr>
      </p:sp>
      <p:sp>
        <p:nvSpPr>
          <p:cNvPr id="333" name="Shape 331"/>
          <p:cNvSpPr/>
          <p:nvPr/>
        </p:nvSpPr>
        <p:spPr>
          <a:xfrm>
            <a:off x="13253116" y="6080513"/>
            <a:ext cx="69655" cy="35056"/>
          </a:xfrm>
          <a:prstGeom prst="rect">
            <a:avLst/>
          </a:prstGeom>
          <a:solidFill>
            <a:srgbClr val="000000"/>
          </a:solidFill>
          <a:ln w="12700">
            <a:solidFill>
              <a:srgbClr val="000000">
                <a:alpha val="0"/>
              </a:srgbClr>
            </a:solidFill>
            <a:prstDash val="solid"/>
          </a:ln>
        </p:spPr>
      </p:sp>
      <p:sp>
        <p:nvSpPr>
          <p:cNvPr id="334" name="Shape 332"/>
          <p:cNvSpPr/>
          <p:nvPr/>
        </p:nvSpPr>
        <p:spPr>
          <a:xfrm>
            <a:off x="13391512" y="6080513"/>
            <a:ext cx="69655" cy="35056"/>
          </a:xfrm>
          <a:prstGeom prst="rect">
            <a:avLst/>
          </a:prstGeom>
          <a:solidFill>
            <a:srgbClr val="000000"/>
          </a:solidFill>
          <a:ln w="12700">
            <a:solidFill>
              <a:srgbClr val="000000">
                <a:alpha val="0"/>
              </a:srgbClr>
            </a:solidFill>
            <a:prstDash val="solid"/>
          </a:ln>
        </p:spPr>
      </p:sp>
      <p:sp>
        <p:nvSpPr>
          <p:cNvPr id="335" name="Shape 333"/>
          <p:cNvSpPr/>
          <p:nvPr/>
        </p:nvSpPr>
        <p:spPr>
          <a:xfrm>
            <a:off x="12561138" y="6115112"/>
            <a:ext cx="69655" cy="35056"/>
          </a:xfrm>
          <a:prstGeom prst="rect">
            <a:avLst/>
          </a:prstGeom>
          <a:solidFill>
            <a:srgbClr val="000000"/>
          </a:solidFill>
          <a:ln w="12700">
            <a:solidFill>
              <a:srgbClr val="000000">
                <a:alpha val="0"/>
              </a:srgbClr>
            </a:solidFill>
            <a:prstDash val="solid"/>
          </a:ln>
        </p:spPr>
      </p:sp>
      <p:sp>
        <p:nvSpPr>
          <p:cNvPr id="336" name="Shape 334"/>
          <p:cNvSpPr/>
          <p:nvPr/>
        </p:nvSpPr>
        <p:spPr>
          <a:xfrm>
            <a:off x="12664934" y="6115112"/>
            <a:ext cx="35056" cy="35056"/>
          </a:xfrm>
          <a:prstGeom prst="rect">
            <a:avLst/>
          </a:prstGeom>
          <a:solidFill>
            <a:srgbClr val="000000"/>
          </a:solidFill>
          <a:ln w="12700">
            <a:solidFill>
              <a:srgbClr val="000000">
                <a:alpha val="0"/>
              </a:srgbClr>
            </a:solidFill>
            <a:prstDash val="solid"/>
          </a:ln>
        </p:spPr>
      </p:sp>
      <p:sp>
        <p:nvSpPr>
          <p:cNvPr id="337" name="Shape 335"/>
          <p:cNvSpPr/>
          <p:nvPr/>
        </p:nvSpPr>
        <p:spPr>
          <a:xfrm>
            <a:off x="12734132" y="6115112"/>
            <a:ext cx="104254" cy="35056"/>
          </a:xfrm>
          <a:prstGeom prst="rect">
            <a:avLst/>
          </a:prstGeom>
          <a:solidFill>
            <a:srgbClr val="000000"/>
          </a:solidFill>
          <a:ln w="12700">
            <a:solidFill>
              <a:srgbClr val="000000">
                <a:alpha val="0"/>
              </a:srgbClr>
            </a:solidFill>
            <a:prstDash val="solid"/>
          </a:ln>
        </p:spPr>
      </p:sp>
      <p:sp>
        <p:nvSpPr>
          <p:cNvPr id="338" name="Shape 336"/>
          <p:cNvSpPr/>
          <p:nvPr/>
        </p:nvSpPr>
        <p:spPr>
          <a:xfrm>
            <a:off x="12907127" y="6115112"/>
            <a:ext cx="104254" cy="35056"/>
          </a:xfrm>
          <a:prstGeom prst="rect">
            <a:avLst/>
          </a:prstGeom>
          <a:solidFill>
            <a:srgbClr val="000000"/>
          </a:solidFill>
          <a:ln w="12700">
            <a:solidFill>
              <a:srgbClr val="000000">
                <a:alpha val="0"/>
              </a:srgbClr>
            </a:solidFill>
            <a:prstDash val="solid"/>
          </a:ln>
        </p:spPr>
      </p:sp>
      <p:sp>
        <p:nvSpPr>
          <p:cNvPr id="339" name="Shape 337"/>
          <p:cNvSpPr/>
          <p:nvPr/>
        </p:nvSpPr>
        <p:spPr>
          <a:xfrm>
            <a:off x="13114720" y="6115112"/>
            <a:ext cx="35056" cy="35056"/>
          </a:xfrm>
          <a:prstGeom prst="rect">
            <a:avLst/>
          </a:prstGeom>
          <a:solidFill>
            <a:srgbClr val="000000"/>
          </a:solidFill>
          <a:ln w="12700">
            <a:solidFill>
              <a:srgbClr val="000000">
                <a:alpha val="0"/>
              </a:srgbClr>
            </a:solidFill>
            <a:prstDash val="solid"/>
          </a:ln>
        </p:spPr>
      </p:sp>
      <p:sp>
        <p:nvSpPr>
          <p:cNvPr id="340" name="Shape 338"/>
          <p:cNvSpPr/>
          <p:nvPr/>
        </p:nvSpPr>
        <p:spPr>
          <a:xfrm>
            <a:off x="13183918" y="6115112"/>
            <a:ext cx="173452" cy="35056"/>
          </a:xfrm>
          <a:prstGeom prst="rect">
            <a:avLst/>
          </a:prstGeom>
          <a:solidFill>
            <a:srgbClr val="000000"/>
          </a:solidFill>
          <a:ln w="12700">
            <a:solidFill>
              <a:srgbClr val="000000">
                <a:alpha val="0"/>
              </a:srgbClr>
            </a:solidFill>
            <a:prstDash val="solid"/>
          </a:ln>
        </p:spPr>
      </p:sp>
      <p:sp>
        <p:nvSpPr>
          <p:cNvPr id="341" name="Shape 339"/>
          <p:cNvSpPr/>
          <p:nvPr/>
        </p:nvSpPr>
        <p:spPr>
          <a:xfrm>
            <a:off x="13460709" y="6115112"/>
            <a:ext cx="35056" cy="35056"/>
          </a:xfrm>
          <a:prstGeom prst="rect">
            <a:avLst/>
          </a:prstGeom>
          <a:solidFill>
            <a:srgbClr val="000000"/>
          </a:solidFill>
          <a:ln w="12700">
            <a:solidFill>
              <a:srgbClr val="000000">
                <a:alpha val="0"/>
              </a:srgbClr>
            </a:solidFill>
            <a:prstDash val="solid"/>
          </a:ln>
        </p:spPr>
      </p:sp>
      <p:sp>
        <p:nvSpPr>
          <p:cNvPr id="342" name="Shape 340"/>
          <p:cNvSpPr/>
          <p:nvPr/>
        </p:nvSpPr>
        <p:spPr>
          <a:xfrm>
            <a:off x="12491940" y="6149711"/>
            <a:ext cx="35056" cy="35056"/>
          </a:xfrm>
          <a:prstGeom prst="rect">
            <a:avLst/>
          </a:prstGeom>
          <a:solidFill>
            <a:srgbClr val="000000"/>
          </a:solidFill>
          <a:ln w="12700">
            <a:solidFill>
              <a:srgbClr val="000000">
                <a:alpha val="0"/>
              </a:srgbClr>
            </a:solidFill>
            <a:prstDash val="solid"/>
          </a:ln>
        </p:spPr>
      </p:sp>
      <p:sp>
        <p:nvSpPr>
          <p:cNvPr id="343" name="Shape 341"/>
          <p:cNvSpPr/>
          <p:nvPr/>
        </p:nvSpPr>
        <p:spPr>
          <a:xfrm>
            <a:off x="12561138" y="6149711"/>
            <a:ext cx="173452" cy="35056"/>
          </a:xfrm>
          <a:prstGeom prst="rect">
            <a:avLst/>
          </a:prstGeom>
          <a:solidFill>
            <a:srgbClr val="000000"/>
          </a:solidFill>
          <a:ln w="12700">
            <a:solidFill>
              <a:srgbClr val="000000">
                <a:alpha val="0"/>
              </a:srgbClr>
            </a:solidFill>
            <a:prstDash val="solid"/>
          </a:ln>
        </p:spPr>
      </p:sp>
      <p:sp>
        <p:nvSpPr>
          <p:cNvPr id="344" name="Shape 342"/>
          <p:cNvSpPr/>
          <p:nvPr/>
        </p:nvSpPr>
        <p:spPr>
          <a:xfrm>
            <a:off x="12803330" y="6149711"/>
            <a:ext cx="35056" cy="35056"/>
          </a:xfrm>
          <a:prstGeom prst="rect">
            <a:avLst/>
          </a:prstGeom>
          <a:solidFill>
            <a:srgbClr val="000000"/>
          </a:solidFill>
          <a:ln w="12700">
            <a:solidFill>
              <a:srgbClr val="000000">
                <a:alpha val="0"/>
              </a:srgbClr>
            </a:solidFill>
            <a:prstDash val="solid"/>
          </a:ln>
        </p:spPr>
      </p:sp>
      <p:sp>
        <p:nvSpPr>
          <p:cNvPr id="345" name="Shape 343"/>
          <p:cNvSpPr/>
          <p:nvPr/>
        </p:nvSpPr>
        <p:spPr>
          <a:xfrm>
            <a:off x="13010923" y="6149711"/>
            <a:ext cx="35056" cy="35056"/>
          </a:xfrm>
          <a:prstGeom prst="rect">
            <a:avLst/>
          </a:prstGeom>
          <a:solidFill>
            <a:srgbClr val="000000"/>
          </a:solidFill>
          <a:ln w="12700">
            <a:solidFill>
              <a:srgbClr val="000000">
                <a:alpha val="0"/>
              </a:srgbClr>
            </a:solidFill>
            <a:prstDash val="solid"/>
          </a:ln>
        </p:spPr>
      </p:sp>
      <p:sp>
        <p:nvSpPr>
          <p:cNvPr id="346" name="Shape 344"/>
          <p:cNvSpPr/>
          <p:nvPr/>
        </p:nvSpPr>
        <p:spPr>
          <a:xfrm>
            <a:off x="13080121" y="6149711"/>
            <a:ext cx="35056" cy="35056"/>
          </a:xfrm>
          <a:prstGeom prst="rect">
            <a:avLst/>
          </a:prstGeom>
          <a:solidFill>
            <a:srgbClr val="000000"/>
          </a:solidFill>
          <a:ln w="12700">
            <a:solidFill>
              <a:srgbClr val="000000">
                <a:alpha val="0"/>
              </a:srgbClr>
            </a:solidFill>
            <a:prstDash val="solid"/>
          </a:ln>
        </p:spPr>
      </p:sp>
      <p:sp>
        <p:nvSpPr>
          <p:cNvPr id="347" name="Shape 345"/>
          <p:cNvSpPr/>
          <p:nvPr/>
        </p:nvSpPr>
        <p:spPr>
          <a:xfrm>
            <a:off x="13149319" y="6149711"/>
            <a:ext cx="35056" cy="35056"/>
          </a:xfrm>
          <a:prstGeom prst="rect">
            <a:avLst/>
          </a:prstGeom>
          <a:solidFill>
            <a:srgbClr val="000000"/>
          </a:solidFill>
          <a:ln w="12700">
            <a:solidFill>
              <a:srgbClr val="000000">
                <a:alpha val="0"/>
              </a:srgbClr>
            </a:solidFill>
            <a:prstDash val="solid"/>
          </a:ln>
        </p:spPr>
      </p:sp>
      <p:sp>
        <p:nvSpPr>
          <p:cNvPr id="348" name="Shape 346"/>
          <p:cNvSpPr/>
          <p:nvPr/>
        </p:nvSpPr>
        <p:spPr>
          <a:xfrm>
            <a:off x="13356913" y="6149711"/>
            <a:ext cx="69655" cy="35056"/>
          </a:xfrm>
          <a:prstGeom prst="rect">
            <a:avLst/>
          </a:prstGeom>
          <a:solidFill>
            <a:srgbClr val="000000"/>
          </a:solidFill>
          <a:ln w="12700">
            <a:solidFill>
              <a:srgbClr val="000000">
                <a:alpha val="0"/>
              </a:srgbClr>
            </a:solidFill>
            <a:prstDash val="solid"/>
          </a:ln>
        </p:spPr>
      </p:sp>
      <p:sp>
        <p:nvSpPr>
          <p:cNvPr id="349" name="Shape 347"/>
          <p:cNvSpPr/>
          <p:nvPr/>
        </p:nvSpPr>
        <p:spPr>
          <a:xfrm>
            <a:off x="12491940" y="6184310"/>
            <a:ext cx="208051" cy="35056"/>
          </a:xfrm>
          <a:prstGeom prst="rect">
            <a:avLst/>
          </a:prstGeom>
          <a:solidFill>
            <a:srgbClr val="000000"/>
          </a:solidFill>
          <a:ln w="12700">
            <a:solidFill>
              <a:srgbClr val="000000">
                <a:alpha val="0"/>
              </a:srgbClr>
            </a:solidFill>
            <a:prstDash val="solid"/>
          </a:ln>
        </p:spPr>
      </p:sp>
      <p:sp>
        <p:nvSpPr>
          <p:cNvPr id="350" name="Shape 348"/>
          <p:cNvSpPr/>
          <p:nvPr/>
        </p:nvSpPr>
        <p:spPr>
          <a:xfrm>
            <a:off x="12768731" y="6184310"/>
            <a:ext cx="208051" cy="35056"/>
          </a:xfrm>
          <a:prstGeom prst="rect">
            <a:avLst/>
          </a:prstGeom>
          <a:solidFill>
            <a:srgbClr val="000000"/>
          </a:solidFill>
          <a:ln w="12700">
            <a:solidFill>
              <a:srgbClr val="000000">
                <a:alpha val="0"/>
              </a:srgbClr>
            </a:solidFill>
            <a:prstDash val="solid"/>
          </a:ln>
        </p:spPr>
      </p:sp>
      <p:sp>
        <p:nvSpPr>
          <p:cNvPr id="351" name="Shape 349"/>
          <p:cNvSpPr/>
          <p:nvPr/>
        </p:nvSpPr>
        <p:spPr>
          <a:xfrm>
            <a:off x="13010923" y="6184310"/>
            <a:ext cx="69655" cy="35056"/>
          </a:xfrm>
          <a:prstGeom prst="rect">
            <a:avLst/>
          </a:prstGeom>
          <a:solidFill>
            <a:srgbClr val="000000"/>
          </a:solidFill>
          <a:ln w="12700">
            <a:solidFill>
              <a:srgbClr val="000000">
                <a:alpha val="0"/>
              </a:srgbClr>
            </a:solidFill>
            <a:prstDash val="solid"/>
          </a:ln>
        </p:spPr>
      </p:sp>
      <p:sp>
        <p:nvSpPr>
          <p:cNvPr id="352" name="Shape 350"/>
          <p:cNvSpPr/>
          <p:nvPr/>
        </p:nvSpPr>
        <p:spPr>
          <a:xfrm>
            <a:off x="13149319" y="6184310"/>
            <a:ext cx="69655" cy="35056"/>
          </a:xfrm>
          <a:prstGeom prst="rect">
            <a:avLst/>
          </a:prstGeom>
          <a:solidFill>
            <a:srgbClr val="000000"/>
          </a:solidFill>
          <a:ln w="12700">
            <a:solidFill>
              <a:srgbClr val="000000">
                <a:alpha val="0"/>
              </a:srgbClr>
            </a:solidFill>
            <a:prstDash val="solid"/>
          </a:ln>
        </p:spPr>
      </p:sp>
      <p:sp>
        <p:nvSpPr>
          <p:cNvPr id="353" name="Shape 351"/>
          <p:cNvSpPr/>
          <p:nvPr/>
        </p:nvSpPr>
        <p:spPr>
          <a:xfrm>
            <a:off x="13253116" y="6184310"/>
            <a:ext cx="35056" cy="35056"/>
          </a:xfrm>
          <a:prstGeom prst="rect">
            <a:avLst/>
          </a:prstGeom>
          <a:solidFill>
            <a:srgbClr val="000000"/>
          </a:solidFill>
          <a:ln w="12700">
            <a:solidFill>
              <a:srgbClr val="000000">
                <a:alpha val="0"/>
              </a:srgbClr>
            </a:solidFill>
            <a:prstDash val="solid"/>
          </a:ln>
        </p:spPr>
      </p:sp>
      <p:sp>
        <p:nvSpPr>
          <p:cNvPr id="354" name="Shape 352"/>
          <p:cNvSpPr/>
          <p:nvPr/>
        </p:nvSpPr>
        <p:spPr>
          <a:xfrm>
            <a:off x="13391512" y="6184310"/>
            <a:ext cx="104254" cy="35056"/>
          </a:xfrm>
          <a:prstGeom prst="rect">
            <a:avLst/>
          </a:prstGeom>
          <a:solidFill>
            <a:srgbClr val="000000"/>
          </a:solidFill>
          <a:ln w="12700">
            <a:solidFill>
              <a:srgbClr val="000000">
                <a:alpha val="0"/>
              </a:srgbClr>
            </a:solidFill>
            <a:prstDash val="solid"/>
          </a:ln>
        </p:spPr>
      </p:sp>
      <p:sp>
        <p:nvSpPr>
          <p:cNvPr id="355" name="Shape 353"/>
          <p:cNvSpPr/>
          <p:nvPr/>
        </p:nvSpPr>
        <p:spPr>
          <a:xfrm>
            <a:off x="12491940" y="6218909"/>
            <a:ext cx="104254" cy="35056"/>
          </a:xfrm>
          <a:prstGeom prst="rect">
            <a:avLst/>
          </a:prstGeom>
          <a:solidFill>
            <a:srgbClr val="000000"/>
          </a:solidFill>
          <a:ln w="12700">
            <a:solidFill>
              <a:srgbClr val="000000">
                <a:alpha val="0"/>
              </a:srgbClr>
            </a:solidFill>
            <a:prstDash val="solid"/>
          </a:ln>
        </p:spPr>
      </p:sp>
      <p:sp>
        <p:nvSpPr>
          <p:cNvPr id="356" name="Shape 354"/>
          <p:cNvSpPr/>
          <p:nvPr/>
        </p:nvSpPr>
        <p:spPr>
          <a:xfrm>
            <a:off x="12664934" y="6218909"/>
            <a:ext cx="69655" cy="35056"/>
          </a:xfrm>
          <a:prstGeom prst="rect">
            <a:avLst/>
          </a:prstGeom>
          <a:solidFill>
            <a:srgbClr val="000000"/>
          </a:solidFill>
          <a:ln w="12700">
            <a:solidFill>
              <a:srgbClr val="000000">
                <a:alpha val="0"/>
              </a:srgbClr>
            </a:solidFill>
            <a:prstDash val="solid"/>
          </a:ln>
        </p:spPr>
      </p:sp>
      <p:sp>
        <p:nvSpPr>
          <p:cNvPr id="357" name="Shape 355"/>
          <p:cNvSpPr/>
          <p:nvPr/>
        </p:nvSpPr>
        <p:spPr>
          <a:xfrm>
            <a:off x="12803330" y="6218909"/>
            <a:ext cx="69655" cy="35056"/>
          </a:xfrm>
          <a:prstGeom prst="rect">
            <a:avLst/>
          </a:prstGeom>
          <a:solidFill>
            <a:srgbClr val="000000"/>
          </a:solidFill>
          <a:ln w="12700">
            <a:solidFill>
              <a:srgbClr val="000000">
                <a:alpha val="0"/>
              </a:srgbClr>
            </a:solidFill>
            <a:prstDash val="solid"/>
          </a:ln>
        </p:spPr>
      </p:sp>
      <p:sp>
        <p:nvSpPr>
          <p:cNvPr id="358" name="Shape 356"/>
          <p:cNvSpPr/>
          <p:nvPr/>
        </p:nvSpPr>
        <p:spPr>
          <a:xfrm>
            <a:off x="12907127" y="6218909"/>
            <a:ext cx="35056" cy="35056"/>
          </a:xfrm>
          <a:prstGeom prst="rect">
            <a:avLst/>
          </a:prstGeom>
          <a:solidFill>
            <a:srgbClr val="000000"/>
          </a:solidFill>
          <a:ln w="12700">
            <a:solidFill>
              <a:srgbClr val="000000">
                <a:alpha val="0"/>
              </a:srgbClr>
            </a:solidFill>
            <a:prstDash val="solid"/>
          </a:ln>
        </p:spPr>
      </p:sp>
      <p:sp>
        <p:nvSpPr>
          <p:cNvPr id="359" name="Shape 357"/>
          <p:cNvSpPr/>
          <p:nvPr/>
        </p:nvSpPr>
        <p:spPr>
          <a:xfrm>
            <a:off x="12976325" y="6218909"/>
            <a:ext cx="35056" cy="35056"/>
          </a:xfrm>
          <a:prstGeom prst="rect">
            <a:avLst/>
          </a:prstGeom>
          <a:solidFill>
            <a:srgbClr val="000000"/>
          </a:solidFill>
          <a:ln w="12700">
            <a:solidFill>
              <a:srgbClr val="000000">
                <a:alpha val="0"/>
              </a:srgbClr>
            </a:solidFill>
            <a:prstDash val="solid"/>
          </a:ln>
        </p:spPr>
      </p:sp>
      <p:sp>
        <p:nvSpPr>
          <p:cNvPr id="360" name="Shape 358"/>
          <p:cNvSpPr/>
          <p:nvPr/>
        </p:nvSpPr>
        <p:spPr>
          <a:xfrm>
            <a:off x="13080121" y="6218909"/>
            <a:ext cx="104254" cy="35056"/>
          </a:xfrm>
          <a:prstGeom prst="rect">
            <a:avLst/>
          </a:prstGeom>
          <a:solidFill>
            <a:srgbClr val="000000"/>
          </a:solidFill>
          <a:ln w="12700">
            <a:solidFill>
              <a:srgbClr val="000000">
                <a:alpha val="0"/>
              </a:srgbClr>
            </a:solidFill>
            <a:prstDash val="solid"/>
          </a:ln>
        </p:spPr>
      </p:sp>
      <p:sp>
        <p:nvSpPr>
          <p:cNvPr id="361" name="Shape 359"/>
          <p:cNvSpPr/>
          <p:nvPr/>
        </p:nvSpPr>
        <p:spPr>
          <a:xfrm>
            <a:off x="13218517" y="6218909"/>
            <a:ext cx="35056" cy="35056"/>
          </a:xfrm>
          <a:prstGeom prst="rect">
            <a:avLst/>
          </a:prstGeom>
          <a:solidFill>
            <a:srgbClr val="000000"/>
          </a:solidFill>
          <a:ln w="12700">
            <a:solidFill>
              <a:srgbClr val="000000">
                <a:alpha val="0"/>
              </a:srgbClr>
            </a:solidFill>
            <a:prstDash val="solid"/>
          </a:ln>
        </p:spPr>
      </p:sp>
      <p:sp>
        <p:nvSpPr>
          <p:cNvPr id="362" name="Shape 360"/>
          <p:cNvSpPr/>
          <p:nvPr/>
        </p:nvSpPr>
        <p:spPr>
          <a:xfrm>
            <a:off x="13322314" y="6218909"/>
            <a:ext cx="35056" cy="35056"/>
          </a:xfrm>
          <a:prstGeom prst="rect">
            <a:avLst/>
          </a:prstGeom>
          <a:solidFill>
            <a:srgbClr val="000000"/>
          </a:solidFill>
          <a:ln w="12700">
            <a:solidFill>
              <a:srgbClr val="000000">
                <a:alpha val="0"/>
              </a:srgbClr>
            </a:solidFill>
            <a:prstDash val="solid"/>
          </a:ln>
        </p:spPr>
      </p:sp>
      <p:sp>
        <p:nvSpPr>
          <p:cNvPr id="363" name="Shape 361"/>
          <p:cNvSpPr/>
          <p:nvPr/>
        </p:nvSpPr>
        <p:spPr>
          <a:xfrm>
            <a:off x="13391512" y="6218909"/>
            <a:ext cx="104254" cy="35056"/>
          </a:xfrm>
          <a:prstGeom prst="rect">
            <a:avLst/>
          </a:prstGeom>
          <a:solidFill>
            <a:srgbClr val="000000"/>
          </a:solidFill>
          <a:ln w="12700">
            <a:solidFill>
              <a:srgbClr val="000000">
                <a:alpha val="0"/>
              </a:srgbClr>
            </a:solidFill>
            <a:prstDash val="solid"/>
          </a:ln>
        </p:spPr>
      </p:sp>
      <p:sp>
        <p:nvSpPr>
          <p:cNvPr id="364" name="Shape 362"/>
          <p:cNvSpPr/>
          <p:nvPr/>
        </p:nvSpPr>
        <p:spPr>
          <a:xfrm>
            <a:off x="12491940" y="6253507"/>
            <a:ext cx="35056" cy="35056"/>
          </a:xfrm>
          <a:prstGeom prst="rect">
            <a:avLst/>
          </a:prstGeom>
          <a:solidFill>
            <a:srgbClr val="000000"/>
          </a:solidFill>
          <a:ln w="12700">
            <a:solidFill>
              <a:srgbClr val="000000">
                <a:alpha val="0"/>
              </a:srgbClr>
            </a:solidFill>
            <a:prstDash val="solid"/>
          </a:ln>
        </p:spPr>
      </p:sp>
      <p:sp>
        <p:nvSpPr>
          <p:cNvPr id="365" name="Shape 363"/>
          <p:cNvSpPr/>
          <p:nvPr/>
        </p:nvSpPr>
        <p:spPr>
          <a:xfrm>
            <a:off x="12561138" y="6253507"/>
            <a:ext cx="69655" cy="35056"/>
          </a:xfrm>
          <a:prstGeom prst="rect">
            <a:avLst/>
          </a:prstGeom>
          <a:solidFill>
            <a:srgbClr val="000000"/>
          </a:solidFill>
          <a:ln w="12700">
            <a:solidFill>
              <a:srgbClr val="000000">
                <a:alpha val="0"/>
              </a:srgbClr>
            </a:solidFill>
            <a:prstDash val="solid"/>
          </a:ln>
        </p:spPr>
      </p:sp>
      <p:sp>
        <p:nvSpPr>
          <p:cNvPr id="366" name="Shape 364"/>
          <p:cNvSpPr/>
          <p:nvPr/>
        </p:nvSpPr>
        <p:spPr>
          <a:xfrm>
            <a:off x="12664934" y="6253507"/>
            <a:ext cx="35056" cy="35056"/>
          </a:xfrm>
          <a:prstGeom prst="rect">
            <a:avLst/>
          </a:prstGeom>
          <a:solidFill>
            <a:srgbClr val="000000"/>
          </a:solidFill>
          <a:ln w="12700">
            <a:solidFill>
              <a:srgbClr val="000000">
                <a:alpha val="0"/>
              </a:srgbClr>
            </a:solidFill>
            <a:prstDash val="solid"/>
          </a:ln>
        </p:spPr>
      </p:sp>
      <p:sp>
        <p:nvSpPr>
          <p:cNvPr id="367" name="Shape 365"/>
          <p:cNvSpPr/>
          <p:nvPr/>
        </p:nvSpPr>
        <p:spPr>
          <a:xfrm>
            <a:off x="12734132" y="6253507"/>
            <a:ext cx="69655" cy="35056"/>
          </a:xfrm>
          <a:prstGeom prst="rect">
            <a:avLst/>
          </a:prstGeom>
          <a:solidFill>
            <a:srgbClr val="000000"/>
          </a:solidFill>
          <a:ln w="12700">
            <a:solidFill>
              <a:srgbClr val="000000">
                <a:alpha val="0"/>
              </a:srgbClr>
            </a:solidFill>
            <a:prstDash val="solid"/>
          </a:ln>
        </p:spPr>
      </p:sp>
      <p:sp>
        <p:nvSpPr>
          <p:cNvPr id="368" name="Shape 366"/>
          <p:cNvSpPr/>
          <p:nvPr/>
        </p:nvSpPr>
        <p:spPr>
          <a:xfrm>
            <a:off x="12837929" y="6253507"/>
            <a:ext cx="35056" cy="35056"/>
          </a:xfrm>
          <a:prstGeom prst="rect">
            <a:avLst/>
          </a:prstGeom>
          <a:solidFill>
            <a:srgbClr val="000000"/>
          </a:solidFill>
          <a:ln w="12700">
            <a:solidFill>
              <a:srgbClr val="000000">
                <a:alpha val="0"/>
              </a:srgbClr>
            </a:solidFill>
            <a:prstDash val="solid"/>
          </a:ln>
        </p:spPr>
      </p:sp>
      <p:sp>
        <p:nvSpPr>
          <p:cNvPr id="369" name="Shape 367"/>
          <p:cNvSpPr/>
          <p:nvPr/>
        </p:nvSpPr>
        <p:spPr>
          <a:xfrm>
            <a:off x="12941726" y="6253507"/>
            <a:ext cx="35056" cy="35056"/>
          </a:xfrm>
          <a:prstGeom prst="rect">
            <a:avLst/>
          </a:prstGeom>
          <a:solidFill>
            <a:srgbClr val="000000"/>
          </a:solidFill>
          <a:ln w="12700">
            <a:solidFill>
              <a:srgbClr val="000000">
                <a:alpha val="0"/>
              </a:srgbClr>
            </a:solidFill>
            <a:prstDash val="solid"/>
          </a:ln>
        </p:spPr>
      </p:sp>
      <p:sp>
        <p:nvSpPr>
          <p:cNvPr id="370" name="Shape 368"/>
          <p:cNvSpPr/>
          <p:nvPr/>
        </p:nvSpPr>
        <p:spPr>
          <a:xfrm>
            <a:off x="13045522" y="6253507"/>
            <a:ext cx="35056" cy="35056"/>
          </a:xfrm>
          <a:prstGeom prst="rect">
            <a:avLst/>
          </a:prstGeom>
          <a:solidFill>
            <a:srgbClr val="000000"/>
          </a:solidFill>
          <a:ln w="12700">
            <a:solidFill>
              <a:srgbClr val="000000">
                <a:alpha val="0"/>
              </a:srgbClr>
            </a:solidFill>
            <a:prstDash val="solid"/>
          </a:ln>
        </p:spPr>
      </p:sp>
      <p:sp>
        <p:nvSpPr>
          <p:cNvPr id="371" name="Shape 369"/>
          <p:cNvSpPr/>
          <p:nvPr/>
        </p:nvSpPr>
        <p:spPr>
          <a:xfrm>
            <a:off x="13114720" y="6253507"/>
            <a:ext cx="208051" cy="35056"/>
          </a:xfrm>
          <a:prstGeom prst="rect">
            <a:avLst/>
          </a:prstGeom>
          <a:solidFill>
            <a:srgbClr val="000000"/>
          </a:solidFill>
          <a:ln w="12700">
            <a:solidFill>
              <a:srgbClr val="000000">
                <a:alpha val="0"/>
              </a:srgbClr>
            </a:solidFill>
            <a:prstDash val="solid"/>
          </a:ln>
        </p:spPr>
      </p:sp>
      <p:sp>
        <p:nvSpPr>
          <p:cNvPr id="372" name="Shape 370"/>
          <p:cNvSpPr/>
          <p:nvPr/>
        </p:nvSpPr>
        <p:spPr>
          <a:xfrm>
            <a:off x="13426110" y="6253507"/>
            <a:ext cx="35056" cy="35056"/>
          </a:xfrm>
          <a:prstGeom prst="rect">
            <a:avLst/>
          </a:prstGeom>
          <a:solidFill>
            <a:srgbClr val="000000"/>
          </a:solidFill>
          <a:ln w="12700">
            <a:solidFill>
              <a:srgbClr val="000000">
                <a:alpha val="0"/>
              </a:srgbClr>
            </a:solidFill>
            <a:prstDash val="solid"/>
          </a:ln>
        </p:spPr>
      </p:sp>
      <p:sp>
        <p:nvSpPr>
          <p:cNvPr id="373" name="Shape 371"/>
          <p:cNvSpPr/>
          <p:nvPr/>
        </p:nvSpPr>
        <p:spPr>
          <a:xfrm>
            <a:off x="12664934" y="6288106"/>
            <a:ext cx="69655" cy="35056"/>
          </a:xfrm>
          <a:prstGeom prst="rect">
            <a:avLst/>
          </a:prstGeom>
          <a:solidFill>
            <a:srgbClr val="000000"/>
          </a:solidFill>
          <a:ln w="12700">
            <a:solidFill>
              <a:srgbClr val="000000">
                <a:alpha val="0"/>
              </a:srgbClr>
            </a:solidFill>
            <a:prstDash val="solid"/>
          </a:ln>
        </p:spPr>
      </p:sp>
      <p:sp>
        <p:nvSpPr>
          <p:cNvPr id="374" name="Shape 372"/>
          <p:cNvSpPr/>
          <p:nvPr/>
        </p:nvSpPr>
        <p:spPr>
          <a:xfrm>
            <a:off x="12803330" y="6288106"/>
            <a:ext cx="35056" cy="35056"/>
          </a:xfrm>
          <a:prstGeom prst="rect">
            <a:avLst/>
          </a:prstGeom>
          <a:solidFill>
            <a:srgbClr val="000000"/>
          </a:solidFill>
          <a:ln w="12700">
            <a:solidFill>
              <a:srgbClr val="000000">
                <a:alpha val="0"/>
              </a:srgbClr>
            </a:solidFill>
            <a:prstDash val="solid"/>
          </a:ln>
        </p:spPr>
      </p:sp>
      <p:sp>
        <p:nvSpPr>
          <p:cNvPr id="375" name="Shape 373"/>
          <p:cNvSpPr/>
          <p:nvPr/>
        </p:nvSpPr>
        <p:spPr>
          <a:xfrm>
            <a:off x="12872528" y="6288106"/>
            <a:ext cx="69655" cy="35056"/>
          </a:xfrm>
          <a:prstGeom prst="rect">
            <a:avLst/>
          </a:prstGeom>
          <a:solidFill>
            <a:srgbClr val="000000"/>
          </a:solidFill>
          <a:ln w="12700">
            <a:solidFill>
              <a:srgbClr val="000000">
                <a:alpha val="0"/>
              </a:srgbClr>
            </a:solidFill>
            <a:prstDash val="solid"/>
          </a:ln>
        </p:spPr>
      </p:sp>
      <p:sp>
        <p:nvSpPr>
          <p:cNvPr id="376" name="Shape 374"/>
          <p:cNvSpPr/>
          <p:nvPr/>
        </p:nvSpPr>
        <p:spPr>
          <a:xfrm>
            <a:off x="13149319" y="6288106"/>
            <a:ext cx="104254" cy="35056"/>
          </a:xfrm>
          <a:prstGeom prst="rect">
            <a:avLst/>
          </a:prstGeom>
          <a:solidFill>
            <a:srgbClr val="000000"/>
          </a:solidFill>
          <a:ln w="12700">
            <a:solidFill>
              <a:srgbClr val="000000">
                <a:alpha val="0"/>
              </a:srgbClr>
            </a:solidFill>
            <a:prstDash val="solid"/>
          </a:ln>
        </p:spPr>
      </p:sp>
      <p:sp>
        <p:nvSpPr>
          <p:cNvPr id="377" name="Shape 375"/>
          <p:cNvSpPr/>
          <p:nvPr/>
        </p:nvSpPr>
        <p:spPr>
          <a:xfrm>
            <a:off x="13287715" y="6288106"/>
            <a:ext cx="104254" cy="35056"/>
          </a:xfrm>
          <a:prstGeom prst="rect">
            <a:avLst/>
          </a:prstGeom>
          <a:solidFill>
            <a:srgbClr val="000000"/>
          </a:solidFill>
          <a:ln w="12700">
            <a:solidFill>
              <a:srgbClr val="000000">
                <a:alpha val="0"/>
              </a:srgbClr>
            </a:solidFill>
            <a:prstDash val="solid"/>
          </a:ln>
        </p:spPr>
      </p:sp>
      <p:sp>
        <p:nvSpPr>
          <p:cNvPr id="378" name="Shape 376"/>
          <p:cNvSpPr/>
          <p:nvPr/>
        </p:nvSpPr>
        <p:spPr>
          <a:xfrm>
            <a:off x="13426110" y="6288106"/>
            <a:ext cx="35056" cy="35056"/>
          </a:xfrm>
          <a:prstGeom prst="rect">
            <a:avLst/>
          </a:prstGeom>
          <a:solidFill>
            <a:srgbClr val="000000"/>
          </a:solidFill>
          <a:ln w="12700">
            <a:solidFill>
              <a:srgbClr val="000000">
                <a:alpha val="0"/>
              </a:srgbClr>
            </a:solidFill>
            <a:prstDash val="solid"/>
          </a:ln>
        </p:spPr>
      </p:sp>
      <p:sp>
        <p:nvSpPr>
          <p:cNvPr id="379" name="Shape 377"/>
          <p:cNvSpPr/>
          <p:nvPr/>
        </p:nvSpPr>
        <p:spPr>
          <a:xfrm>
            <a:off x="12595736" y="6322705"/>
            <a:ext cx="35056" cy="35056"/>
          </a:xfrm>
          <a:prstGeom prst="rect">
            <a:avLst/>
          </a:prstGeom>
          <a:solidFill>
            <a:srgbClr val="000000"/>
          </a:solidFill>
          <a:ln w="12700">
            <a:solidFill>
              <a:srgbClr val="000000">
                <a:alpha val="0"/>
              </a:srgbClr>
            </a:solidFill>
            <a:prstDash val="solid"/>
          </a:ln>
        </p:spPr>
      </p:sp>
      <p:sp>
        <p:nvSpPr>
          <p:cNvPr id="380" name="Shape 378"/>
          <p:cNvSpPr/>
          <p:nvPr/>
        </p:nvSpPr>
        <p:spPr>
          <a:xfrm>
            <a:off x="12768731" y="6322705"/>
            <a:ext cx="208051" cy="35056"/>
          </a:xfrm>
          <a:prstGeom prst="rect">
            <a:avLst/>
          </a:prstGeom>
          <a:solidFill>
            <a:srgbClr val="000000"/>
          </a:solidFill>
          <a:ln w="12700">
            <a:solidFill>
              <a:srgbClr val="000000">
                <a:alpha val="0"/>
              </a:srgbClr>
            </a:solidFill>
            <a:prstDash val="solid"/>
          </a:ln>
        </p:spPr>
      </p:sp>
      <p:sp>
        <p:nvSpPr>
          <p:cNvPr id="381" name="Shape 379"/>
          <p:cNvSpPr/>
          <p:nvPr/>
        </p:nvSpPr>
        <p:spPr>
          <a:xfrm>
            <a:off x="13010923" y="6322705"/>
            <a:ext cx="35056" cy="35056"/>
          </a:xfrm>
          <a:prstGeom prst="rect">
            <a:avLst/>
          </a:prstGeom>
          <a:solidFill>
            <a:srgbClr val="000000"/>
          </a:solidFill>
          <a:ln w="12700">
            <a:solidFill>
              <a:srgbClr val="000000">
                <a:alpha val="0"/>
              </a:srgbClr>
            </a:solidFill>
            <a:prstDash val="solid"/>
          </a:ln>
        </p:spPr>
      </p:sp>
      <p:sp>
        <p:nvSpPr>
          <p:cNvPr id="382" name="Shape 380"/>
          <p:cNvSpPr/>
          <p:nvPr/>
        </p:nvSpPr>
        <p:spPr>
          <a:xfrm>
            <a:off x="13080121" y="6322705"/>
            <a:ext cx="35056" cy="35056"/>
          </a:xfrm>
          <a:prstGeom prst="rect">
            <a:avLst/>
          </a:prstGeom>
          <a:solidFill>
            <a:srgbClr val="000000"/>
          </a:solidFill>
          <a:ln w="12700">
            <a:solidFill>
              <a:srgbClr val="000000">
                <a:alpha val="0"/>
              </a:srgbClr>
            </a:solidFill>
            <a:prstDash val="solid"/>
          </a:ln>
        </p:spPr>
      </p:sp>
      <p:sp>
        <p:nvSpPr>
          <p:cNvPr id="383" name="Shape 381"/>
          <p:cNvSpPr/>
          <p:nvPr/>
        </p:nvSpPr>
        <p:spPr>
          <a:xfrm>
            <a:off x="13183918" y="6322705"/>
            <a:ext cx="35056" cy="35056"/>
          </a:xfrm>
          <a:prstGeom prst="rect">
            <a:avLst/>
          </a:prstGeom>
          <a:solidFill>
            <a:srgbClr val="000000"/>
          </a:solidFill>
          <a:ln w="12700">
            <a:solidFill>
              <a:srgbClr val="000000">
                <a:alpha val="0"/>
              </a:srgbClr>
            </a:solidFill>
            <a:prstDash val="solid"/>
          </a:ln>
        </p:spPr>
      </p:sp>
      <p:sp>
        <p:nvSpPr>
          <p:cNvPr id="384" name="Shape 382"/>
          <p:cNvSpPr/>
          <p:nvPr/>
        </p:nvSpPr>
        <p:spPr>
          <a:xfrm>
            <a:off x="13356913" y="6322705"/>
            <a:ext cx="104254" cy="35056"/>
          </a:xfrm>
          <a:prstGeom prst="rect">
            <a:avLst/>
          </a:prstGeom>
          <a:solidFill>
            <a:srgbClr val="000000"/>
          </a:solidFill>
          <a:ln w="12700">
            <a:solidFill>
              <a:srgbClr val="000000">
                <a:alpha val="0"/>
              </a:srgbClr>
            </a:solidFill>
            <a:prstDash val="solid"/>
          </a:ln>
        </p:spPr>
      </p:sp>
      <p:sp>
        <p:nvSpPr>
          <p:cNvPr id="385" name="Shape 383"/>
          <p:cNvSpPr/>
          <p:nvPr/>
        </p:nvSpPr>
        <p:spPr>
          <a:xfrm>
            <a:off x="12491940" y="6357304"/>
            <a:ext cx="35056" cy="35056"/>
          </a:xfrm>
          <a:prstGeom prst="rect">
            <a:avLst/>
          </a:prstGeom>
          <a:solidFill>
            <a:srgbClr val="000000"/>
          </a:solidFill>
          <a:ln w="12700">
            <a:solidFill>
              <a:srgbClr val="000000">
                <a:alpha val="0"/>
              </a:srgbClr>
            </a:solidFill>
            <a:prstDash val="solid"/>
          </a:ln>
        </p:spPr>
      </p:sp>
      <p:sp>
        <p:nvSpPr>
          <p:cNvPr id="386" name="Shape 384"/>
          <p:cNvSpPr/>
          <p:nvPr/>
        </p:nvSpPr>
        <p:spPr>
          <a:xfrm>
            <a:off x="12561138" y="6357304"/>
            <a:ext cx="69655" cy="35056"/>
          </a:xfrm>
          <a:prstGeom prst="rect">
            <a:avLst/>
          </a:prstGeom>
          <a:solidFill>
            <a:srgbClr val="000000"/>
          </a:solidFill>
          <a:ln w="12700">
            <a:solidFill>
              <a:srgbClr val="000000">
                <a:alpha val="0"/>
              </a:srgbClr>
            </a:solidFill>
            <a:prstDash val="solid"/>
          </a:ln>
        </p:spPr>
      </p:sp>
      <p:sp>
        <p:nvSpPr>
          <p:cNvPr id="387" name="Shape 385"/>
          <p:cNvSpPr/>
          <p:nvPr/>
        </p:nvSpPr>
        <p:spPr>
          <a:xfrm>
            <a:off x="12699533" y="6357304"/>
            <a:ext cx="69655" cy="35056"/>
          </a:xfrm>
          <a:prstGeom prst="rect">
            <a:avLst/>
          </a:prstGeom>
          <a:solidFill>
            <a:srgbClr val="000000"/>
          </a:solidFill>
          <a:ln w="12700">
            <a:solidFill>
              <a:srgbClr val="000000">
                <a:alpha val="0"/>
              </a:srgbClr>
            </a:solidFill>
            <a:prstDash val="solid"/>
          </a:ln>
        </p:spPr>
      </p:sp>
      <p:sp>
        <p:nvSpPr>
          <p:cNvPr id="388" name="Shape 386"/>
          <p:cNvSpPr/>
          <p:nvPr/>
        </p:nvSpPr>
        <p:spPr>
          <a:xfrm>
            <a:off x="12837929" y="6357304"/>
            <a:ext cx="35056" cy="35056"/>
          </a:xfrm>
          <a:prstGeom prst="rect">
            <a:avLst/>
          </a:prstGeom>
          <a:solidFill>
            <a:srgbClr val="000000"/>
          </a:solidFill>
          <a:ln w="12700">
            <a:solidFill>
              <a:srgbClr val="000000">
                <a:alpha val="0"/>
              </a:srgbClr>
            </a:solidFill>
            <a:prstDash val="solid"/>
          </a:ln>
        </p:spPr>
      </p:sp>
      <p:sp>
        <p:nvSpPr>
          <p:cNvPr id="389" name="Shape 387"/>
          <p:cNvSpPr/>
          <p:nvPr/>
        </p:nvSpPr>
        <p:spPr>
          <a:xfrm>
            <a:off x="12907127" y="6357304"/>
            <a:ext cx="35056" cy="35056"/>
          </a:xfrm>
          <a:prstGeom prst="rect">
            <a:avLst/>
          </a:prstGeom>
          <a:solidFill>
            <a:srgbClr val="000000"/>
          </a:solidFill>
          <a:ln w="12700">
            <a:solidFill>
              <a:srgbClr val="000000">
                <a:alpha val="0"/>
              </a:srgbClr>
            </a:solidFill>
            <a:prstDash val="solid"/>
          </a:ln>
        </p:spPr>
      </p:sp>
      <p:sp>
        <p:nvSpPr>
          <p:cNvPr id="390" name="Shape 388"/>
          <p:cNvSpPr/>
          <p:nvPr/>
        </p:nvSpPr>
        <p:spPr>
          <a:xfrm>
            <a:off x="13010923" y="6357304"/>
            <a:ext cx="104254" cy="35056"/>
          </a:xfrm>
          <a:prstGeom prst="rect">
            <a:avLst/>
          </a:prstGeom>
          <a:solidFill>
            <a:srgbClr val="000000"/>
          </a:solidFill>
          <a:ln w="12700">
            <a:solidFill>
              <a:srgbClr val="000000">
                <a:alpha val="0"/>
              </a:srgbClr>
            </a:solidFill>
            <a:prstDash val="solid"/>
          </a:ln>
        </p:spPr>
      </p:sp>
      <p:sp>
        <p:nvSpPr>
          <p:cNvPr id="391" name="Shape 389"/>
          <p:cNvSpPr/>
          <p:nvPr/>
        </p:nvSpPr>
        <p:spPr>
          <a:xfrm>
            <a:off x="13183918" y="6357304"/>
            <a:ext cx="138853" cy="35056"/>
          </a:xfrm>
          <a:prstGeom prst="rect">
            <a:avLst/>
          </a:prstGeom>
          <a:solidFill>
            <a:srgbClr val="000000"/>
          </a:solidFill>
          <a:ln w="12700">
            <a:solidFill>
              <a:srgbClr val="000000">
                <a:alpha val="0"/>
              </a:srgbClr>
            </a:solidFill>
            <a:prstDash val="solid"/>
          </a:ln>
        </p:spPr>
      </p:sp>
      <p:sp>
        <p:nvSpPr>
          <p:cNvPr id="392" name="Shape 390"/>
          <p:cNvSpPr/>
          <p:nvPr/>
        </p:nvSpPr>
        <p:spPr>
          <a:xfrm>
            <a:off x="13391512" y="6357304"/>
            <a:ext cx="35056" cy="35056"/>
          </a:xfrm>
          <a:prstGeom prst="rect">
            <a:avLst/>
          </a:prstGeom>
          <a:solidFill>
            <a:srgbClr val="000000"/>
          </a:solidFill>
          <a:ln w="12700">
            <a:solidFill>
              <a:srgbClr val="000000">
                <a:alpha val="0"/>
              </a:srgbClr>
            </a:solidFill>
            <a:prstDash val="solid"/>
          </a:ln>
        </p:spPr>
      </p:sp>
      <p:sp>
        <p:nvSpPr>
          <p:cNvPr id="393" name="Shape 391"/>
          <p:cNvSpPr/>
          <p:nvPr/>
        </p:nvSpPr>
        <p:spPr>
          <a:xfrm>
            <a:off x="12595736" y="6391903"/>
            <a:ext cx="69655" cy="35056"/>
          </a:xfrm>
          <a:prstGeom prst="rect">
            <a:avLst/>
          </a:prstGeom>
          <a:solidFill>
            <a:srgbClr val="000000"/>
          </a:solidFill>
          <a:ln w="12700">
            <a:solidFill>
              <a:srgbClr val="000000">
                <a:alpha val="0"/>
              </a:srgbClr>
            </a:solidFill>
            <a:prstDash val="solid"/>
          </a:ln>
        </p:spPr>
      </p:sp>
      <p:sp>
        <p:nvSpPr>
          <p:cNvPr id="394" name="Shape 392"/>
          <p:cNvSpPr/>
          <p:nvPr/>
        </p:nvSpPr>
        <p:spPr>
          <a:xfrm>
            <a:off x="12734132" y="6391903"/>
            <a:ext cx="69655" cy="35056"/>
          </a:xfrm>
          <a:prstGeom prst="rect">
            <a:avLst/>
          </a:prstGeom>
          <a:solidFill>
            <a:srgbClr val="000000"/>
          </a:solidFill>
          <a:ln w="12700">
            <a:solidFill>
              <a:srgbClr val="000000">
                <a:alpha val="0"/>
              </a:srgbClr>
            </a:solidFill>
            <a:prstDash val="solid"/>
          </a:ln>
        </p:spPr>
      </p:sp>
      <p:sp>
        <p:nvSpPr>
          <p:cNvPr id="395" name="Shape 393"/>
          <p:cNvSpPr/>
          <p:nvPr/>
        </p:nvSpPr>
        <p:spPr>
          <a:xfrm>
            <a:off x="12837929" y="6391903"/>
            <a:ext cx="104254" cy="35056"/>
          </a:xfrm>
          <a:prstGeom prst="rect">
            <a:avLst/>
          </a:prstGeom>
          <a:solidFill>
            <a:srgbClr val="000000"/>
          </a:solidFill>
          <a:ln w="12700">
            <a:solidFill>
              <a:srgbClr val="000000">
                <a:alpha val="0"/>
              </a:srgbClr>
            </a:solidFill>
            <a:prstDash val="solid"/>
          </a:ln>
        </p:spPr>
      </p:sp>
      <p:sp>
        <p:nvSpPr>
          <p:cNvPr id="396" name="Shape 394"/>
          <p:cNvSpPr/>
          <p:nvPr/>
        </p:nvSpPr>
        <p:spPr>
          <a:xfrm>
            <a:off x="13080121" y="6391903"/>
            <a:ext cx="69655" cy="35056"/>
          </a:xfrm>
          <a:prstGeom prst="rect">
            <a:avLst/>
          </a:prstGeom>
          <a:solidFill>
            <a:srgbClr val="000000"/>
          </a:solidFill>
          <a:ln w="12700">
            <a:solidFill>
              <a:srgbClr val="000000">
                <a:alpha val="0"/>
              </a:srgbClr>
            </a:solidFill>
            <a:prstDash val="solid"/>
          </a:ln>
        </p:spPr>
      </p:sp>
      <p:sp>
        <p:nvSpPr>
          <p:cNvPr id="397" name="Shape 395"/>
          <p:cNvSpPr/>
          <p:nvPr/>
        </p:nvSpPr>
        <p:spPr>
          <a:xfrm>
            <a:off x="13183918" y="6391903"/>
            <a:ext cx="173452" cy="35056"/>
          </a:xfrm>
          <a:prstGeom prst="rect">
            <a:avLst/>
          </a:prstGeom>
          <a:solidFill>
            <a:srgbClr val="000000"/>
          </a:solidFill>
          <a:ln w="12700">
            <a:solidFill>
              <a:srgbClr val="000000">
                <a:alpha val="0"/>
              </a:srgbClr>
            </a:solidFill>
            <a:prstDash val="solid"/>
          </a:ln>
        </p:spPr>
      </p:sp>
      <p:sp>
        <p:nvSpPr>
          <p:cNvPr id="398" name="Shape 396"/>
          <p:cNvSpPr/>
          <p:nvPr/>
        </p:nvSpPr>
        <p:spPr>
          <a:xfrm>
            <a:off x="13391512" y="6391903"/>
            <a:ext cx="35056" cy="35056"/>
          </a:xfrm>
          <a:prstGeom prst="rect">
            <a:avLst/>
          </a:prstGeom>
          <a:solidFill>
            <a:srgbClr val="000000"/>
          </a:solidFill>
          <a:ln w="12700">
            <a:solidFill>
              <a:srgbClr val="000000">
                <a:alpha val="0"/>
              </a:srgbClr>
            </a:solidFill>
            <a:prstDash val="solid"/>
          </a:ln>
        </p:spPr>
      </p:sp>
      <p:sp>
        <p:nvSpPr>
          <p:cNvPr id="399" name="Shape 397"/>
          <p:cNvSpPr/>
          <p:nvPr/>
        </p:nvSpPr>
        <p:spPr>
          <a:xfrm>
            <a:off x="12526539" y="6426502"/>
            <a:ext cx="35056" cy="35056"/>
          </a:xfrm>
          <a:prstGeom prst="rect">
            <a:avLst/>
          </a:prstGeom>
          <a:solidFill>
            <a:srgbClr val="000000"/>
          </a:solidFill>
          <a:ln w="12700">
            <a:solidFill>
              <a:srgbClr val="000000">
                <a:alpha val="0"/>
              </a:srgbClr>
            </a:solidFill>
            <a:prstDash val="solid"/>
          </a:ln>
        </p:spPr>
      </p:sp>
      <p:sp>
        <p:nvSpPr>
          <p:cNvPr id="400" name="Shape 398"/>
          <p:cNvSpPr/>
          <p:nvPr/>
        </p:nvSpPr>
        <p:spPr>
          <a:xfrm>
            <a:off x="12630335" y="6426502"/>
            <a:ext cx="35056" cy="35056"/>
          </a:xfrm>
          <a:prstGeom prst="rect">
            <a:avLst/>
          </a:prstGeom>
          <a:solidFill>
            <a:srgbClr val="000000"/>
          </a:solidFill>
          <a:ln w="12700">
            <a:solidFill>
              <a:srgbClr val="000000">
                <a:alpha val="0"/>
              </a:srgbClr>
            </a:solidFill>
            <a:prstDash val="solid"/>
          </a:ln>
        </p:spPr>
      </p:sp>
      <p:sp>
        <p:nvSpPr>
          <p:cNvPr id="401" name="Shape 399"/>
          <p:cNvSpPr/>
          <p:nvPr/>
        </p:nvSpPr>
        <p:spPr>
          <a:xfrm>
            <a:off x="12699533" y="6426502"/>
            <a:ext cx="35056" cy="35056"/>
          </a:xfrm>
          <a:prstGeom prst="rect">
            <a:avLst/>
          </a:prstGeom>
          <a:solidFill>
            <a:srgbClr val="000000"/>
          </a:solidFill>
          <a:ln w="12700">
            <a:solidFill>
              <a:srgbClr val="000000">
                <a:alpha val="0"/>
              </a:srgbClr>
            </a:solidFill>
            <a:prstDash val="solid"/>
          </a:ln>
        </p:spPr>
      </p:sp>
      <p:sp>
        <p:nvSpPr>
          <p:cNvPr id="402" name="Shape 400"/>
          <p:cNvSpPr/>
          <p:nvPr/>
        </p:nvSpPr>
        <p:spPr>
          <a:xfrm>
            <a:off x="12768731" y="6426502"/>
            <a:ext cx="35056" cy="35056"/>
          </a:xfrm>
          <a:prstGeom prst="rect">
            <a:avLst/>
          </a:prstGeom>
          <a:solidFill>
            <a:srgbClr val="000000"/>
          </a:solidFill>
          <a:ln w="12700">
            <a:solidFill>
              <a:srgbClr val="000000">
                <a:alpha val="0"/>
              </a:srgbClr>
            </a:solidFill>
            <a:prstDash val="solid"/>
          </a:ln>
        </p:spPr>
      </p:sp>
      <p:sp>
        <p:nvSpPr>
          <p:cNvPr id="403" name="Shape 401"/>
          <p:cNvSpPr/>
          <p:nvPr/>
        </p:nvSpPr>
        <p:spPr>
          <a:xfrm>
            <a:off x="12837929" y="6426502"/>
            <a:ext cx="35056" cy="35056"/>
          </a:xfrm>
          <a:prstGeom prst="rect">
            <a:avLst/>
          </a:prstGeom>
          <a:solidFill>
            <a:srgbClr val="000000"/>
          </a:solidFill>
          <a:ln w="12700">
            <a:solidFill>
              <a:srgbClr val="000000">
                <a:alpha val="0"/>
              </a:srgbClr>
            </a:solidFill>
            <a:prstDash val="solid"/>
          </a:ln>
        </p:spPr>
      </p:sp>
      <p:sp>
        <p:nvSpPr>
          <p:cNvPr id="404" name="Shape 402"/>
          <p:cNvSpPr/>
          <p:nvPr/>
        </p:nvSpPr>
        <p:spPr>
          <a:xfrm>
            <a:off x="12907127" y="6426502"/>
            <a:ext cx="69655" cy="35056"/>
          </a:xfrm>
          <a:prstGeom prst="rect">
            <a:avLst/>
          </a:prstGeom>
          <a:solidFill>
            <a:srgbClr val="000000"/>
          </a:solidFill>
          <a:ln w="12700">
            <a:solidFill>
              <a:srgbClr val="000000">
                <a:alpha val="0"/>
              </a:srgbClr>
            </a:solidFill>
            <a:prstDash val="solid"/>
          </a:ln>
        </p:spPr>
      </p:sp>
      <p:sp>
        <p:nvSpPr>
          <p:cNvPr id="405" name="Shape 403"/>
          <p:cNvSpPr/>
          <p:nvPr/>
        </p:nvSpPr>
        <p:spPr>
          <a:xfrm>
            <a:off x="13045522" y="6426502"/>
            <a:ext cx="104254" cy="35056"/>
          </a:xfrm>
          <a:prstGeom prst="rect">
            <a:avLst/>
          </a:prstGeom>
          <a:solidFill>
            <a:srgbClr val="000000"/>
          </a:solidFill>
          <a:ln w="12700">
            <a:solidFill>
              <a:srgbClr val="000000">
                <a:alpha val="0"/>
              </a:srgbClr>
            </a:solidFill>
            <a:prstDash val="solid"/>
          </a:ln>
        </p:spPr>
      </p:sp>
      <p:sp>
        <p:nvSpPr>
          <p:cNvPr id="406" name="Shape 404"/>
          <p:cNvSpPr/>
          <p:nvPr/>
        </p:nvSpPr>
        <p:spPr>
          <a:xfrm>
            <a:off x="13183918" y="6426502"/>
            <a:ext cx="242650" cy="35056"/>
          </a:xfrm>
          <a:prstGeom prst="rect">
            <a:avLst/>
          </a:prstGeom>
          <a:solidFill>
            <a:srgbClr val="000000"/>
          </a:solidFill>
          <a:ln w="12700">
            <a:solidFill>
              <a:srgbClr val="000000">
                <a:alpha val="0"/>
              </a:srgbClr>
            </a:solidFill>
            <a:prstDash val="solid"/>
          </a:ln>
        </p:spPr>
      </p:sp>
      <p:sp>
        <p:nvSpPr>
          <p:cNvPr id="407" name="Shape 405"/>
          <p:cNvSpPr/>
          <p:nvPr/>
        </p:nvSpPr>
        <p:spPr>
          <a:xfrm>
            <a:off x="12768731" y="6461101"/>
            <a:ext cx="35056" cy="35056"/>
          </a:xfrm>
          <a:prstGeom prst="rect">
            <a:avLst/>
          </a:prstGeom>
          <a:solidFill>
            <a:srgbClr val="000000"/>
          </a:solidFill>
          <a:ln w="12700">
            <a:solidFill>
              <a:srgbClr val="000000">
                <a:alpha val="0"/>
              </a:srgbClr>
            </a:solidFill>
            <a:prstDash val="solid"/>
          </a:ln>
        </p:spPr>
      </p:sp>
      <p:sp>
        <p:nvSpPr>
          <p:cNvPr id="408" name="Shape 406"/>
          <p:cNvSpPr/>
          <p:nvPr/>
        </p:nvSpPr>
        <p:spPr>
          <a:xfrm>
            <a:off x="12837929" y="6461101"/>
            <a:ext cx="35056" cy="35056"/>
          </a:xfrm>
          <a:prstGeom prst="rect">
            <a:avLst/>
          </a:prstGeom>
          <a:solidFill>
            <a:srgbClr val="000000"/>
          </a:solidFill>
          <a:ln w="12700">
            <a:solidFill>
              <a:srgbClr val="000000">
                <a:alpha val="0"/>
              </a:srgbClr>
            </a:solidFill>
            <a:prstDash val="solid"/>
          </a:ln>
        </p:spPr>
      </p:sp>
      <p:sp>
        <p:nvSpPr>
          <p:cNvPr id="409" name="Shape 407"/>
          <p:cNvSpPr/>
          <p:nvPr/>
        </p:nvSpPr>
        <p:spPr>
          <a:xfrm>
            <a:off x="12941726" y="6461101"/>
            <a:ext cx="69655" cy="35056"/>
          </a:xfrm>
          <a:prstGeom prst="rect">
            <a:avLst/>
          </a:prstGeom>
          <a:solidFill>
            <a:srgbClr val="000000"/>
          </a:solidFill>
          <a:ln w="12700">
            <a:solidFill>
              <a:srgbClr val="000000">
                <a:alpha val="0"/>
              </a:srgbClr>
            </a:solidFill>
            <a:prstDash val="solid"/>
          </a:ln>
        </p:spPr>
      </p:sp>
      <p:sp>
        <p:nvSpPr>
          <p:cNvPr id="410" name="Shape 408"/>
          <p:cNvSpPr/>
          <p:nvPr/>
        </p:nvSpPr>
        <p:spPr>
          <a:xfrm>
            <a:off x="13045522" y="6461101"/>
            <a:ext cx="35056" cy="35056"/>
          </a:xfrm>
          <a:prstGeom prst="rect">
            <a:avLst/>
          </a:prstGeom>
          <a:solidFill>
            <a:srgbClr val="000000"/>
          </a:solidFill>
          <a:ln w="12700">
            <a:solidFill>
              <a:srgbClr val="000000">
                <a:alpha val="0"/>
              </a:srgbClr>
            </a:solidFill>
            <a:prstDash val="solid"/>
          </a:ln>
        </p:spPr>
      </p:sp>
      <p:sp>
        <p:nvSpPr>
          <p:cNvPr id="411" name="Shape 409"/>
          <p:cNvSpPr/>
          <p:nvPr/>
        </p:nvSpPr>
        <p:spPr>
          <a:xfrm>
            <a:off x="13114720" y="6461101"/>
            <a:ext cx="35056" cy="35056"/>
          </a:xfrm>
          <a:prstGeom prst="rect">
            <a:avLst/>
          </a:prstGeom>
          <a:solidFill>
            <a:srgbClr val="000000"/>
          </a:solidFill>
          <a:ln w="12700">
            <a:solidFill>
              <a:srgbClr val="000000">
                <a:alpha val="0"/>
              </a:srgbClr>
            </a:solidFill>
            <a:prstDash val="solid"/>
          </a:ln>
        </p:spPr>
      </p:sp>
      <p:sp>
        <p:nvSpPr>
          <p:cNvPr id="412" name="Shape 410"/>
          <p:cNvSpPr/>
          <p:nvPr/>
        </p:nvSpPr>
        <p:spPr>
          <a:xfrm>
            <a:off x="13183918" y="6461101"/>
            <a:ext cx="35056" cy="35056"/>
          </a:xfrm>
          <a:prstGeom prst="rect">
            <a:avLst/>
          </a:prstGeom>
          <a:solidFill>
            <a:srgbClr val="000000"/>
          </a:solidFill>
          <a:ln w="12700">
            <a:solidFill>
              <a:srgbClr val="000000">
                <a:alpha val="0"/>
              </a:srgbClr>
            </a:solidFill>
            <a:prstDash val="solid"/>
          </a:ln>
        </p:spPr>
      </p:sp>
      <p:sp>
        <p:nvSpPr>
          <p:cNvPr id="413" name="Shape 411"/>
          <p:cNvSpPr/>
          <p:nvPr/>
        </p:nvSpPr>
        <p:spPr>
          <a:xfrm>
            <a:off x="13322314" y="6461101"/>
            <a:ext cx="173452" cy="35056"/>
          </a:xfrm>
          <a:prstGeom prst="rect">
            <a:avLst/>
          </a:prstGeom>
          <a:solidFill>
            <a:srgbClr val="000000"/>
          </a:solidFill>
          <a:ln w="12700">
            <a:solidFill>
              <a:srgbClr val="000000">
                <a:alpha val="0"/>
              </a:srgbClr>
            </a:solidFill>
            <a:prstDash val="solid"/>
          </a:ln>
        </p:spPr>
      </p:sp>
      <p:sp>
        <p:nvSpPr>
          <p:cNvPr id="414" name="Shape 412"/>
          <p:cNvSpPr/>
          <p:nvPr/>
        </p:nvSpPr>
        <p:spPr>
          <a:xfrm>
            <a:off x="12491940" y="6495700"/>
            <a:ext cx="242650" cy="35056"/>
          </a:xfrm>
          <a:prstGeom prst="rect">
            <a:avLst/>
          </a:prstGeom>
          <a:solidFill>
            <a:srgbClr val="000000"/>
          </a:solidFill>
          <a:ln w="12700">
            <a:solidFill>
              <a:srgbClr val="000000">
                <a:alpha val="0"/>
              </a:srgbClr>
            </a:solidFill>
            <a:prstDash val="solid"/>
          </a:ln>
        </p:spPr>
      </p:sp>
      <p:sp>
        <p:nvSpPr>
          <p:cNvPr id="415" name="Shape 413"/>
          <p:cNvSpPr/>
          <p:nvPr/>
        </p:nvSpPr>
        <p:spPr>
          <a:xfrm>
            <a:off x="12768731" y="6495700"/>
            <a:ext cx="104254" cy="35056"/>
          </a:xfrm>
          <a:prstGeom prst="rect">
            <a:avLst/>
          </a:prstGeom>
          <a:solidFill>
            <a:srgbClr val="000000"/>
          </a:solidFill>
          <a:ln w="12700">
            <a:solidFill>
              <a:srgbClr val="000000">
                <a:alpha val="0"/>
              </a:srgbClr>
            </a:solidFill>
            <a:prstDash val="solid"/>
          </a:ln>
        </p:spPr>
      </p:sp>
      <p:sp>
        <p:nvSpPr>
          <p:cNvPr id="416" name="Shape 414"/>
          <p:cNvSpPr/>
          <p:nvPr/>
        </p:nvSpPr>
        <p:spPr>
          <a:xfrm>
            <a:off x="12907127" y="6495700"/>
            <a:ext cx="69655" cy="35056"/>
          </a:xfrm>
          <a:prstGeom prst="rect">
            <a:avLst/>
          </a:prstGeom>
          <a:solidFill>
            <a:srgbClr val="000000"/>
          </a:solidFill>
          <a:ln w="12700">
            <a:solidFill>
              <a:srgbClr val="000000">
                <a:alpha val="0"/>
              </a:srgbClr>
            </a:solidFill>
            <a:prstDash val="solid"/>
          </a:ln>
        </p:spPr>
      </p:sp>
      <p:sp>
        <p:nvSpPr>
          <p:cNvPr id="417" name="Shape 415"/>
          <p:cNvSpPr/>
          <p:nvPr/>
        </p:nvSpPr>
        <p:spPr>
          <a:xfrm>
            <a:off x="13149319" y="6495700"/>
            <a:ext cx="69655" cy="35056"/>
          </a:xfrm>
          <a:prstGeom prst="rect">
            <a:avLst/>
          </a:prstGeom>
          <a:solidFill>
            <a:srgbClr val="000000"/>
          </a:solidFill>
          <a:ln w="12700">
            <a:solidFill>
              <a:srgbClr val="000000">
                <a:alpha val="0"/>
              </a:srgbClr>
            </a:solidFill>
            <a:prstDash val="solid"/>
          </a:ln>
        </p:spPr>
      </p:sp>
      <p:sp>
        <p:nvSpPr>
          <p:cNvPr id="418" name="Shape 416"/>
          <p:cNvSpPr/>
          <p:nvPr/>
        </p:nvSpPr>
        <p:spPr>
          <a:xfrm>
            <a:off x="13253116" y="6495700"/>
            <a:ext cx="35056" cy="35056"/>
          </a:xfrm>
          <a:prstGeom prst="rect">
            <a:avLst/>
          </a:prstGeom>
          <a:solidFill>
            <a:srgbClr val="000000"/>
          </a:solidFill>
          <a:ln w="12700">
            <a:solidFill>
              <a:srgbClr val="000000">
                <a:alpha val="0"/>
              </a:srgbClr>
            </a:solidFill>
            <a:prstDash val="solid"/>
          </a:ln>
        </p:spPr>
      </p:sp>
      <p:sp>
        <p:nvSpPr>
          <p:cNvPr id="419" name="Shape 417"/>
          <p:cNvSpPr/>
          <p:nvPr/>
        </p:nvSpPr>
        <p:spPr>
          <a:xfrm>
            <a:off x="13322314" y="6495700"/>
            <a:ext cx="69655" cy="35056"/>
          </a:xfrm>
          <a:prstGeom prst="rect">
            <a:avLst/>
          </a:prstGeom>
          <a:solidFill>
            <a:srgbClr val="000000"/>
          </a:solidFill>
          <a:ln w="12700">
            <a:solidFill>
              <a:srgbClr val="000000">
                <a:alpha val="0"/>
              </a:srgbClr>
            </a:solidFill>
            <a:prstDash val="solid"/>
          </a:ln>
        </p:spPr>
      </p:sp>
      <p:sp>
        <p:nvSpPr>
          <p:cNvPr id="420" name="Shape 418"/>
          <p:cNvSpPr/>
          <p:nvPr/>
        </p:nvSpPr>
        <p:spPr>
          <a:xfrm>
            <a:off x="13426110" y="6495700"/>
            <a:ext cx="35056" cy="35056"/>
          </a:xfrm>
          <a:prstGeom prst="rect">
            <a:avLst/>
          </a:prstGeom>
          <a:solidFill>
            <a:srgbClr val="000000"/>
          </a:solidFill>
          <a:ln w="12700">
            <a:solidFill>
              <a:srgbClr val="000000">
                <a:alpha val="0"/>
              </a:srgbClr>
            </a:solidFill>
            <a:prstDash val="solid"/>
          </a:ln>
        </p:spPr>
      </p:sp>
      <p:sp>
        <p:nvSpPr>
          <p:cNvPr id="421" name="Shape 419"/>
          <p:cNvSpPr/>
          <p:nvPr/>
        </p:nvSpPr>
        <p:spPr>
          <a:xfrm>
            <a:off x="12491940" y="6530299"/>
            <a:ext cx="35056" cy="35056"/>
          </a:xfrm>
          <a:prstGeom prst="rect">
            <a:avLst/>
          </a:prstGeom>
          <a:solidFill>
            <a:srgbClr val="000000"/>
          </a:solidFill>
          <a:ln w="12700">
            <a:solidFill>
              <a:srgbClr val="000000">
                <a:alpha val="0"/>
              </a:srgbClr>
            </a:solidFill>
            <a:prstDash val="solid"/>
          </a:ln>
        </p:spPr>
      </p:sp>
      <p:sp>
        <p:nvSpPr>
          <p:cNvPr id="422" name="Shape 420"/>
          <p:cNvSpPr/>
          <p:nvPr/>
        </p:nvSpPr>
        <p:spPr>
          <a:xfrm>
            <a:off x="12699533" y="6530299"/>
            <a:ext cx="35056" cy="35056"/>
          </a:xfrm>
          <a:prstGeom prst="rect">
            <a:avLst/>
          </a:prstGeom>
          <a:solidFill>
            <a:srgbClr val="000000"/>
          </a:solidFill>
          <a:ln w="12700">
            <a:solidFill>
              <a:srgbClr val="000000">
                <a:alpha val="0"/>
              </a:srgbClr>
            </a:solidFill>
            <a:prstDash val="solid"/>
          </a:ln>
        </p:spPr>
      </p:sp>
      <p:sp>
        <p:nvSpPr>
          <p:cNvPr id="423" name="Shape 421"/>
          <p:cNvSpPr/>
          <p:nvPr/>
        </p:nvSpPr>
        <p:spPr>
          <a:xfrm>
            <a:off x="12768731" y="6530299"/>
            <a:ext cx="69655" cy="35056"/>
          </a:xfrm>
          <a:prstGeom prst="rect">
            <a:avLst/>
          </a:prstGeom>
          <a:solidFill>
            <a:srgbClr val="000000"/>
          </a:solidFill>
          <a:ln w="12700">
            <a:solidFill>
              <a:srgbClr val="000000">
                <a:alpha val="0"/>
              </a:srgbClr>
            </a:solidFill>
            <a:prstDash val="solid"/>
          </a:ln>
        </p:spPr>
      </p:sp>
      <p:sp>
        <p:nvSpPr>
          <p:cNvPr id="424" name="Shape 422"/>
          <p:cNvSpPr/>
          <p:nvPr/>
        </p:nvSpPr>
        <p:spPr>
          <a:xfrm>
            <a:off x="13045522" y="6530299"/>
            <a:ext cx="35056" cy="35056"/>
          </a:xfrm>
          <a:prstGeom prst="rect">
            <a:avLst/>
          </a:prstGeom>
          <a:solidFill>
            <a:srgbClr val="000000"/>
          </a:solidFill>
          <a:ln w="12700">
            <a:solidFill>
              <a:srgbClr val="000000">
                <a:alpha val="0"/>
              </a:srgbClr>
            </a:solidFill>
            <a:prstDash val="solid"/>
          </a:ln>
        </p:spPr>
      </p:sp>
      <p:sp>
        <p:nvSpPr>
          <p:cNvPr id="425" name="Shape 423"/>
          <p:cNvSpPr/>
          <p:nvPr/>
        </p:nvSpPr>
        <p:spPr>
          <a:xfrm>
            <a:off x="13114720" y="6530299"/>
            <a:ext cx="35056" cy="35056"/>
          </a:xfrm>
          <a:prstGeom prst="rect">
            <a:avLst/>
          </a:prstGeom>
          <a:solidFill>
            <a:srgbClr val="000000"/>
          </a:solidFill>
          <a:ln w="12700">
            <a:solidFill>
              <a:srgbClr val="000000">
                <a:alpha val="0"/>
              </a:srgbClr>
            </a:solidFill>
            <a:prstDash val="solid"/>
          </a:ln>
        </p:spPr>
      </p:sp>
      <p:sp>
        <p:nvSpPr>
          <p:cNvPr id="426" name="Shape 424"/>
          <p:cNvSpPr/>
          <p:nvPr/>
        </p:nvSpPr>
        <p:spPr>
          <a:xfrm>
            <a:off x="13183918" y="6530299"/>
            <a:ext cx="35056" cy="35056"/>
          </a:xfrm>
          <a:prstGeom prst="rect">
            <a:avLst/>
          </a:prstGeom>
          <a:solidFill>
            <a:srgbClr val="000000"/>
          </a:solidFill>
          <a:ln w="12700">
            <a:solidFill>
              <a:srgbClr val="000000">
                <a:alpha val="0"/>
              </a:srgbClr>
            </a:solidFill>
            <a:prstDash val="solid"/>
          </a:ln>
        </p:spPr>
      </p:sp>
      <p:sp>
        <p:nvSpPr>
          <p:cNvPr id="427" name="Shape 425"/>
          <p:cNvSpPr/>
          <p:nvPr/>
        </p:nvSpPr>
        <p:spPr>
          <a:xfrm>
            <a:off x="13322314" y="6530299"/>
            <a:ext cx="69655" cy="35056"/>
          </a:xfrm>
          <a:prstGeom prst="rect">
            <a:avLst/>
          </a:prstGeom>
          <a:solidFill>
            <a:srgbClr val="000000"/>
          </a:solidFill>
          <a:ln w="12700">
            <a:solidFill>
              <a:srgbClr val="000000">
                <a:alpha val="0"/>
              </a:srgbClr>
            </a:solidFill>
            <a:prstDash val="solid"/>
          </a:ln>
        </p:spPr>
      </p:sp>
      <p:sp>
        <p:nvSpPr>
          <p:cNvPr id="428" name="Shape 426"/>
          <p:cNvSpPr/>
          <p:nvPr/>
        </p:nvSpPr>
        <p:spPr>
          <a:xfrm>
            <a:off x="13426110" y="6530299"/>
            <a:ext cx="35056" cy="35056"/>
          </a:xfrm>
          <a:prstGeom prst="rect">
            <a:avLst/>
          </a:prstGeom>
          <a:solidFill>
            <a:srgbClr val="000000"/>
          </a:solidFill>
          <a:ln w="12700">
            <a:solidFill>
              <a:srgbClr val="000000">
                <a:alpha val="0"/>
              </a:srgbClr>
            </a:solidFill>
            <a:prstDash val="solid"/>
          </a:ln>
        </p:spPr>
      </p:sp>
      <p:sp>
        <p:nvSpPr>
          <p:cNvPr id="429" name="Shape 427"/>
          <p:cNvSpPr/>
          <p:nvPr/>
        </p:nvSpPr>
        <p:spPr>
          <a:xfrm>
            <a:off x="12491940" y="6564898"/>
            <a:ext cx="35056" cy="35056"/>
          </a:xfrm>
          <a:prstGeom prst="rect">
            <a:avLst/>
          </a:prstGeom>
          <a:solidFill>
            <a:srgbClr val="000000"/>
          </a:solidFill>
          <a:ln w="12700">
            <a:solidFill>
              <a:srgbClr val="000000">
                <a:alpha val="0"/>
              </a:srgbClr>
            </a:solidFill>
            <a:prstDash val="solid"/>
          </a:ln>
        </p:spPr>
      </p:sp>
      <p:sp>
        <p:nvSpPr>
          <p:cNvPr id="430" name="Shape 428"/>
          <p:cNvSpPr/>
          <p:nvPr/>
        </p:nvSpPr>
        <p:spPr>
          <a:xfrm>
            <a:off x="12561138" y="6564898"/>
            <a:ext cx="104254" cy="35056"/>
          </a:xfrm>
          <a:prstGeom prst="rect">
            <a:avLst/>
          </a:prstGeom>
          <a:solidFill>
            <a:srgbClr val="000000"/>
          </a:solidFill>
          <a:ln w="12700">
            <a:solidFill>
              <a:srgbClr val="000000">
                <a:alpha val="0"/>
              </a:srgbClr>
            </a:solidFill>
            <a:prstDash val="solid"/>
          </a:ln>
        </p:spPr>
      </p:sp>
      <p:sp>
        <p:nvSpPr>
          <p:cNvPr id="431" name="Shape 429"/>
          <p:cNvSpPr/>
          <p:nvPr/>
        </p:nvSpPr>
        <p:spPr>
          <a:xfrm>
            <a:off x="12699533" y="6564898"/>
            <a:ext cx="35056" cy="35056"/>
          </a:xfrm>
          <a:prstGeom prst="rect">
            <a:avLst/>
          </a:prstGeom>
          <a:solidFill>
            <a:srgbClr val="000000"/>
          </a:solidFill>
          <a:ln w="12700">
            <a:solidFill>
              <a:srgbClr val="000000">
                <a:alpha val="0"/>
              </a:srgbClr>
            </a:solidFill>
            <a:prstDash val="solid"/>
          </a:ln>
        </p:spPr>
      </p:sp>
      <p:sp>
        <p:nvSpPr>
          <p:cNvPr id="432" name="Shape 430"/>
          <p:cNvSpPr/>
          <p:nvPr/>
        </p:nvSpPr>
        <p:spPr>
          <a:xfrm>
            <a:off x="12803330" y="6564898"/>
            <a:ext cx="35056" cy="35056"/>
          </a:xfrm>
          <a:prstGeom prst="rect">
            <a:avLst/>
          </a:prstGeom>
          <a:solidFill>
            <a:srgbClr val="000000"/>
          </a:solidFill>
          <a:ln w="12700">
            <a:solidFill>
              <a:srgbClr val="000000">
                <a:alpha val="0"/>
              </a:srgbClr>
            </a:solidFill>
            <a:prstDash val="solid"/>
          </a:ln>
        </p:spPr>
      </p:sp>
      <p:sp>
        <p:nvSpPr>
          <p:cNvPr id="433" name="Shape 431"/>
          <p:cNvSpPr/>
          <p:nvPr/>
        </p:nvSpPr>
        <p:spPr>
          <a:xfrm>
            <a:off x="12872528" y="6564898"/>
            <a:ext cx="69655" cy="35056"/>
          </a:xfrm>
          <a:prstGeom prst="rect">
            <a:avLst/>
          </a:prstGeom>
          <a:solidFill>
            <a:srgbClr val="000000"/>
          </a:solidFill>
          <a:ln w="12700">
            <a:solidFill>
              <a:srgbClr val="000000">
                <a:alpha val="0"/>
              </a:srgbClr>
            </a:solidFill>
            <a:prstDash val="solid"/>
          </a:ln>
        </p:spPr>
      </p:sp>
      <p:sp>
        <p:nvSpPr>
          <p:cNvPr id="434" name="Shape 432"/>
          <p:cNvSpPr/>
          <p:nvPr/>
        </p:nvSpPr>
        <p:spPr>
          <a:xfrm>
            <a:off x="12976325" y="6564898"/>
            <a:ext cx="138853" cy="35056"/>
          </a:xfrm>
          <a:prstGeom prst="rect">
            <a:avLst/>
          </a:prstGeom>
          <a:solidFill>
            <a:srgbClr val="000000"/>
          </a:solidFill>
          <a:ln w="12700">
            <a:solidFill>
              <a:srgbClr val="000000">
                <a:alpha val="0"/>
              </a:srgbClr>
            </a:solidFill>
            <a:prstDash val="solid"/>
          </a:ln>
        </p:spPr>
      </p:sp>
      <p:sp>
        <p:nvSpPr>
          <p:cNvPr id="435" name="Shape 433"/>
          <p:cNvSpPr/>
          <p:nvPr/>
        </p:nvSpPr>
        <p:spPr>
          <a:xfrm>
            <a:off x="13183918" y="6564898"/>
            <a:ext cx="173452" cy="35056"/>
          </a:xfrm>
          <a:prstGeom prst="rect">
            <a:avLst/>
          </a:prstGeom>
          <a:solidFill>
            <a:srgbClr val="000000"/>
          </a:solidFill>
          <a:ln w="12700">
            <a:solidFill>
              <a:srgbClr val="000000">
                <a:alpha val="0"/>
              </a:srgbClr>
            </a:solidFill>
            <a:prstDash val="solid"/>
          </a:ln>
        </p:spPr>
      </p:sp>
      <p:sp>
        <p:nvSpPr>
          <p:cNvPr id="436" name="Shape 434"/>
          <p:cNvSpPr/>
          <p:nvPr/>
        </p:nvSpPr>
        <p:spPr>
          <a:xfrm>
            <a:off x="13391512" y="6564898"/>
            <a:ext cx="69655" cy="35056"/>
          </a:xfrm>
          <a:prstGeom prst="rect">
            <a:avLst/>
          </a:prstGeom>
          <a:solidFill>
            <a:srgbClr val="000000"/>
          </a:solidFill>
          <a:ln w="12700">
            <a:solidFill>
              <a:srgbClr val="000000">
                <a:alpha val="0"/>
              </a:srgbClr>
            </a:solidFill>
            <a:prstDash val="solid"/>
          </a:ln>
        </p:spPr>
      </p:sp>
      <p:sp>
        <p:nvSpPr>
          <p:cNvPr id="437" name="Shape 435"/>
          <p:cNvSpPr/>
          <p:nvPr/>
        </p:nvSpPr>
        <p:spPr>
          <a:xfrm>
            <a:off x="12491940" y="6599497"/>
            <a:ext cx="35056" cy="35056"/>
          </a:xfrm>
          <a:prstGeom prst="rect">
            <a:avLst/>
          </a:prstGeom>
          <a:solidFill>
            <a:srgbClr val="000000"/>
          </a:solidFill>
          <a:ln w="12700">
            <a:solidFill>
              <a:srgbClr val="000000">
                <a:alpha val="0"/>
              </a:srgbClr>
            </a:solidFill>
            <a:prstDash val="solid"/>
          </a:ln>
        </p:spPr>
      </p:sp>
      <p:sp>
        <p:nvSpPr>
          <p:cNvPr id="438" name="Shape 436"/>
          <p:cNvSpPr/>
          <p:nvPr/>
        </p:nvSpPr>
        <p:spPr>
          <a:xfrm>
            <a:off x="12561138" y="6599497"/>
            <a:ext cx="104254" cy="35056"/>
          </a:xfrm>
          <a:prstGeom prst="rect">
            <a:avLst/>
          </a:prstGeom>
          <a:solidFill>
            <a:srgbClr val="000000"/>
          </a:solidFill>
          <a:ln w="12700">
            <a:solidFill>
              <a:srgbClr val="000000">
                <a:alpha val="0"/>
              </a:srgbClr>
            </a:solidFill>
            <a:prstDash val="solid"/>
          </a:ln>
        </p:spPr>
      </p:sp>
      <p:sp>
        <p:nvSpPr>
          <p:cNvPr id="439" name="Shape 437"/>
          <p:cNvSpPr/>
          <p:nvPr/>
        </p:nvSpPr>
        <p:spPr>
          <a:xfrm>
            <a:off x="12699533" y="6599497"/>
            <a:ext cx="35056" cy="35056"/>
          </a:xfrm>
          <a:prstGeom prst="rect">
            <a:avLst/>
          </a:prstGeom>
          <a:solidFill>
            <a:srgbClr val="000000"/>
          </a:solidFill>
          <a:ln w="12700">
            <a:solidFill>
              <a:srgbClr val="000000">
                <a:alpha val="0"/>
              </a:srgbClr>
            </a:solidFill>
            <a:prstDash val="solid"/>
          </a:ln>
        </p:spPr>
      </p:sp>
      <p:sp>
        <p:nvSpPr>
          <p:cNvPr id="440" name="Shape 438"/>
          <p:cNvSpPr/>
          <p:nvPr/>
        </p:nvSpPr>
        <p:spPr>
          <a:xfrm>
            <a:off x="12768731" y="6599497"/>
            <a:ext cx="104254" cy="35056"/>
          </a:xfrm>
          <a:prstGeom prst="rect">
            <a:avLst/>
          </a:prstGeom>
          <a:solidFill>
            <a:srgbClr val="000000"/>
          </a:solidFill>
          <a:ln w="12700">
            <a:solidFill>
              <a:srgbClr val="000000">
                <a:alpha val="0"/>
              </a:srgbClr>
            </a:solidFill>
            <a:prstDash val="solid"/>
          </a:ln>
        </p:spPr>
      </p:sp>
      <p:sp>
        <p:nvSpPr>
          <p:cNvPr id="441" name="Shape 439"/>
          <p:cNvSpPr/>
          <p:nvPr/>
        </p:nvSpPr>
        <p:spPr>
          <a:xfrm>
            <a:off x="12941726" y="6599497"/>
            <a:ext cx="138853" cy="35056"/>
          </a:xfrm>
          <a:prstGeom prst="rect">
            <a:avLst/>
          </a:prstGeom>
          <a:solidFill>
            <a:srgbClr val="000000"/>
          </a:solidFill>
          <a:ln w="12700">
            <a:solidFill>
              <a:srgbClr val="000000">
                <a:alpha val="0"/>
              </a:srgbClr>
            </a:solidFill>
            <a:prstDash val="solid"/>
          </a:ln>
        </p:spPr>
      </p:sp>
      <p:sp>
        <p:nvSpPr>
          <p:cNvPr id="442" name="Shape 440"/>
          <p:cNvSpPr/>
          <p:nvPr/>
        </p:nvSpPr>
        <p:spPr>
          <a:xfrm>
            <a:off x="13183918" y="6599497"/>
            <a:ext cx="69655" cy="35056"/>
          </a:xfrm>
          <a:prstGeom prst="rect">
            <a:avLst/>
          </a:prstGeom>
          <a:solidFill>
            <a:srgbClr val="000000"/>
          </a:solidFill>
          <a:ln w="12700">
            <a:solidFill>
              <a:srgbClr val="000000">
                <a:alpha val="0"/>
              </a:srgbClr>
            </a:solidFill>
            <a:prstDash val="solid"/>
          </a:ln>
        </p:spPr>
      </p:sp>
      <p:sp>
        <p:nvSpPr>
          <p:cNvPr id="443" name="Shape 441"/>
          <p:cNvSpPr/>
          <p:nvPr/>
        </p:nvSpPr>
        <p:spPr>
          <a:xfrm>
            <a:off x="13287715" y="6599497"/>
            <a:ext cx="104254" cy="35056"/>
          </a:xfrm>
          <a:prstGeom prst="rect">
            <a:avLst/>
          </a:prstGeom>
          <a:solidFill>
            <a:srgbClr val="000000"/>
          </a:solidFill>
          <a:ln w="12700">
            <a:solidFill>
              <a:srgbClr val="000000">
                <a:alpha val="0"/>
              </a:srgbClr>
            </a:solidFill>
            <a:prstDash val="solid"/>
          </a:ln>
        </p:spPr>
      </p:sp>
      <p:sp>
        <p:nvSpPr>
          <p:cNvPr id="444" name="Shape 442"/>
          <p:cNvSpPr/>
          <p:nvPr/>
        </p:nvSpPr>
        <p:spPr>
          <a:xfrm>
            <a:off x="13460709" y="6599497"/>
            <a:ext cx="35056" cy="35056"/>
          </a:xfrm>
          <a:prstGeom prst="rect">
            <a:avLst/>
          </a:prstGeom>
          <a:solidFill>
            <a:srgbClr val="000000"/>
          </a:solidFill>
          <a:ln w="12700">
            <a:solidFill>
              <a:srgbClr val="000000">
                <a:alpha val="0"/>
              </a:srgbClr>
            </a:solidFill>
            <a:prstDash val="solid"/>
          </a:ln>
        </p:spPr>
      </p:sp>
      <p:sp>
        <p:nvSpPr>
          <p:cNvPr id="445" name="Shape 443"/>
          <p:cNvSpPr/>
          <p:nvPr/>
        </p:nvSpPr>
        <p:spPr>
          <a:xfrm>
            <a:off x="12491940" y="6634096"/>
            <a:ext cx="35056" cy="35056"/>
          </a:xfrm>
          <a:prstGeom prst="rect">
            <a:avLst/>
          </a:prstGeom>
          <a:solidFill>
            <a:srgbClr val="000000"/>
          </a:solidFill>
          <a:ln w="12700">
            <a:solidFill>
              <a:srgbClr val="000000">
                <a:alpha val="0"/>
              </a:srgbClr>
            </a:solidFill>
            <a:prstDash val="solid"/>
          </a:ln>
        </p:spPr>
      </p:sp>
      <p:sp>
        <p:nvSpPr>
          <p:cNvPr id="446" name="Shape 444"/>
          <p:cNvSpPr/>
          <p:nvPr/>
        </p:nvSpPr>
        <p:spPr>
          <a:xfrm>
            <a:off x="12561138" y="6634096"/>
            <a:ext cx="104254" cy="35056"/>
          </a:xfrm>
          <a:prstGeom prst="rect">
            <a:avLst/>
          </a:prstGeom>
          <a:solidFill>
            <a:srgbClr val="000000"/>
          </a:solidFill>
          <a:ln w="12700">
            <a:solidFill>
              <a:srgbClr val="000000">
                <a:alpha val="0"/>
              </a:srgbClr>
            </a:solidFill>
            <a:prstDash val="solid"/>
          </a:ln>
        </p:spPr>
      </p:sp>
      <p:sp>
        <p:nvSpPr>
          <p:cNvPr id="447" name="Shape 445"/>
          <p:cNvSpPr/>
          <p:nvPr/>
        </p:nvSpPr>
        <p:spPr>
          <a:xfrm>
            <a:off x="12699533" y="6634096"/>
            <a:ext cx="35056" cy="35056"/>
          </a:xfrm>
          <a:prstGeom prst="rect">
            <a:avLst/>
          </a:prstGeom>
          <a:solidFill>
            <a:srgbClr val="000000"/>
          </a:solidFill>
          <a:ln w="12700">
            <a:solidFill>
              <a:srgbClr val="000000">
                <a:alpha val="0"/>
              </a:srgbClr>
            </a:solidFill>
            <a:prstDash val="solid"/>
          </a:ln>
        </p:spPr>
      </p:sp>
      <p:sp>
        <p:nvSpPr>
          <p:cNvPr id="448" name="Shape 446"/>
          <p:cNvSpPr/>
          <p:nvPr/>
        </p:nvSpPr>
        <p:spPr>
          <a:xfrm>
            <a:off x="12768731" y="6634096"/>
            <a:ext cx="35056" cy="35056"/>
          </a:xfrm>
          <a:prstGeom prst="rect">
            <a:avLst/>
          </a:prstGeom>
          <a:solidFill>
            <a:srgbClr val="000000"/>
          </a:solidFill>
          <a:ln w="12700">
            <a:solidFill>
              <a:srgbClr val="000000">
                <a:alpha val="0"/>
              </a:srgbClr>
            </a:solidFill>
            <a:prstDash val="solid"/>
          </a:ln>
        </p:spPr>
      </p:sp>
      <p:sp>
        <p:nvSpPr>
          <p:cNvPr id="449" name="Shape 447"/>
          <p:cNvSpPr/>
          <p:nvPr/>
        </p:nvSpPr>
        <p:spPr>
          <a:xfrm>
            <a:off x="12837929" y="6634096"/>
            <a:ext cx="35056" cy="35056"/>
          </a:xfrm>
          <a:prstGeom prst="rect">
            <a:avLst/>
          </a:prstGeom>
          <a:solidFill>
            <a:srgbClr val="000000"/>
          </a:solidFill>
          <a:ln w="12700">
            <a:solidFill>
              <a:srgbClr val="000000">
                <a:alpha val="0"/>
              </a:srgbClr>
            </a:solidFill>
            <a:prstDash val="solid"/>
          </a:ln>
        </p:spPr>
      </p:sp>
      <p:sp>
        <p:nvSpPr>
          <p:cNvPr id="450" name="Shape 448"/>
          <p:cNvSpPr/>
          <p:nvPr/>
        </p:nvSpPr>
        <p:spPr>
          <a:xfrm>
            <a:off x="13045522" y="6634096"/>
            <a:ext cx="104254" cy="35056"/>
          </a:xfrm>
          <a:prstGeom prst="rect">
            <a:avLst/>
          </a:prstGeom>
          <a:solidFill>
            <a:srgbClr val="000000"/>
          </a:solidFill>
          <a:ln w="12700">
            <a:solidFill>
              <a:srgbClr val="000000">
                <a:alpha val="0"/>
              </a:srgbClr>
            </a:solidFill>
            <a:prstDash val="solid"/>
          </a:ln>
        </p:spPr>
      </p:sp>
      <p:sp>
        <p:nvSpPr>
          <p:cNvPr id="451" name="Shape 449"/>
          <p:cNvSpPr/>
          <p:nvPr/>
        </p:nvSpPr>
        <p:spPr>
          <a:xfrm>
            <a:off x="13287715" y="6634096"/>
            <a:ext cx="35056" cy="35056"/>
          </a:xfrm>
          <a:prstGeom prst="rect">
            <a:avLst/>
          </a:prstGeom>
          <a:solidFill>
            <a:srgbClr val="000000"/>
          </a:solidFill>
          <a:ln w="12700">
            <a:solidFill>
              <a:srgbClr val="000000">
                <a:alpha val="0"/>
              </a:srgbClr>
            </a:solidFill>
            <a:prstDash val="solid"/>
          </a:ln>
        </p:spPr>
      </p:sp>
      <p:sp>
        <p:nvSpPr>
          <p:cNvPr id="452" name="Shape 450"/>
          <p:cNvSpPr/>
          <p:nvPr/>
        </p:nvSpPr>
        <p:spPr>
          <a:xfrm>
            <a:off x="13391512" y="6634096"/>
            <a:ext cx="35056" cy="35056"/>
          </a:xfrm>
          <a:prstGeom prst="rect">
            <a:avLst/>
          </a:prstGeom>
          <a:solidFill>
            <a:srgbClr val="000000"/>
          </a:solidFill>
          <a:ln w="12700">
            <a:solidFill>
              <a:srgbClr val="000000">
                <a:alpha val="0"/>
              </a:srgbClr>
            </a:solidFill>
            <a:prstDash val="solid"/>
          </a:ln>
        </p:spPr>
      </p:sp>
      <p:sp>
        <p:nvSpPr>
          <p:cNvPr id="453" name="Shape 451"/>
          <p:cNvSpPr/>
          <p:nvPr/>
        </p:nvSpPr>
        <p:spPr>
          <a:xfrm>
            <a:off x="13460709" y="6634096"/>
            <a:ext cx="35056" cy="35056"/>
          </a:xfrm>
          <a:prstGeom prst="rect">
            <a:avLst/>
          </a:prstGeom>
          <a:solidFill>
            <a:srgbClr val="000000"/>
          </a:solidFill>
          <a:ln w="12700">
            <a:solidFill>
              <a:srgbClr val="000000">
                <a:alpha val="0"/>
              </a:srgbClr>
            </a:solidFill>
            <a:prstDash val="solid"/>
          </a:ln>
        </p:spPr>
      </p:sp>
      <p:sp>
        <p:nvSpPr>
          <p:cNvPr id="454" name="Shape 452"/>
          <p:cNvSpPr/>
          <p:nvPr/>
        </p:nvSpPr>
        <p:spPr>
          <a:xfrm>
            <a:off x="12491940" y="6668694"/>
            <a:ext cx="35056" cy="35056"/>
          </a:xfrm>
          <a:prstGeom prst="rect">
            <a:avLst/>
          </a:prstGeom>
          <a:solidFill>
            <a:srgbClr val="000000"/>
          </a:solidFill>
          <a:ln w="12700">
            <a:solidFill>
              <a:srgbClr val="000000">
                <a:alpha val="0"/>
              </a:srgbClr>
            </a:solidFill>
            <a:prstDash val="solid"/>
          </a:ln>
        </p:spPr>
      </p:sp>
      <p:sp>
        <p:nvSpPr>
          <p:cNvPr id="455" name="Shape 453"/>
          <p:cNvSpPr/>
          <p:nvPr/>
        </p:nvSpPr>
        <p:spPr>
          <a:xfrm>
            <a:off x="12699533" y="6668694"/>
            <a:ext cx="35056" cy="35056"/>
          </a:xfrm>
          <a:prstGeom prst="rect">
            <a:avLst/>
          </a:prstGeom>
          <a:solidFill>
            <a:srgbClr val="000000"/>
          </a:solidFill>
          <a:ln w="12700">
            <a:solidFill>
              <a:srgbClr val="000000">
                <a:alpha val="0"/>
              </a:srgbClr>
            </a:solidFill>
            <a:prstDash val="solid"/>
          </a:ln>
        </p:spPr>
      </p:sp>
      <p:sp>
        <p:nvSpPr>
          <p:cNvPr id="456" name="Shape 454"/>
          <p:cNvSpPr/>
          <p:nvPr/>
        </p:nvSpPr>
        <p:spPr>
          <a:xfrm>
            <a:off x="12803330" y="6668694"/>
            <a:ext cx="35056" cy="35056"/>
          </a:xfrm>
          <a:prstGeom prst="rect">
            <a:avLst/>
          </a:prstGeom>
          <a:solidFill>
            <a:srgbClr val="000000"/>
          </a:solidFill>
          <a:ln w="12700">
            <a:solidFill>
              <a:srgbClr val="000000">
                <a:alpha val="0"/>
              </a:srgbClr>
            </a:solidFill>
            <a:prstDash val="solid"/>
          </a:ln>
        </p:spPr>
      </p:sp>
      <p:sp>
        <p:nvSpPr>
          <p:cNvPr id="457" name="Shape 455"/>
          <p:cNvSpPr/>
          <p:nvPr/>
        </p:nvSpPr>
        <p:spPr>
          <a:xfrm>
            <a:off x="12872528" y="6668694"/>
            <a:ext cx="35056" cy="35056"/>
          </a:xfrm>
          <a:prstGeom prst="rect">
            <a:avLst/>
          </a:prstGeom>
          <a:solidFill>
            <a:srgbClr val="000000"/>
          </a:solidFill>
          <a:ln w="12700">
            <a:solidFill>
              <a:srgbClr val="000000">
                <a:alpha val="0"/>
              </a:srgbClr>
            </a:solidFill>
            <a:prstDash val="solid"/>
          </a:ln>
        </p:spPr>
      </p:sp>
      <p:sp>
        <p:nvSpPr>
          <p:cNvPr id="458" name="Shape 456"/>
          <p:cNvSpPr/>
          <p:nvPr/>
        </p:nvSpPr>
        <p:spPr>
          <a:xfrm>
            <a:off x="13045522" y="6668694"/>
            <a:ext cx="35056" cy="35056"/>
          </a:xfrm>
          <a:prstGeom prst="rect">
            <a:avLst/>
          </a:prstGeom>
          <a:solidFill>
            <a:srgbClr val="000000"/>
          </a:solidFill>
          <a:ln w="12700">
            <a:solidFill>
              <a:srgbClr val="000000">
                <a:alpha val="0"/>
              </a:srgbClr>
            </a:solidFill>
            <a:prstDash val="solid"/>
          </a:ln>
        </p:spPr>
      </p:sp>
      <p:sp>
        <p:nvSpPr>
          <p:cNvPr id="459" name="Shape 457"/>
          <p:cNvSpPr/>
          <p:nvPr/>
        </p:nvSpPr>
        <p:spPr>
          <a:xfrm>
            <a:off x="13183918" y="6668694"/>
            <a:ext cx="35056" cy="35056"/>
          </a:xfrm>
          <a:prstGeom prst="rect">
            <a:avLst/>
          </a:prstGeom>
          <a:solidFill>
            <a:srgbClr val="000000"/>
          </a:solidFill>
          <a:ln w="12700">
            <a:solidFill>
              <a:srgbClr val="000000">
                <a:alpha val="0"/>
              </a:srgbClr>
            </a:solidFill>
            <a:prstDash val="solid"/>
          </a:ln>
        </p:spPr>
      </p:sp>
      <p:sp>
        <p:nvSpPr>
          <p:cNvPr id="460" name="Shape 458"/>
          <p:cNvSpPr/>
          <p:nvPr/>
        </p:nvSpPr>
        <p:spPr>
          <a:xfrm>
            <a:off x="13287715" y="6668694"/>
            <a:ext cx="104254" cy="35056"/>
          </a:xfrm>
          <a:prstGeom prst="rect">
            <a:avLst/>
          </a:prstGeom>
          <a:solidFill>
            <a:srgbClr val="000000"/>
          </a:solidFill>
          <a:ln w="12700">
            <a:solidFill>
              <a:srgbClr val="000000">
                <a:alpha val="0"/>
              </a:srgbClr>
            </a:solidFill>
            <a:prstDash val="solid"/>
          </a:ln>
        </p:spPr>
      </p:sp>
      <p:sp>
        <p:nvSpPr>
          <p:cNvPr id="461" name="Shape 459"/>
          <p:cNvSpPr/>
          <p:nvPr/>
        </p:nvSpPr>
        <p:spPr>
          <a:xfrm>
            <a:off x="13426110" y="6668694"/>
            <a:ext cx="35056" cy="35056"/>
          </a:xfrm>
          <a:prstGeom prst="rect">
            <a:avLst/>
          </a:prstGeom>
          <a:solidFill>
            <a:srgbClr val="000000"/>
          </a:solidFill>
          <a:ln w="12700">
            <a:solidFill>
              <a:srgbClr val="000000">
                <a:alpha val="0"/>
              </a:srgbClr>
            </a:solidFill>
            <a:prstDash val="solid"/>
          </a:ln>
        </p:spPr>
      </p:sp>
      <p:sp>
        <p:nvSpPr>
          <p:cNvPr id="462" name="Shape 460"/>
          <p:cNvSpPr/>
          <p:nvPr/>
        </p:nvSpPr>
        <p:spPr>
          <a:xfrm>
            <a:off x="12491940" y="6703293"/>
            <a:ext cx="242650" cy="35056"/>
          </a:xfrm>
          <a:prstGeom prst="rect">
            <a:avLst/>
          </a:prstGeom>
          <a:solidFill>
            <a:srgbClr val="000000"/>
          </a:solidFill>
          <a:ln w="12700">
            <a:solidFill>
              <a:srgbClr val="000000">
                <a:alpha val="0"/>
              </a:srgbClr>
            </a:solidFill>
            <a:prstDash val="solid"/>
          </a:ln>
        </p:spPr>
      </p:sp>
      <p:sp>
        <p:nvSpPr>
          <p:cNvPr id="463" name="Shape 461"/>
          <p:cNvSpPr/>
          <p:nvPr/>
        </p:nvSpPr>
        <p:spPr>
          <a:xfrm>
            <a:off x="12768731" y="6703293"/>
            <a:ext cx="69655" cy="35056"/>
          </a:xfrm>
          <a:prstGeom prst="rect">
            <a:avLst/>
          </a:prstGeom>
          <a:solidFill>
            <a:srgbClr val="000000"/>
          </a:solidFill>
          <a:ln w="12700">
            <a:solidFill>
              <a:srgbClr val="000000">
                <a:alpha val="0"/>
              </a:srgbClr>
            </a:solidFill>
            <a:prstDash val="solid"/>
          </a:ln>
        </p:spPr>
      </p:sp>
      <p:sp>
        <p:nvSpPr>
          <p:cNvPr id="464" name="Shape 462"/>
          <p:cNvSpPr/>
          <p:nvPr/>
        </p:nvSpPr>
        <p:spPr>
          <a:xfrm>
            <a:off x="12872528" y="6703293"/>
            <a:ext cx="138853" cy="35056"/>
          </a:xfrm>
          <a:prstGeom prst="rect">
            <a:avLst/>
          </a:prstGeom>
          <a:solidFill>
            <a:srgbClr val="000000"/>
          </a:solidFill>
          <a:ln w="12700">
            <a:solidFill>
              <a:srgbClr val="000000">
                <a:alpha val="0"/>
              </a:srgbClr>
            </a:solidFill>
            <a:prstDash val="solid"/>
          </a:ln>
        </p:spPr>
      </p:sp>
      <p:sp>
        <p:nvSpPr>
          <p:cNvPr id="465" name="Shape 463"/>
          <p:cNvSpPr/>
          <p:nvPr/>
        </p:nvSpPr>
        <p:spPr>
          <a:xfrm>
            <a:off x="13045522" y="6703293"/>
            <a:ext cx="35056" cy="35056"/>
          </a:xfrm>
          <a:prstGeom prst="rect">
            <a:avLst/>
          </a:prstGeom>
          <a:solidFill>
            <a:srgbClr val="000000"/>
          </a:solidFill>
          <a:ln w="12700">
            <a:solidFill>
              <a:srgbClr val="000000">
                <a:alpha val="0"/>
              </a:srgbClr>
            </a:solidFill>
            <a:prstDash val="solid"/>
          </a:ln>
        </p:spPr>
      </p:sp>
      <p:sp>
        <p:nvSpPr>
          <p:cNvPr id="466" name="Shape 464"/>
          <p:cNvSpPr/>
          <p:nvPr/>
        </p:nvSpPr>
        <p:spPr>
          <a:xfrm>
            <a:off x="13114720" y="6703293"/>
            <a:ext cx="138853" cy="35056"/>
          </a:xfrm>
          <a:prstGeom prst="rect">
            <a:avLst/>
          </a:prstGeom>
          <a:solidFill>
            <a:srgbClr val="000000"/>
          </a:solidFill>
          <a:ln w="12700">
            <a:solidFill>
              <a:srgbClr val="000000">
                <a:alpha val="0"/>
              </a:srgbClr>
            </a:solidFill>
            <a:prstDash val="solid"/>
          </a:ln>
        </p:spPr>
      </p:sp>
      <p:sp>
        <p:nvSpPr>
          <p:cNvPr id="467" name="Shape 465"/>
          <p:cNvSpPr/>
          <p:nvPr/>
        </p:nvSpPr>
        <p:spPr>
          <a:xfrm>
            <a:off x="13356913" y="6703293"/>
            <a:ext cx="35056" cy="35056"/>
          </a:xfrm>
          <a:prstGeom prst="rect">
            <a:avLst/>
          </a:prstGeom>
          <a:solidFill>
            <a:srgbClr val="000000"/>
          </a:solidFill>
          <a:ln w="12700">
            <a:solidFill>
              <a:srgbClr val="000000">
                <a:alpha val="0"/>
              </a:srgbClr>
            </a:solidFill>
            <a:prstDash val="solid"/>
          </a:ln>
        </p:spPr>
      </p:sp>
      <p:sp>
        <p:nvSpPr>
          <p:cNvPr id="468" name="Shape 466"/>
          <p:cNvSpPr/>
          <p:nvPr/>
        </p:nvSpPr>
        <p:spPr>
          <a:xfrm>
            <a:off x="13426110" y="6703293"/>
            <a:ext cx="35056" cy="35056"/>
          </a:xfrm>
          <a:prstGeom prst="rect">
            <a:avLst/>
          </a:prstGeom>
          <a:solidFill>
            <a:srgbClr val="000000"/>
          </a:solidFill>
          <a:ln w="12700">
            <a:solidFill>
              <a:srgbClr val="000000">
                <a:alpha val="0"/>
              </a:srgbClr>
            </a:solidFill>
            <a:prstDash val="solid"/>
          </a:ln>
        </p:spPr>
      </p:sp>
      <p:sp>
        <p:nvSpPr>
          <p:cNvPr id="469" name="Shape 467">
            <a:hlinkClick r:id="rId5" tooltip=""/>
          </p:cNvPr>
          <p:cNvSpPr/>
          <p:nvPr/>
        </p:nvSpPr>
        <p:spPr>
          <a:xfrm>
            <a:off x="12353544" y="5596128"/>
            <a:ext cx="1280160" cy="1280160"/>
          </a:xfrm>
          <a:prstGeom prst="rect">
            <a:avLst/>
          </a:prstGeom>
          <a:solidFill>
            <a:srgbClr val="FFFFFF">
              <a:alpha val="0"/>
            </a:srgbClr>
          </a:solidFill>
          <a:ln w="12700">
            <a:solidFill>
              <a:srgbClr val="FFFFFF">
                <a:alpha val="0"/>
              </a:srgbClr>
            </a:solidFill>
            <a:prstDash val="solid"/>
          </a:ln>
        </p:spPr>
      </p:sp>
      <p:sp>
        <p:nvSpPr>
          <p:cNvPr id="470" name="Text 468">
            <a:hlinkClick r:id="rId6" tooltip=""/>
          </p:cNvPr>
          <p:cNvSpPr/>
          <p:nvPr/>
        </p:nvSpPr>
        <p:spPr>
          <a:xfrm>
            <a:off x="9308592" y="6163056"/>
            <a:ext cx="2724912" cy="292608"/>
          </a:xfrm>
          <a:prstGeom prst="rect">
            <a:avLst/>
          </a:prstGeom>
          <a:noFill/>
          <a:ln/>
        </p:spPr>
        <p:txBody>
          <a:bodyPr wrap="square" lIns="0" tIns="0" rIns="0" bIns="0" rtlCol="0" anchor="ctr"/>
          <a:lstStyle/>
          <a:p>
            <a:pPr indent="0" marL="0">
              <a:buNone/>
            </a:pPr>
            <a:r>
              <a:rPr lang="en-US" sz="1800" b="1" u="sng" dirty="0">
                <a:solidFill>
                  <a:srgbClr val="087E87"/>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LinkedIn</a:t>
            </a:r>
            <a:endParaRPr lang="en-US" sz="1800" dirty="0"/>
          </a:p>
        </p:txBody>
      </p:sp>
      <p:sp>
        <p:nvSpPr>
          <p:cNvPr id="471" name="Text 469">
            <a:hlinkClick r:id="rId7" tooltip=""/>
          </p:cNvPr>
          <p:cNvSpPr/>
          <p:nvPr/>
        </p:nvSpPr>
        <p:spPr>
          <a:xfrm>
            <a:off x="9308592" y="6583680"/>
            <a:ext cx="2761488" cy="237744"/>
          </a:xfrm>
          <a:prstGeom prst="rect">
            <a:avLst/>
          </a:prstGeom>
          <a:noFill/>
          <a:ln/>
        </p:spPr>
        <p:txBody>
          <a:bodyPr wrap="square" lIns="0" tIns="0" rIns="0" bIns="0" rtlCol="0" anchor="ctr"/>
          <a:lstStyle/>
          <a:p>
            <a:pPr indent="0" marL="0">
              <a:buNone/>
            </a:pPr>
            <a:r>
              <a:rPr lang="en-US" sz="1270" u="sng" dirty="0">
                <a:solidFill>
                  <a:srgbClr val="145F96"/>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uk.linkedin.com/in/covpages</a:t>
            </a:r>
            <a:endParaRPr lang="en-US" sz="127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APPENDIX / BENCHMARK DETAIL</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ARC: keep dataset, configuration and cost together</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Appendix / Benchmark detail</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24</a:t>
            </a:r>
            <a:endParaRPr lang="en-US" sz="1100" dirty="0"/>
          </a:p>
        </p:txBody>
      </p:sp>
      <p:sp>
        <p:nvSpPr>
          <p:cNvPr id="9" name="Shape 7"/>
          <p:cNvSpPr/>
          <p:nvPr/>
        </p:nvSpPr>
        <p:spPr>
          <a:xfrm>
            <a:off x="685800" y="1737360"/>
            <a:ext cx="2011680" cy="566928"/>
          </a:xfrm>
          <a:prstGeom prst="rect">
            <a:avLst>
              <a:gd name="adj" fmla="val 19355"/>
            </a:avLst>
          </a:prstGeom>
          <a:solidFill>
            <a:srgbClr val="102B46"/>
          </a:solidFill>
          <a:ln w="12700">
            <a:solidFill>
              <a:srgbClr val="102B46"/>
            </a:solidFill>
            <a:prstDash val="solid"/>
          </a:ln>
        </p:spPr>
      </p:sp>
      <p:sp>
        <p:nvSpPr>
          <p:cNvPr id="10" name="Text 8"/>
          <p:cNvSpPr/>
          <p:nvPr/>
        </p:nvSpPr>
        <p:spPr>
          <a:xfrm>
            <a:off x="804672" y="1874520"/>
            <a:ext cx="1773936" cy="2743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Date</a:t>
            </a:r>
            <a:endParaRPr lang="en-US" sz="1900" dirty="0"/>
          </a:p>
        </p:txBody>
      </p:sp>
      <p:sp>
        <p:nvSpPr>
          <p:cNvPr id="11" name="Shape 9"/>
          <p:cNvSpPr/>
          <p:nvPr/>
        </p:nvSpPr>
        <p:spPr>
          <a:xfrm>
            <a:off x="2926080" y="1737360"/>
            <a:ext cx="3474720" cy="566928"/>
          </a:xfrm>
          <a:prstGeom prst="rect">
            <a:avLst>
              <a:gd name="adj" fmla="val 19355"/>
            </a:avLst>
          </a:prstGeom>
          <a:solidFill>
            <a:srgbClr val="102B46"/>
          </a:solidFill>
          <a:ln w="12700">
            <a:solidFill>
              <a:srgbClr val="102B46"/>
            </a:solidFill>
            <a:prstDash val="solid"/>
          </a:ln>
        </p:spPr>
      </p:sp>
      <p:sp>
        <p:nvSpPr>
          <p:cNvPr id="12" name="Text 10"/>
          <p:cNvSpPr/>
          <p:nvPr/>
        </p:nvSpPr>
        <p:spPr>
          <a:xfrm>
            <a:off x="3044952" y="1874520"/>
            <a:ext cx="3236976" cy="2743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Evaluation</a:t>
            </a:r>
            <a:endParaRPr lang="en-US" sz="1900" dirty="0"/>
          </a:p>
        </p:txBody>
      </p:sp>
      <p:sp>
        <p:nvSpPr>
          <p:cNvPr id="13" name="Shape 11"/>
          <p:cNvSpPr/>
          <p:nvPr/>
        </p:nvSpPr>
        <p:spPr>
          <a:xfrm>
            <a:off x="6629400" y="1737360"/>
            <a:ext cx="2514600" cy="566928"/>
          </a:xfrm>
          <a:prstGeom prst="rect">
            <a:avLst>
              <a:gd name="adj" fmla="val 19355"/>
            </a:avLst>
          </a:prstGeom>
          <a:solidFill>
            <a:srgbClr val="102B46"/>
          </a:solidFill>
          <a:ln w="12700">
            <a:solidFill>
              <a:srgbClr val="102B46"/>
            </a:solidFill>
            <a:prstDash val="solid"/>
          </a:ln>
        </p:spPr>
      </p:sp>
      <p:sp>
        <p:nvSpPr>
          <p:cNvPr id="14" name="Text 12"/>
          <p:cNvSpPr/>
          <p:nvPr/>
        </p:nvSpPr>
        <p:spPr>
          <a:xfrm>
            <a:off x="6748272" y="1874520"/>
            <a:ext cx="2276856" cy="2743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Score</a:t>
            </a:r>
            <a:endParaRPr lang="en-US" sz="1900" dirty="0"/>
          </a:p>
        </p:txBody>
      </p:sp>
      <p:sp>
        <p:nvSpPr>
          <p:cNvPr id="15" name="Shape 13"/>
          <p:cNvSpPr/>
          <p:nvPr/>
        </p:nvSpPr>
        <p:spPr>
          <a:xfrm>
            <a:off x="9390888" y="1737360"/>
            <a:ext cx="4526280" cy="566928"/>
          </a:xfrm>
          <a:prstGeom prst="rect">
            <a:avLst>
              <a:gd name="adj" fmla="val 19355"/>
            </a:avLst>
          </a:prstGeom>
          <a:solidFill>
            <a:srgbClr val="102B46"/>
          </a:solidFill>
          <a:ln w="12700">
            <a:solidFill>
              <a:srgbClr val="102B46"/>
            </a:solidFill>
            <a:prstDash val="solid"/>
          </a:ln>
        </p:spPr>
      </p:sp>
      <p:sp>
        <p:nvSpPr>
          <p:cNvPr id="16" name="Text 14"/>
          <p:cNvSpPr/>
          <p:nvPr/>
        </p:nvSpPr>
        <p:spPr>
          <a:xfrm>
            <a:off x="9509760" y="1874520"/>
            <a:ext cx="4288536" cy="2743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Qualification</a:t>
            </a:r>
            <a:endParaRPr lang="en-US" sz="1900" dirty="0"/>
          </a:p>
        </p:txBody>
      </p:sp>
      <p:sp>
        <p:nvSpPr>
          <p:cNvPr id="17" name="Shape 15"/>
          <p:cNvSpPr/>
          <p:nvPr/>
        </p:nvSpPr>
        <p:spPr>
          <a:xfrm>
            <a:off x="685800" y="2468880"/>
            <a:ext cx="2011680" cy="630936"/>
          </a:xfrm>
          <a:prstGeom prst="rect">
            <a:avLst>
              <a:gd name="adj" fmla="val 17391"/>
            </a:avLst>
          </a:prstGeom>
          <a:solidFill>
            <a:srgbClr val="EDF3F7"/>
          </a:solidFill>
          <a:ln w="12700">
            <a:solidFill>
              <a:srgbClr val="EDF3F7"/>
            </a:solidFill>
            <a:prstDash val="solid"/>
          </a:ln>
        </p:spPr>
      </p:sp>
      <p:sp>
        <p:nvSpPr>
          <p:cNvPr id="18" name="Text 16"/>
          <p:cNvSpPr/>
          <p:nvPr/>
        </p:nvSpPr>
        <p:spPr>
          <a:xfrm>
            <a:off x="804672" y="2578608"/>
            <a:ext cx="177393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Sep 2024</a:t>
            </a:r>
            <a:endParaRPr lang="en-US" sz="1750" dirty="0"/>
          </a:p>
        </p:txBody>
      </p:sp>
      <p:sp>
        <p:nvSpPr>
          <p:cNvPr id="19" name="Shape 17"/>
          <p:cNvSpPr/>
          <p:nvPr/>
        </p:nvSpPr>
        <p:spPr>
          <a:xfrm>
            <a:off x="2926080" y="2468880"/>
            <a:ext cx="3474720" cy="630936"/>
          </a:xfrm>
          <a:prstGeom prst="rect">
            <a:avLst>
              <a:gd name="adj" fmla="val 17391"/>
            </a:avLst>
          </a:prstGeom>
          <a:solidFill>
            <a:srgbClr val="EDF3F7"/>
          </a:solidFill>
          <a:ln w="12700">
            <a:solidFill>
              <a:srgbClr val="EDF3F7"/>
            </a:solidFill>
            <a:prstDash val="solid"/>
          </a:ln>
        </p:spPr>
      </p:sp>
      <p:sp>
        <p:nvSpPr>
          <p:cNvPr id="20" name="Text 18"/>
          <p:cNvSpPr/>
          <p:nvPr/>
        </p:nvSpPr>
        <p:spPr>
          <a:xfrm>
            <a:off x="3044952" y="2578608"/>
            <a:ext cx="323697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GPT-4o baseline</a:t>
            </a:r>
            <a:endParaRPr lang="en-US" sz="1750" dirty="0"/>
          </a:p>
        </p:txBody>
      </p:sp>
      <p:sp>
        <p:nvSpPr>
          <p:cNvPr id="21" name="Shape 19"/>
          <p:cNvSpPr/>
          <p:nvPr/>
        </p:nvSpPr>
        <p:spPr>
          <a:xfrm>
            <a:off x="6629400" y="2468880"/>
            <a:ext cx="2514600" cy="630936"/>
          </a:xfrm>
          <a:prstGeom prst="rect">
            <a:avLst>
              <a:gd name="adj" fmla="val 17391"/>
            </a:avLst>
          </a:prstGeom>
          <a:solidFill>
            <a:srgbClr val="EDF3F7"/>
          </a:solidFill>
          <a:ln w="12700">
            <a:solidFill>
              <a:srgbClr val="EDF3F7"/>
            </a:solidFill>
            <a:prstDash val="solid"/>
          </a:ln>
        </p:spPr>
      </p:sp>
      <p:sp>
        <p:nvSpPr>
          <p:cNvPr id="22" name="Text 20"/>
          <p:cNvSpPr/>
          <p:nvPr/>
        </p:nvSpPr>
        <p:spPr>
          <a:xfrm>
            <a:off x="6748272" y="2578608"/>
            <a:ext cx="2276856" cy="429768"/>
          </a:xfrm>
          <a:prstGeom prst="rect">
            <a:avLst/>
          </a:prstGeom>
          <a:noFill/>
          <a:ln/>
        </p:spPr>
        <p:txBody>
          <a:bodyPr wrap="square" lIns="0" tIns="0" rIns="0" bIns="0" rtlCol="0" anchor="ctr"/>
          <a:lstStyle/>
          <a:p>
            <a:pPr indent="0" marL="0">
              <a:buNone/>
            </a:pPr>
            <a:r>
              <a:rPr lang="en-US" sz="1750" b="1" dirty="0">
                <a:solidFill>
                  <a:srgbClr val="172E43"/>
                </a:solidFill>
                <a:latin typeface="Arial" pitchFamily="34" charset="0"/>
                <a:ea typeface="Arial" pitchFamily="34" charset="-122"/>
                <a:cs typeface="Arial" pitchFamily="34" charset="-120"/>
              </a:rPr>
              <a:t>5%</a:t>
            </a:r>
            <a:endParaRPr lang="en-US" sz="1750" dirty="0"/>
          </a:p>
        </p:txBody>
      </p:sp>
      <p:sp>
        <p:nvSpPr>
          <p:cNvPr id="23" name="Shape 21"/>
          <p:cNvSpPr/>
          <p:nvPr/>
        </p:nvSpPr>
        <p:spPr>
          <a:xfrm>
            <a:off x="9390888" y="2468880"/>
            <a:ext cx="4526280" cy="630936"/>
          </a:xfrm>
          <a:prstGeom prst="rect">
            <a:avLst>
              <a:gd name="adj" fmla="val 17391"/>
            </a:avLst>
          </a:prstGeom>
          <a:solidFill>
            <a:srgbClr val="EDF3F7"/>
          </a:solidFill>
          <a:ln w="12700">
            <a:solidFill>
              <a:srgbClr val="EDF3F7"/>
            </a:solidFill>
            <a:prstDash val="solid"/>
          </a:ln>
        </p:spPr>
      </p:sp>
      <p:sp>
        <p:nvSpPr>
          <p:cNvPr id="24" name="Text 22"/>
          <p:cNvSpPr/>
          <p:nvPr/>
        </p:nvSpPr>
        <p:spPr>
          <a:xfrm>
            <a:off x="9509760" y="2578608"/>
            <a:ext cx="4288536" cy="429768"/>
          </a:xfrm>
          <a:prstGeom prst="rect">
            <a:avLst/>
          </a:prstGeom>
          <a:noFill/>
          <a:ln/>
        </p:spPr>
        <p:txBody>
          <a:bodyPr wrap="square" lIns="0" tIns="0" rIns="0" bIns="0" rtlCol="0" anchor="ctr"/>
          <a:lstStyle/>
          <a:p>
            <a:pPr indent="0" marL="0">
              <a:buNone/>
            </a:pPr>
            <a:r>
              <a:rPr lang="en-US" sz="1550" dirty="0">
                <a:solidFill>
                  <a:srgbClr val="172E43"/>
                </a:solidFill>
                <a:latin typeface="Arial" pitchFamily="34" charset="0"/>
                <a:ea typeface="Arial" pitchFamily="34" charset="-122"/>
                <a:cs typeface="Arial" pitchFamily="34" charset="-120"/>
              </a:rPr>
              <a:t>ARC-AGI-1 semi-private;</a:t>
            </a:r>
            <a:endParaRPr lang="en-US" sz="1550" dirty="0"/>
          </a:p>
          <a:p>
            <a:pPr indent="0" marL="0">
              <a:buNone/>
            </a:pPr>
            <a:r>
              <a:rPr lang="en-US" sz="1550" dirty="0">
                <a:solidFill>
                  <a:srgbClr val="172E43"/>
                </a:solidFill>
                <a:latin typeface="Arial" pitchFamily="34" charset="0"/>
                <a:ea typeface="Arial" pitchFamily="34" charset="-122"/>
                <a:cs typeface="Arial" pitchFamily="34" charset="-120"/>
              </a:rPr>
              <a:t>public score was 9%.</a:t>
            </a:r>
            <a:endParaRPr lang="en-US" sz="1550" dirty="0"/>
          </a:p>
        </p:txBody>
      </p:sp>
      <p:sp>
        <p:nvSpPr>
          <p:cNvPr id="25" name="Shape 23"/>
          <p:cNvSpPr/>
          <p:nvPr/>
        </p:nvSpPr>
        <p:spPr>
          <a:xfrm>
            <a:off x="685800" y="3163824"/>
            <a:ext cx="2011680" cy="630936"/>
          </a:xfrm>
          <a:prstGeom prst="rect">
            <a:avLst>
              <a:gd name="adj" fmla="val 17391"/>
            </a:avLst>
          </a:prstGeom>
          <a:solidFill>
            <a:srgbClr val="FFFFFF"/>
          </a:solidFill>
          <a:ln w="12700">
            <a:solidFill>
              <a:srgbClr val="FFFFFF"/>
            </a:solidFill>
            <a:prstDash val="solid"/>
          </a:ln>
        </p:spPr>
      </p:sp>
      <p:sp>
        <p:nvSpPr>
          <p:cNvPr id="26" name="Text 24"/>
          <p:cNvSpPr/>
          <p:nvPr/>
        </p:nvSpPr>
        <p:spPr>
          <a:xfrm>
            <a:off x="804672" y="3273552"/>
            <a:ext cx="177393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Dec 2024</a:t>
            </a:r>
            <a:endParaRPr lang="en-US" sz="1750" dirty="0"/>
          </a:p>
        </p:txBody>
      </p:sp>
      <p:sp>
        <p:nvSpPr>
          <p:cNvPr id="27" name="Shape 25"/>
          <p:cNvSpPr/>
          <p:nvPr/>
        </p:nvSpPr>
        <p:spPr>
          <a:xfrm>
            <a:off x="2926080" y="3163824"/>
            <a:ext cx="3474720" cy="630936"/>
          </a:xfrm>
          <a:prstGeom prst="rect">
            <a:avLst>
              <a:gd name="adj" fmla="val 17391"/>
            </a:avLst>
          </a:prstGeom>
          <a:solidFill>
            <a:srgbClr val="FFFFFF"/>
          </a:solidFill>
          <a:ln w="12700">
            <a:solidFill>
              <a:srgbClr val="FFFFFF"/>
            </a:solidFill>
            <a:prstDash val="solid"/>
          </a:ln>
        </p:spPr>
      </p:sp>
      <p:sp>
        <p:nvSpPr>
          <p:cNvPr id="28" name="Text 26"/>
          <p:cNvSpPr/>
          <p:nvPr/>
        </p:nvSpPr>
        <p:spPr>
          <a:xfrm>
            <a:off x="3044952" y="3273552"/>
            <a:ext cx="323697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o3-preview / lower compute</a:t>
            </a:r>
            <a:endParaRPr lang="en-US" sz="1750" dirty="0"/>
          </a:p>
        </p:txBody>
      </p:sp>
      <p:sp>
        <p:nvSpPr>
          <p:cNvPr id="29" name="Shape 27"/>
          <p:cNvSpPr/>
          <p:nvPr/>
        </p:nvSpPr>
        <p:spPr>
          <a:xfrm>
            <a:off x="6629400" y="3163824"/>
            <a:ext cx="2514600" cy="630936"/>
          </a:xfrm>
          <a:prstGeom prst="rect">
            <a:avLst>
              <a:gd name="adj" fmla="val 17391"/>
            </a:avLst>
          </a:prstGeom>
          <a:solidFill>
            <a:srgbClr val="FFFFFF"/>
          </a:solidFill>
          <a:ln w="12700">
            <a:solidFill>
              <a:srgbClr val="FFFFFF"/>
            </a:solidFill>
            <a:prstDash val="solid"/>
          </a:ln>
        </p:spPr>
      </p:sp>
      <p:sp>
        <p:nvSpPr>
          <p:cNvPr id="30" name="Text 28"/>
          <p:cNvSpPr/>
          <p:nvPr/>
        </p:nvSpPr>
        <p:spPr>
          <a:xfrm>
            <a:off x="6748272" y="3273552"/>
            <a:ext cx="2276856" cy="429768"/>
          </a:xfrm>
          <a:prstGeom prst="rect">
            <a:avLst/>
          </a:prstGeom>
          <a:noFill/>
          <a:ln/>
        </p:spPr>
        <p:txBody>
          <a:bodyPr wrap="square" lIns="0" tIns="0" rIns="0" bIns="0" rtlCol="0" anchor="ctr"/>
          <a:lstStyle/>
          <a:p>
            <a:pPr indent="0" marL="0">
              <a:buNone/>
            </a:pPr>
            <a:r>
              <a:rPr lang="en-US" sz="1750" b="1" dirty="0">
                <a:solidFill>
                  <a:srgbClr val="172E43"/>
                </a:solidFill>
                <a:latin typeface="Arial" pitchFamily="34" charset="0"/>
                <a:ea typeface="Arial" pitchFamily="34" charset="-122"/>
                <a:cs typeface="Arial" pitchFamily="34" charset="-120"/>
              </a:rPr>
              <a:t>75.7%</a:t>
            </a:r>
            <a:endParaRPr lang="en-US" sz="1750" dirty="0"/>
          </a:p>
        </p:txBody>
      </p:sp>
      <p:sp>
        <p:nvSpPr>
          <p:cNvPr id="31" name="Shape 29"/>
          <p:cNvSpPr/>
          <p:nvPr/>
        </p:nvSpPr>
        <p:spPr>
          <a:xfrm>
            <a:off x="9390888" y="3163824"/>
            <a:ext cx="4526280" cy="630936"/>
          </a:xfrm>
          <a:prstGeom prst="rect">
            <a:avLst>
              <a:gd name="adj" fmla="val 17391"/>
            </a:avLst>
          </a:prstGeom>
          <a:solidFill>
            <a:srgbClr val="FFFFFF"/>
          </a:solidFill>
          <a:ln w="12700">
            <a:solidFill>
              <a:srgbClr val="FFFFFF"/>
            </a:solidFill>
            <a:prstDash val="solid"/>
          </a:ln>
        </p:spPr>
      </p:sp>
      <p:sp>
        <p:nvSpPr>
          <p:cNvPr id="32" name="Text 30"/>
          <p:cNvSpPr/>
          <p:nvPr/>
        </p:nvSpPr>
        <p:spPr>
          <a:xfrm>
            <a:off x="9509760" y="3273552"/>
            <a:ext cx="4288536" cy="429768"/>
          </a:xfrm>
          <a:prstGeom prst="rect">
            <a:avLst/>
          </a:prstGeom>
          <a:noFill/>
          <a:ln/>
        </p:spPr>
        <p:txBody>
          <a:bodyPr wrap="square" lIns="0" tIns="0" rIns="0" bIns="0" rtlCol="0" anchor="ctr"/>
          <a:lstStyle/>
          <a:p>
            <a:pPr indent="0" marL="0">
              <a:buNone/>
            </a:pPr>
            <a:r>
              <a:rPr lang="en-US" sz="1550" dirty="0">
                <a:solidFill>
                  <a:srgbClr val="172E43"/>
                </a:solidFill>
                <a:latin typeface="Arial" pitchFamily="34" charset="0"/>
                <a:ea typeface="Arial" pitchFamily="34" charset="-122"/>
                <a:cs typeface="Arial" pitchFamily="34" charset="-120"/>
              </a:rPr>
              <a:t>ARC-AGI-1 semi-private.</a:t>
            </a:r>
            <a:endParaRPr lang="en-US" sz="1550" dirty="0"/>
          </a:p>
        </p:txBody>
      </p:sp>
      <p:sp>
        <p:nvSpPr>
          <p:cNvPr id="33" name="Shape 31"/>
          <p:cNvSpPr/>
          <p:nvPr/>
        </p:nvSpPr>
        <p:spPr>
          <a:xfrm>
            <a:off x="685800" y="3858768"/>
            <a:ext cx="2011680" cy="630936"/>
          </a:xfrm>
          <a:prstGeom prst="rect">
            <a:avLst>
              <a:gd name="adj" fmla="val 17391"/>
            </a:avLst>
          </a:prstGeom>
          <a:solidFill>
            <a:srgbClr val="EDF3F7"/>
          </a:solidFill>
          <a:ln w="12700">
            <a:solidFill>
              <a:srgbClr val="EDF3F7"/>
            </a:solidFill>
            <a:prstDash val="solid"/>
          </a:ln>
        </p:spPr>
      </p:sp>
      <p:sp>
        <p:nvSpPr>
          <p:cNvPr id="34" name="Text 32"/>
          <p:cNvSpPr/>
          <p:nvPr/>
        </p:nvSpPr>
        <p:spPr>
          <a:xfrm>
            <a:off x="804672" y="3968496"/>
            <a:ext cx="177393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Dec 2024</a:t>
            </a:r>
            <a:endParaRPr lang="en-US" sz="1750" dirty="0"/>
          </a:p>
        </p:txBody>
      </p:sp>
      <p:sp>
        <p:nvSpPr>
          <p:cNvPr id="35" name="Shape 33"/>
          <p:cNvSpPr/>
          <p:nvPr/>
        </p:nvSpPr>
        <p:spPr>
          <a:xfrm>
            <a:off x="2926080" y="3858768"/>
            <a:ext cx="3474720" cy="630936"/>
          </a:xfrm>
          <a:prstGeom prst="rect">
            <a:avLst>
              <a:gd name="adj" fmla="val 17391"/>
            </a:avLst>
          </a:prstGeom>
          <a:solidFill>
            <a:srgbClr val="EDF3F7"/>
          </a:solidFill>
          <a:ln w="12700">
            <a:solidFill>
              <a:srgbClr val="EDF3F7"/>
            </a:solidFill>
            <a:prstDash val="solid"/>
          </a:ln>
        </p:spPr>
      </p:sp>
      <p:sp>
        <p:nvSpPr>
          <p:cNvPr id="36" name="Text 34"/>
          <p:cNvSpPr/>
          <p:nvPr/>
        </p:nvSpPr>
        <p:spPr>
          <a:xfrm>
            <a:off x="3044952" y="3968496"/>
            <a:ext cx="323697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o3-preview / higher compute</a:t>
            </a:r>
            <a:endParaRPr lang="en-US" sz="1750" dirty="0"/>
          </a:p>
        </p:txBody>
      </p:sp>
      <p:sp>
        <p:nvSpPr>
          <p:cNvPr id="37" name="Shape 35"/>
          <p:cNvSpPr/>
          <p:nvPr/>
        </p:nvSpPr>
        <p:spPr>
          <a:xfrm>
            <a:off x="6629400" y="3858768"/>
            <a:ext cx="2514600" cy="630936"/>
          </a:xfrm>
          <a:prstGeom prst="rect">
            <a:avLst>
              <a:gd name="adj" fmla="val 17391"/>
            </a:avLst>
          </a:prstGeom>
          <a:solidFill>
            <a:srgbClr val="EDF3F7"/>
          </a:solidFill>
          <a:ln w="12700">
            <a:solidFill>
              <a:srgbClr val="EDF3F7"/>
            </a:solidFill>
            <a:prstDash val="solid"/>
          </a:ln>
        </p:spPr>
      </p:sp>
      <p:sp>
        <p:nvSpPr>
          <p:cNvPr id="38" name="Text 36"/>
          <p:cNvSpPr/>
          <p:nvPr/>
        </p:nvSpPr>
        <p:spPr>
          <a:xfrm>
            <a:off x="6748272" y="3968496"/>
            <a:ext cx="2276856" cy="429768"/>
          </a:xfrm>
          <a:prstGeom prst="rect">
            <a:avLst/>
          </a:prstGeom>
          <a:noFill/>
          <a:ln/>
        </p:spPr>
        <p:txBody>
          <a:bodyPr wrap="square" lIns="0" tIns="0" rIns="0" bIns="0" rtlCol="0" anchor="ctr"/>
          <a:lstStyle/>
          <a:p>
            <a:pPr indent="0" marL="0">
              <a:buNone/>
            </a:pPr>
            <a:r>
              <a:rPr lang="en-US" sz="1750" b="1" dirty="0">
                <a:solidFill>
                  <a:srgbClr val="172E43"/>
                </a:solidFill>
                <a:latin typeface="Arial" pitchFamily="34" charset="0"/>
                <a:ea typeface="Arial" pitchFamily="34" charset="-122"/>
                <a:cs typeface="Arial" pitchFamily="34" charset="-120"/>
              </a:rPr>
              <a:t>87.5%</a:t>
            </a:r>
            <a:endParaRPr lang="en-US" sz="1750" dirty="0"/>
          </a:p>
        </p:txBody>
      </p:sp>
      <p:sp>
        <p:nvSpPr>
          <p:cNvPr id="39" name="Shape 37"/>
          <p:cNvSpPr/>
          <p:nvPr/>
        </p:nvSpPr>
        <p:spPr>
          <a:xfrm>
            <a:off x="9390888" y="3858768"/>
            <a:ext cx="4526280" cy="630936"/>
          </a:xfrm>
          <a:prstGeom prst="rect">
            <a:avLst>
              <a:gd name="adj" fmla="val 17391"/>
            </a:avLst>
          </a:prstGeom>
          <a:solidFill>
            <a:srgbClr val="EDF3F7"/>
          </a:solidFill>
          <a:ln w="12700">
            <a:solidFill>
              <a:srgbClr val="EDF3F7"/>
            </a:solidFill>
            <a:prstDash val="solid"/>
          </a:ln>
        </p:spPr>
      </p:sp>
      <p:sp>
        <p:nvSpPr>
          <p:cNvPr id="40" name="Text 38"/>
          <p:cNvSpPr/>
          <p:nvPr/>
        </p:nvSpPr>
        <p:spPr>
          <a:xfrm>
            <a:off x="9509760" y="3968496"/>
            <a:ext cx="4288536" cy="429768"/>
          </a:xfrm>
          <a:prstGeom prst="rect">
            <a:avLst/>
          </a:prstGeom>
          <a:noFill/>
          <a:ln/>
        </p:spPr>
        <p:txBody>
          <a:bodyPr wrap="square" lIns="0" tIns="0" rIns="0" bIns="0" rtlCol="0" anchor="ctr"/>
          <a:lstStyle/>
          <a:p>
            <a:pPr indent="0" marL="0">
              <a:buNone/>
            </a:pPr>
            <a:r>
              <a:rPr lang="en-US" sz="1550" dirty="0">
                <a:solidFill>
                  <a:srgbClr val="172E43"/>
                </a:solidFill>
                <a:latin typeface="Arial" pitchFamily="34" charset="0"/>
                <a:ea typeface="Arial" pitchFamily="34" charset="-122"/>
                <a:cs typeface="Arial" pitchFamily="34" charset="-120"/>
              </a:rPr>
              <a:t>About 172× the compute.</a:t>
            </a:r>
            <a:endParaRPr lang="en-US" sz="1550" dirty="0"/>
          </a:p>
        </p:txBody>
      </p:sp>
      <p:sp>
        <p:nvSpPr>
          <p:cNvPr id="41" name="Shape 39"/>
          <p:cNvSpPr/>
          <p:nvPr/>
        </p:nvSpPr>
        <p:spPr>
          <a:xfrm>
            <a:off x="685800" y="4553712"/>
            <a:ext cx="2011680" cy="630936"/>
          </a:xfrm>
          <a:prstGeom prst="rect">
            <a:avLst>
              <a:gd name="adj" fmla="val 17391"/>
            </a:avLst>
          </a:prstGeom>
          <a:solidFill>
            <a:srgbClr val="FFFFFF"/>
          </a:solidFill>
          <a:ln w="12700">
            <a:solidFill>
              <a:srgbClr val="FFFFFF"/>
            </a:solidFill>
            <a:prstDash val="solid"/>
          </a:ln>
        </p:spPr>
      </p:sp>
      <p:sp>
        <p:nvSpPr>
          <p:cNvPr id="42" name="Text 40"/>
          <p:cNvSpPr/>
          <p:nvPr/>
        </p:nvSpPr>
        <p:spPr>
          <a:xfrm>
            <a:off x="804672" y="4663440"/>
            <a:ext cx="177393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24 Mar 2025</a:t>
            </a:r>
            <a:endParaRPr lang="en-US" sz="1750" dirty="0"/>
          </a:p>
        </p:txBody>
      </p:sp>
      <p:sp>
        <p:nvSpPr>
          <p:cNvPr id="43" name="Shape 41"/>
          <p:cNvSpPr/>
          <p:nvPr/>
        </p:nvSpPr>
        <p:spPr>
          <a:xfrm>
            <a:off x="2926080" y="4553712"/>
            <a:ext cx="3474720" cy="630936"/>
          </a:xfrm>
          <a:prstGeom prst="rect">
            <a:avLst>
              <a:gd name="adj" fmla="val 17391"/>
            </a:avLst>
          </a:prstGeom>
          <a:solidFill>
            <a:srgbClr val="FFFFFF"/>
          </a:solidFill>
          <a:ln w="12700">
            <a:solidFill>
              <a:srgbClr val="FFFFFF"/>
            </a:solidFill>
            <a:prstDash val="solid"/>
          </a:ln>
        </p:spPr>
      </p:sp>
      <p:sp>
        <p:nvSpPr>
          <p:cNvPr id="44" name="Text 42"/>
          <p:cNvSpPr/>
          <p:nvPr/>
        </p:nvSpPr>
        <p:spPr>
          <a:xfrm>
            <a:off x="3044952" y="4663440"/>
            <a:ext cx="323697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ARC-AGI-2 launched</a:t>
            </a:r>
            <a:endParaRPr lang="en-US" sz="1750" dirty="0"/>
          </a:p>
        </p:txBody>
      </p:sp>
      <p:sp>
        <p:nvSpPr>
          <p:cNvPr id="45" name="Shape 43"/>
          <p:cNvSpPr/>
          <p:nvPr/>
        </p:nvSpPr>
        <p:spPr>
          <a:xfrm>
            <a:off x="6629400" y="4553712"/>
            <a:ext cx="2514600" cy="630936"/>
          </a:xfrm>
          <a:prstGeom prst="rect">
            <a:avLst>
              <a:gd name="adj" fmla="val 17391"/>
            </a:avLst>
          </a:prstGeom>
          <a:solidFill>
            <a:srgbClr val="FFFFFF"/>
          </a:solidFill>
          <a:ln w="12700">
            <a:solidFill>
              <a:srgbClr val="FFFFFF"/>
            </a:solidFill>
            <a:prstDash val="solid"/>
          </a:ln>
        </p:spPr>
      </p:sp>
      <p:sp>
        <p:nvSpPr>
          <p:cNvPr id="46" name="Text 44"/>
          <p:cNvSpPr/>
          <p:nvPr/>
        </p:nvSpPr>
        <p:spPr>
          <a:xfrm>
            <a:off x="6748272" y="4663440"/>
            <a:ext cx="2276856" cy="429768"/>
          </a:xfrm>
          <a:prstGeom prst="rect">
            <a:avLst/>
          </a:prstGeom>
          <a:noFill/>
          <a:ln/>
        </p:spPr>
        <p:txBody>
          <a:bodyPr wrap="square" lIns="0" tIns="0" rIns="0" bIns="0" rtlCol="0" anchor="ctr"/>
          <a:lstStyle/>
          <a:p>
            <a:pPr indent="0" marL="0">
              <a:buNone/>
            </a:pPr>
            <a:r>
              <a:rPr lang="en-US" sz="1750" b="1" dirty="0">
                <a:solidFill>
                  <a:srgbClr val="172E43"/>
                </a:solidFill>
                <a:latin typeface="Arial" pitchFamily="34" charset="0"/>
                <a:ea typeface="Arial" pitchFamily="34" charset="-122"/>
                <a:cs typeface="Arial" pitchFamily="34" charset="-120"/>
              </a:rPr>
              <a:t>New benchmark</a:t>
            </a:r>
            <a:endParaRPr lang="en-US" sz="1750" dirty="0"/>
          </a:p>
        </p:txBody>
      </p:sp>
      <p:sp>
        <p:nvSpPr>
          <p:cNvPr id="47" name="Shape 45"/>
          <p:cNvSpPr/>
          <p:nvPr/>
        </p:nvSpPr>
        <p:spPr>
          <a:xfrm>
            <a:off x="9390888" y="4553712"/>
            <a:ext cx="4526280" cy="630936"/>
          </a:xfrm>
          <a:prstGeom prst="rect">
            <a:avLst>
              <a:gd name="adj" fmla="val 17391"/>
            </a:avLst>
          </a:prstGeom>
          <a:solidFill>
            <a:srgbClr val="FFFFFF"/>
          </a:solidFill>
          <a:ln w="12700">
            <a:solidFill>
              <a:srgbClr val="FFFFFF"/>
            </a:solidFill>
            <a:prstDash val="solid"/>
          </a:ln>
        </p:spPr>
      </p:sp>
      <p:sp>
        <p:nvSpPr>
          <p:cNvPr id="48" name="Text 46"/>
          <p:cNvSpPr/>
          <p:nvPr/>
        </p:nvSpPr>
        <p:spPr>
          <a:xfrm>
            <a:off x="9509760" y="4663440"/>
            <a:ext cx="4288536" cy="429768"/>
          </a:xfrm>
          <a:prstGeom prst="rect">
            <a:avLst/>
          </a:prstGeom>
          <a:noFill/>
          <a:ln/>
        </p:spPr>
        <p:txBody>
          <a:bodyPr wrap="square" lIns="0" tIns="0" rIns="0" bIns="0" rtlCol="0" anchor="ctr"/>
          <a:lstStyle/>
          <a:p>
            <a:pPr indent="0" marL="0">
              <a:buNone/>
            </a:pPr>
            <a:r>
              <a:rPr lang="en-US" sz="1550" dirty="0">
                <a:solidFill>
                  <a:srgbClr val="172E43"/>
                </a:solidFill>
                <a:latin typeface="Arial" pitchFamily="34" charset="0"/>
                <a:ea typeface="Arial" pitchFamily="34" charset="-122"/>
                <a:cs typeface="Arial" pitchFamily="34" charset="-120"/>
              </a:rPr>
              <a:t>Known design weaknesses</a:t>
            </a:r>
            <a:endParaRPr lang="en-US" sz="1550" dirty="0"/>
          </a:p>
          <a:p>
            <a:pPr indent="0" marL="0">
              <a:buNone/>
            </a:pPr>
            <a:r>
              <a:rPr lang="en-US" sz="1550" dirty="0">
                <a:solidFill>
                  <a:srgbClr val="172E43"/>
                </a:solidFill>
                <a:latin typeface="Arial" pitchFamily="34" charset="0"/>
                <a:ea typeface="Arial" pitchFamily="34" charset="-122"/>
                <a:cs typeface="Arial" pitchFamily="34" charset="-120"/>
              </a:rPr>
              <a:t>were addressed; not an o3 reaction only.</a:t>
            </a:r>
            <a:endParaRPr lang="en-US" sz="1550" dirty="0"/>
          </a:p>
        </p:txBody>
      </p:sp>
      <p:sp>
        <p:nvSpPr>
          <p:cNvPr id="49" name="Shape 47"/>
          <p:cNvSpPr/>
          <p:nvPr/>
        </p:nvSpPr>
        <p:spPr>
          <a:xfrm>
            <a:off x="685800" y="5248656"/>
            <a:ext cx="2011680" cy="630936"/>
          </a:xfrm>
          <a:prstGeom prst="rect">
            <a:avLst>
              <a:gd name="adj" fmla="val 17391"/>
            </a:avLst>
          </a:prstGeom>
          <a:solidFill>
            <a:srgbClr val="EDF3F7"/>
          </a:solidFill>
          <a:ln w="12700">
            <a:solidFill>
              <a:srgbClr val="EDF3F7"/>
            </a:solidFill>
            <a:prstDash val="solid"/>
          </a:ln>
        </p:spPr>
      </p:sp>
      <p:sp>
        <p:nvSpPr>
          <p:cNvPr id="50" name="Text 48"/>
          <p:cNvSpPr/>
          <p:nvPr/>
        </p:nvSpPr>
        <p:spPr>
          <a:xfrm>
            <a:off x="804672" y="5358384"/>
            <a:ext cx="177393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25 Mar 2026</a:t>
            </a:r>
            <a:endParaRPr lang="en-US" sz="1750" dirty="0"/>
          </a:p>
        </p:txBody>
      </p:sp>
      <p:sp>
        <p:nvSpPr>
          <p:cNvPr id="51" name="Shape 49"/>
          <p:cNvSpPr/>
          <p:nvPr/>
        </p:nvSpPr>
        <p:spPr>
          <a:xfrm>
            <a:off x="2926080" y="5248656"/>
            <a:ext cx="3474720" cy="630936"/>
          </a:xfrm>
          <a:prstGeom prst="rect">
            <a:avLst>
              <a:gd name="adj" fmla="val 17391"/>
            </a:avLst>
          </a:prstGeom>
          <a:solidFill>
            <a:srgbClr val="EDF3F7"/>
          </a:solidFill>
          <a:ln w="12700">
            <a:solidFill>
              <a:srgbClr val="EDF3F7"/>
            </a:solidFill>
            <a:prstDash val="solid"/>
          </a:ln>
        </p:spPr>
      </p:sp>
      <p:sp>
        <p:nvSpPr>
          <p:cNvPr id="52" name="Text 50"/>
          <p:cNvSpPr/>
          <p:nvPr/>
        </p:nvSpPr>
        <p:spPr>
          <a:xfrm>
            <a:off x="3044952" y="5358384"/>
            <a:ext cx="3236976" cy="429768"/>
          </a:xfrm>
          <a:prstGeom prst="rect">
            <a:avLst/>
          </a:prstGeom>
          <a:noFill/>
          <a:ln/>
        </p:spPr>
        <p:txBody>
          <a:bodyPr wrap="square" lIns="0" tIns="0" rIns="0" bIns="0" rtlCol="0" anchor="ctr"/>
          <a:lstStyle/>
          <a:p>
            <a:pPr indent="0" marL="0">
              <a:buNone/>
            </a:pPr>
            <a:r>
              <a:rPr lang="en-US" sz="1750" dirty="0">
                <a:solidFill>
                  <a:srgbClr val="172E43"/>
                </a:solidFill>
                <a:latin typeface="Arial" pitchFamily="34" charset="0"/>
                <a:ea typeface="Arial" pitchFamily="34" charset="-122"/>
                <a:cs typeface="Arial" pitchFamily="34" charset="-120"/>
              </a:rPr>
              <a:t>ARC-AGI-3 launched</a:t>
            </a:r>
            <a:endParaRPr lang="en-US" sz="1750" dirty="0"/>
          </a:p>
        </p:txBody>
      </p:sp>
      <p:sp>
        <p:nvSpPr>
          <p:cNvPr id="53" name="Shape 51"/>
          <p:cNvSpPr/>
          <p:nvPr/>
        </p:nvSpPr>
        <p:spPr>
          <a:xfrm>
            <a:off x="6629400" y="5248656"/>
            <a:ext cx="2514600" cy="630936"/>
          </a:xfrm>
          <a:prstGeom prst="rect">
            <a:avLst>
              <a:gd name="adj" fmla="val 17391"/>
            </a:avLst>
          </a:prstGeom>
          <a:solidFill>
            <a:srgbClr val="EDF3F7"/>
          </a:solidFill>
          <a:ln w="12700">
            <a:solidFill>
              <a:srgbClr val="EDF3F7"/>
            </a:solidFill>
            <a:prstDash val="solid"/>
          </a:ln>
        </p:spPr>
      </p:sp>
      <p:sp>
        <p:nvSpPr>
          <p:cNvPr id="54" name="Text 52"/>
          <p:cNvSpPr/>
          <p:nvPr/>
        </p:nvSpPr>
        <p:spPr>
          <a:xfrm>
            <a:off x="6748272" y="5358384"/>
            <a:ext cx="2276856" cy="429768"/>
          </a:xfrm>
          <a:prstGeom prst="rect">
            <a:avLst/>
          </a:prstGeom>
          <a:noFill/>
          <a:ln/>
        </p:spPr>
        <p:txBody>
          <a:bodyPr wrap="square" lIns="0" tIns="0" rIns="0" bIns="0" rtlCol="0" anchor="ctr"/>
          <a:lstStyle/>
          <a:p>
            <a:pPr indent="0" marL="0">
              <a:buNone/>
            </a:pPr>
            <a:r>
              <a:rPr lang="en-US" sz="1750" b="1" dirty="0">
                <a:solidFill>
                  <a:srgbClr val="172E43"/>
                </a:solidFill>
                <a:latin typeface="Arial" pitchFamily="34" charset="0"/>
                <a:ea typeface="Arial" pitchFamily="34" charset="-122"/>
                <a:cs typeface="Arial" pitchFamily="34" charset="-120"/>
              </a:rPr>
              <a:t>New score design</a:t>
            </a:r>
            <a:endParaRPr lang="en-US" sz="1750" dirty="0"/>
          </a:p>
        </p:txBody>
      </p:sp>
      <p:sp>
        <p:nvSpPr>
          <p:cNvPr id="55" name="Shape 53"/>
          <p:cNvSpPr/>
          <p:nvPr/>
        </p:nvSpPr>
        <p:spPr>
          <a:xfrm>
            <a:off x="9390888" y="5248656"/>
            <a:ext cx="4526280" cy="630936"/>
          </a:xfrm>
          <a:prstGeom prst="rect">
            <a:avLst>
              <a:gd name="adj" fmla="val 17391"/>
            </a:avLst>
          </a:prstGeom>
          <a:solidFill>
            <a:srgbClr val="EDF3F7"/>
          </a:solidFill>
          <a:ln w="12700">
            <a:solidFill>
              <a:srgbClr val="EDF3F7"/>
            </a:solidFill>
            <a:prstDash val="solid"/>
          </a:ln>
        </p:spPr>
      </p:sp>
      <p:sp>
        <p:nvSpPr>
          <p:cNvPr id="56" name="Text 54"/>
          <p:cNvSpPr/>
          <p:nvPr/>
        </p:nvSpPr>
        <p:spPr>
          <a:xfrm>
            <a:off x="9509760" y="5358384"/>
            <a:ext cx="4288536" cy="429768"/>
          </a:xfrm>
          <a:prstGeom prst="rect">
            <a:avLst/>
          </a:prstGeom>
          <a:noFill/>
          <a:ln/>
        </p:spPr>
        <p:txBody>
          <a:bodyPr wrap="square" lIns="0" tIns="0" rIns="0" bIns="0" rtlCol="0" anchor="ctr"/>
          <a:lstStyle/>
          <a:p>
            <a:pPr indent="0" marL="0">
              <a:buNone/>
            </a:pPr>
            <a:r>
              <a:rPr lang="en-US" sz="1550" dirty="0">
                <a:solidFill>
                  <a:srgbClr val="172E43"/>
                </a:solidFill>
                <a:latin typeface="Arial" pitchFamily="34" charset="0"/>
                <a:ea typeface="Arial" pitchFamily="34" charset="-122"/>
                <a:cs typeface="Arial" pitchFamily="34" charset="-120"/>
              </a:rPr>
              <a:t>Interactive tasks; completion</a:t>
            </a:r>
            <a:endParaRPr lang="en-US" sz="1550" dirty="0"/>
          </a:p>
          <a:p>
            <a:pPr indent="0" marL="0">
              <a:buNone/>
            </a:pPr>
            <a:r>
              <a:rPr lang="en-US" sz="1550" dirty="0">
                <a:solidFill>
                  <a:srgbClr val="172E43"/>
                </a:solidFill>
                <a:latin typeface="Arial" pitchFamily="34" charset="0"/>
                <a:ea typeface="Arial" pitchFamily="34" charset="-122"/>
                <a:cs typeface="Arial" pitchFamily="34" charset="-120"/>
              </a:rPr>
              <a:t>and action efficiency.</a:t>
            </a:r>
            <a:endParaRPr lang="en-US" sz="1550" dirty="0"/>
          </a:p>
        </p:txBody>
      </p:sp>
      <p:sp>
        <p:nvSpPr>
          <p:cNvPr id="57" name="Shape 55"/>
          <p:cNvSpPr/>
          <p:nvPr/>
        </p:nvSpPr>
        <p:spPr>
          <a:xfrm>
            <a:off x="685800" y="6227064"/>
            <a:ext cx="13231368" cy="987552"/>
          </a:xfrm>
          <a:prstGeom prst="rect">
            <a:avLst>
              <a:gd name="adj" fmla="val 11111"/>
            </a:avLst>
          </a:prstGeom>
          <a:solidFill>
            <a:srgbClr val="FFF3D9"/>
          </a:solidFill>
          <a:ln w="12700">
            <a:solidFill>
              <a:srgbClr val="FFF3D9"/>
            </a:solidFill>
            <a:prstDash val="solid"/>
          </a:ln>
        </p:spPr>
      </p:sp>
      <p:sp>
        <p:nvSpPr>
          <p:cNvPr id="58" name="Text 56"/>
          <p:cNvSpPr/>
          <p:nvPr/>
        </p:nvSpPr>
        <p:spPr>
          <a:xfrm>
            <a:off x="877824" y="6419088"/>
            <a:ext cx="2907792" cy="347472"/>
          </a:xfrm>
          <a:prstGeom prst="rect">
            <a:avLst/>
          </a:prstGeom>
          <a:noFill/>
          <a:ln/>
        </p:spPr>
        <p:txBody>
          <a:bodyPr wrap="square" lIns="0" tIns="0" rIns="0" bIns="0" rtlCol="0" anchor="ctr"/>
          <a:lstStyle/>
          <a:p>
            <a:pPr indent="0" marL="0">
              <a:buNone/>
            </a:pPr>
            <a:r>
              <a:rPr lang="en-US" sz="2200" b="1" dirty="0">
                <a:solidFill>
                  <a:srgbClr val="966410"/>
                </a:solidFill>
                <a:latin typeface="Arial" pitchFamily="34" charset="0"/>
                <a:ea typeface="Arial" pitchFamily="34" charset="-122"/>
                <a:cs typeface="Arial" pitchFamily="34" charset="-120"/>
              </a:rPr>
              <a:t>Cost qualification</a:t>
            </a:r>
            <a:endParaRPr lang="en-US" sz="2200" dirty="0"/>
          </a:p>
        </p:txBody>
      </p:sp>
      <p:sp>
        <p:nvSpPr>
          <p:cNvPr id="59" name="Text 57"/>
          <p:cNvSpPr/>
          <p:nvPr/>
        </p:nvSpPr>
        <p:spPr>
          <a:xfrm>
            <a:off x="3813048" y="6400800"/>
            <a:ext cx="9875520" cy="576072"/>
          </a:xfrm>
          <a:prstGeom prst="rect">
            <a:avLst/>
          </a:prstGeom>
          <a:noFill/>
          <a:ln/>
        </p:spPr>
        <p:txBody>
          <a:bodyPr wrap="square" lIns="0" tIns="0" rIns="0" bIns="0" rtlCol="0" anchor="ctr"/>
          <a:lstStyle/>
          <a:p>
            <a:pPr indent="0" marL="0">
              <a:buNone/>
            </a:pPr>
            <a:r>
              <a:rPr lang="en-US" sz="1700" dirty="0">
                <a:solidFill>
                  <a:srgbClr val="172E43"/>
                </a:solidFill>
                <a:latin typeface="Arial" pitchFamily="34" charset="0"/>
                <a:ea typeface="Arial" pitchFamily="34" charset="-122"/>
                <a:cs typeface="Arial" pitchFamily="34" charset="-120"/>
              </a:rPr>
              <a:t>The later repricing gives $4,560 per task / $456,000 for the 100-task high-compute run.</a:t>
            </a:r>
            <a:endParaRPr lang="en-US" sz="1700" dirty="0"/>
          </a:p>
          <a:p>
            <a:pPr indent="0" marL="0">
              <a:buNone/>
            </a:pPr>
            <a:r>
              <a:rPr lang="en-US" sz="1700" dirty="0">
                <a:solidFill>
                  <a:srgbClr val="172E43"/>
                </a:solidFill>
                <a:latin typeface="Arial" pitchFamily="34" charset="0"/>
                <a:ea typeface="Arial" pitchFamily="34" charset="-122"/>
                <a:cs typeface="Arial" pitchFamily="34" charset="-120"/>
              </a:rPr>
              <a:t>These are retrospective inference estimates, not a verified December 2024 invoice.</a:t>
            </a:r>
            <a:endParaRPr lang="en-US" sz="1700" dirty="0"/>
          </a:p>
        </p:txBody>
      </p:sp>
      <p:sp>
        <p:nvSpPr>
          <p:cNvPr id="60" name="Text 58">
            <a:hlinkClick r:id="rId1"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Primary sources checked 29 September 2026 • no cross-generation “intelligence percentage”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APPENDIX / ORIGINAL PDF PAGES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Retained source context: DMG 60025</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Appendix / Original PDF pages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25</a:t>
            </a:r>
            <a:endParaRPr lang="en-US" sz="1100" dirty="0"/>
          </a:p>
        </p:txBody>
      </p:sp>
      <p:sp>
        <p:nvSpPr>
          <p:cNvPr id="9" name="Shape 7"/>
          <p:cNvSpPr/>
          <p:nvPr/>
        </p:nvSpPr>
        <p:spPr>
          <a:xfrm>
            <a:off x="658368" y="1773936"/>
            <a:ext cx="6483096" cy="5458968"/>
          </a:xfrm>
          <a:prstGeom prst="rect">
            <a:avLst>
              <a:gd name="adj" fmla="val 2010"/>
            </a:avLst>
          </a:prstGeom>
          <a:solidFill>
            <a:srgbClr val="EDF3F7"/>
          </a:solidFill>
          <a:ln w="12700">
            <a:solidFill>
              <a:srgbClr val="D5E2E9"/>
            </a:solidFill>
            <a:prstDash val="solid"/>
          </a:ln>
        </p:spPr>
      </p:sp>
      <p:pic>
        <p:nvPicPr>
          <p:cNvPr id="10" name="Image 0" descr="S01-p3: Original source typography, conditions and notes — before reading assistance.">    </p:cNvPr>
          <p:cNvPicPr>
            <a:picLocks noChangeAspect="1"/>
          </p:cNvPicPr>
          <p:nvPr/>
        </p:nvPicPr>
        <p:blipFill>
          <a:blip r:embed="rId1"/>
          <a:stretch>
            <a:fillRect/>
          </a:stretch>
        </p:blipFill>
        <p:spPr>
          <a:xfrm>
            <a:off x="1969789" y="1773936"/>
            <a:ext cx="3860254" cy="5458968"/>
          </a:xfrm>
          <a:prstGeom prst="rect">
            <a:avLst/>
          </a:prstGeom>
        </p:spPr>
      </p:pic>
      <p:sp>
        <p:nvSpPr>
          <p:cNvPr id="11" name="Shape 8"/>
          <p:cNvSpPr/>
          <p:nvPr/>
        </p:nvSpPr>
        <p:spPr>
          <a:xfrm>
            <a:off x="7525512" y="1773936"/>
            <a:ext cx="6483096" cy="5458968"/>
          </a:xfrm>
          <a:prstGeom prst="rect">
            <a:avLst>
              <a:gd name="adj" fmla="val 2010"/>
            </a:avLst>
          </a:prstGeom>
          <a:solidFill>
            <a:srgbClr val="EDF3F7"/>
          </a:solidFill>
          <a:ln w="12700">
            <a:solidFill>
              <a:srgbClr val="D5E2E9"/>
            </a:solidFill>
            <a:prstDash val="solid"/>
          </a:ln>
        </p:spPr>
      </p:sp>
      <p:pic>
        <p:nvPicPr>
          <p:cNvPr id="12" name="Image 1" descr="S01-p4: Original source typography, conditions and notes — before reading assistance.">    </p:cNvPr>
          <p:cNvPicPr>
            <a:picLocks noChangeAspect="1"/>
          </p:cNvPicPr>
          <p:nvPr/>
        </p:nvPicPr>
        <p:blipFill>
          <a:blip r:embed="rId2"/>
          <a:stretch>
            <a:fillRect/>
          </a:stretch>
        </p:blipFill>
        <p:spPr>
          <a:xfrm>
            <a:off x="8836933" y="1773936"/>
            <a:ext cx="3860254" cy="5458968"/>
          </a:xfrm>
          <a:prstGeom prst="rect">
            <a:avLst/>
          </a:prstGeom>
        </p:spPr>
      </p:pic>
      <p:sp>
        <p:nvSpPr>
          <p:cNvPr id="13" name="Text 9">
            <a:hlinkClick r:id="rId3"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S01 • PDF pages 3 and 4 • full-page context for the enlarged passages on slides 10–12</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APPENDIX / EVIDENCE IDENTITIES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Fresh assembly and saved inspection are different packages</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Appendix / Evidence identities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26</a:t>
            </a:r>
            <a:endParaRPr lang="en-US" sz="1100" dirty="0"/>
          </a:p>
        </p:txBody>
      </p:sp>
      <p:sp>
        <p:nvSpPr>
          <p:cNvPr id="9" name="Text 7"/>
          <p:cNvSpPr/>
          <p:nvPr/>
        </p:nvSpPr>
        <p:spPr>
          <a:xfrm>
            <a:off x="795528" y="1920240"/>
            <a:ext cx="6400800" cy="402336"/>
          </a:xfrm>
          <a:prstGeom prst="rect">
            <a:avLst/>
          </a:prstGeom>
          <a:noFill/>
          <a:ln/>
        </p:spPr>
        <p:txBody>
          <a:bodyPr wrap="square" lIns="0" tIns="0" rIns="0" bIns="0" rtlCol="0" anchor="ctr"/>
          <a:lstStyle/>
          <a:p>
            <a:pPr indent="0" marL="0">
              <a:buNone/>
            </a:pPr>
            <a:r>
              <a:rPr lang="en-US" sz="2700" b="1" dirty="0">
                <a:solidFill>
                  <a:srgbClr val="145F96"/>
                </a:solidFill>
                <a:latin typeface="Arial" pitchFamily="34" charset="0"/>
                <a:ea typeface="Arial" pitchFamily="34" charset="-122"/>
                <a:cs typeface="Arial" pitchFamily="34" charset="-120"/>
              </a:rPr>
              <a:t>Fresh S07 capital assembly</a:t>
            </a:r>
            <a:endParaRPr lang="en-US" sz="2700" dirty="0"/>
          </a:p>
        </p:txBody>
      </p:sp>
      <p:sp>
        <p:nvSpPr>
          <p:cNvPr id="10" name="Text 8"/>
          <p:cNvSpPr/>
          <p:nvPr/>
        </p:nvSpPr>
        <p:spPr>
          <a:xfrm>
            <a:off x="7680960" y="1920240"/>
            <a:ext cx="6035040" cy="402336"/>
          </a:xfrm>
          <a:prstGeom prst="rect">
            <a:avLst/>
          </a:prstGeom>
          <a:noFill/>
          <a:ln/>
        </p:spPr>
        <p:txBody>
          <a:bodyPr wrap="square" lIns="0" tIns="0" rIns="0" bIns="0" rtlCol="0" anchor="ctr"/>
          <a:lstStyle/>
          <a:p>
            <a:pPr indent="0" marL="0">
              <a:buNone/>
            </a:pPr>
            <a:r>
              <a:rPr lang="en-US" sz="2700" b="1" dirty="0">
                <a:solidFill>
                  <a:srgbClr val="087E87"/>
                </a:solidFill>
                <a:latin typeface="Arial" pitchFamily="34" charset="0"/>
                <a:ea typeface="Arial" pitchFamily="34" charset="-122"/>
                <a:cs typeface="Arial" pitchFamily="34" charset="-120"/>
              </a:rPr>
              <a:t>Saved S08–S09 staff-006</a:t>
            </a:r>
            <a:endParaRPr lang="en-US" sz="2700" dirty="0"/>
          </a:p>
        </p:txBody>
      </p:sp>
      <p:sp>
        <p:nvSpPr>
          <p:cNvPr id="11" name="Shape 9"/>
          <p:cNvSpPr/>
          <p:nvPr/>
        </p:nvSpPr>
        <p:spPr>
          <a:xfrm>
            <a:off x="658368" y="2724912"/>
            <a:ext cx="6455664" cy="603504"/>
          </a:xfrm>
          <a:prstGeom prst="rect">
            <a:avLst>
              <a:gd name="adj" fmla="val 18182"/>
            </a:avLst>
          </a:prstGeom>
          <a:solidFill>
            <a:srgbClr val="EDF3F7"/>
          </a:solidFill>
          <a:ln w="12700">
            <a:solidFill>
              <a:srgbClr val="EDF3F7"/>
            </a:solidFill>
            <a:prstDash val="solid"/>
          </a:ln>
        </p:spPr>
      </p:sp>
      <p:sp>
        <p:nvSpPr>
          <p:cNvPr id="12" name="Shape 10"/>
          <p:cNvSpPr/>
          <p:nvPr/>
        </p:nvSpPr>
        <p:spPr>
          <a:xfrm>
            <a:off x="7507224" y="2724912"/>
            <a:ext cx="6455664" cy="603504"/>
          </a:xfrm>
          <a:prstGeom prst="rect">
            <a:avLst>
              <a:gd name="adj" fmla="val 18182"/>
            </a:avLst>
          </a:prstGeom>
          <a:solidFill>
            <a:srgbClr val="EDF3F7"/>
          </a:solidFill>
          <a:ln w="12700">
            <a:solidFill>
              <a:srgbClr val="EDF3F7"/>
            </a:solidFill>
            <a:prstDash val="solid"/>
          </a:ln>
        </p:spPr>
      </p:sp>
      <p:sp>
        <p:nvSpPr>
          <p:cNvPr id="13" name="Text 11"/>
          <p:cNvSpPr/>
          <p:nvPr/>
        </p:nvSpPr>
        <p:spPr>
          <a:xfrm>
            <a:off x="886968" y="2862072"/>
            <a:ext cx="5998464" cy="347472"/>
          </a:xfrm>
          <a:prstGeom prst="rect">
            <a:avLst/>
          </a:prstGeom>
          <a:noFill/>
          <a:ln/>
        </p:spPr>
        <p:txBody>
          <a:bodyPr wrap="square" lIns="0" tIns="0" rIns="0" bIns="0" rtlCol="0" anchor="ctr"/>
          <a:lstStyle/>
          <a:p>
            <a:pPr indent="0" marL="0">
              <a:buNone/>
            </a:pPr>
            <a:r>
              <a:rPr lang="en-US" sz="2200" dirty="0">
                <a:solidFill>
                  <a:srgbClr val="172E43"/>
                </a:solidFill>
                <a:latin typeface="Arial" pitchFamily="34" charset="0"/>
                <a:ea typeface="Arial" pitchFamily="34" charset="-122"/>
                <a:cs typeface="Arial" pitchFamily="34" charset="-120"/>
              </a:rPr>
              <a:t>44 records / 68 relationships</a:t>
            </a:r>
            <a:endParaRPr lang="en-US" sz="2200" dirty="0"/>
          </a:p>
        </p:txBody>
      </p:sp>
      <p:sp>
        <p:nvSpPr>
          <p:cNvPr id="14" name="Text 12"/>
          <p:cNvSpPr/>
          <p:nvPr/>
        </p:nvSpPr>
        <p:spPr>
          <a:xfrm>
            <a:off x="7735824" y="2862072"/>
            <a:ext cx="5989320" cy="347472"/>
          </a:xfrm>
          <a:prstGeom prst="rect">
            <a:avLst/>
          </a:prstGeom>
          <a:noFill/>
          <a:ln/>
        </p:spPr>
        <p:txBody>
          <a:bodyPr wrap="square" lIns="0" tIns="0" rIns="0" bIns="0" rtlCol="0" anchor="ctr"/>
          <a:lstStyle/>
          <a:p>
            <a:pPr indent="0" marL="0">
              <a:buNone/>
            </a:pPr>
            <a:r>
              <a:rPr lang="en-US" sz="2200" dirty="0">
                <a:solidFill>
                  <a:srgbClr val="172E43"/>
                </a:solidFill>
                <a:latin typeface="Arial" pitchFamily="34" charset="0"/>
                <a:ea typeface="Arial" pitchFamily="34" charset="-122"/>
                <a:cs typeface="Arial" pitchFamily="34" charset="-120"/>
              </a:rPr>
              <a:t>30 records / 47 relationships</a:t>
            </a:r>
            <a:endParaRPr lang="en-US" sz="2200" dirty="0"/>
          </a:p>
        </p:txBody>
      </p:sp>
      <p:sp>
        <p:nvSpPr>
          <p:cNvPr id="15" name="Shape 13"/>
          <p:cNvSpPr/>
          <p:nvPr/>
        </p:nvSpPr>
        <p:spPr>
          <a:xfrm>
            <a:off x="658368" y="3502152"/>
            <a:ext cx="6455664" cy="603504"/>
          </a:xfrm>
          <a:prstGeom prst="rect">
            <a:avLst>
              <a:gd name="adj" fmla="val 18182"/>
            </a:avLst>
          </a:prstGeom>
          <a:solidFill>
            <a:srgbClr val="EDF3F7"/>
          </a:solidFill>
          <a:ln w="12700">
            <a:solidFill>
              <a:srgbClr val="EDF3F7"/>
            </a:solidFill>
            <a:prstDash val="solid"/>
          </a:ln>
        </p:spPr>
      </p:sp>
      <p:sp>
        <p:nvSpPr>
          <p:cNvPr id="16" name="Shape 14"/>
          <p:cNvSpPr/>
          <p:nvPr/>
        </p:nvSpPr>
        <p:spPr>
          <a:xfrm>
            <a:off x="7507224" y="3502152"/>
            <a:ext cx="6455664" cy="603504"/>
          </a:xfrm>
          <a:prstGeom prst="rect">
            <a:avLst>
              <a:gd name="adj" fmla="val 18182"/>
            </a:avLst>
          </a:prstGeom>
          <a:solidFill>
            <a:srgbClr val="EDF3F7"/>
          </a:solidFill>
          <a:ln w="12700">
            <a:solidFill>
              <a:srgbClr val="EDF3F7"/>
            </a:solidFill>
            <a:prstDash val="solid"/>
          </a:ln>
        </p:spPr>
      </p:sp>
      <p:sp>
        <p:nvSpPr>
          <p:cNvPr id="17" name="Text 15"/>
          <p:cNvSpPr/>
          <p:nvPr/>
        </p:nvSpPr>
        <p:spPr>
          <a:xfrm>
            <a:off x="886968" y="3639312"/>
            <a:ext cx="5998464" cy="347472"/>
          </a:xfrm>
          <a:prstGeom prst="rect">
            <a:avLst/>
          </a:prstGeom>
          <a:noFill/>
          <a:ln/>
        </p:spPr>
        <p:txBody>
          <a:bodyPr wrap="square" lIns="0" tIns="0" rIns="0" bIns="0" rtlCol="0" anchor="ctr"/>
          <a:lstStyle/>
          <a:p>
            <a:pPr indent="0" marL="0">
              <a:buNone/>
            </a:pPr>
            <a:r>
              <a:rPr lang="en-US" sz="2200" dirty="0">
                <a:solidFill>
                  <a:srgbClr val="172E43"/>
                </a:solidFill>
                <a:latin typeface="Arial" pitchFamily="34" charset="0"/>
                <a:ea typeface="Arial" pitchFamily="34" charset="-122"/>
                <a:cs typeface="Arial" pitchFamily="34" charset="-120"/>
              </a:rPr>
              <a:t>522,995 bytes used</a:t>
            </a:r>
            <a:endParaRPr lang="en-US" sz="2200" dirty="0"/>
          </a:p>
        </p:txBody>
      </p:sp>
      <p:sp>
        <p:nvSpPr>
          <p:cNvPr id="18" name="Text 16"/>
          <p:cNvSpPr/>
          <p:nvPr/>
        </p:nvSpPr>
        <p:spPr>
          <a:xfrm>
            <a:off x="7735824" y="3639312"/>
            <a:ext cx="5989320" cy="347472"/>
          </a:xfrm>
          <a:prstGeom prst="rect">
            <a:avLst/>
          </a:prstGeom>
          <a:noFill/>
          <a:ln/>
        </p:spPr>
        <p:txBody>
          <a:bodyPr wrap="square" lIns="0" tIns="0" rIns="0" bIns="0" rtlCol="0" anchor="ctr"/>
          <a:lstStyle/>
          <a:p>
            <a:pPr indent="0" marL="0">
              <a:buNone/>
            </a:pPr>
            <a:r>
              <a:rPr lang="en-US" sz="2200" dirty="0">
                <a:solidFill>
                  <a:srgbClr val="172E43"/>
                </a:solidFill>
                <a:latin typeface="Arial" pitchFamily="34" charset="0"/>
                <a:ea typeface="Arial" pitchFamily="34" charset="-122"/>
                <a:cs typeface="Arial" pitchFamily="34" charset="-120"/>
              </a:rPr>
              <a:t>516,227 bytes used</a:t>
            </a:r>
            <a:endParaRPr lang="en-US" sz="2200" dirty="0"/>
          </a:p>
        </p:txBody>
      </p:sp>
      <p:sp>
        <p:nvSpPr>
          <p:cNvPr id="19" name="Shape 17"/>
          <p:cNvSpPr/>
          <p:nvPr/>
        </p:nvSpPr>
        <p:spPr>
          <a:xfrm>
            <a:off x="658368" y="4279392"/>
            <a:ext cx="6455664" cy="603504"/>
          </a:xfrm>
          <a:prstGeom prst="rect">
            <a:avLst>
              <a:gd name="adj" fmla="val 18182"/>
            </a:avLst>
          </a:prstGeom>
          <a:solidFill>
            <a:srgbClr val="EDF3F7"/>
          </a:solidFill>
          <a:ln w="12700">
            <a:solidFill>
              <a:srgbClr val="EDF3F7"/>
            </a:solidFill>
            <a:prstDash val="solid"/>
          </a:ln>
        </p:spPr>
      </p:sp>
      <p:sp>
        <p:nvSpPr>
          <p:cNvPr id="20" name="Shape 18"/>
          <p:cNvSpPr/>
          <p:nvPr/>
        </p:nvSpPr>
        <p:spPr>
          <a:xfrm>
            <a:off x="7507224" y="4279392"/>
            <a:ext cx="6455664" cy="603504"/>
          </a:xfrm>
          <a:prstGeom prst="rect">
            <a:avLst>
              <a:gd name="adj" fmla="val 18182"/>
            </a:avLst>
          </a:prstGeom>
          <a:solidFill>
            <a:srgbClr val="EDF3F7"/>
          </a:solidFill>
          <a:ln w="12700">
            <a:solidFill>
              <a:srgbClr val="EDF3F7"/>
            </a:solidFill>
            <a:prstDash val="solid"/>
          </a:ln>
        </p:spPr>
      </p:sp>
      <p:sp>
        <p:nvSpPr>
          <p:cNvPr id="21" name="Text 19"/>
          <p:cNvSpPr/>
          <p:nvPr/>
        </p:nvSpPr>
        <p:spPr>
          <a:xfrm>
            <a:off x="886968" y="4416552"/>
            <a:ext cx="5998464" cy="347472"/>
          </a:xfrm>
          <a:prstGeom prst="rect">
            <a:avLst/>
          </a:prstGeom>
          <a:noFill/>
          <a:ln/>
        </p:spPr>
        <p:txBody>
          <a:bodyPr wrap="square" lIns="0" tIns="0" rIns="0" bIns="0" rtlCol="0" anchor="ctr"/>
          <a:lstStyle/>
          <a:p>
            <a:pPr indent="0" marL="0">
              <a:buNone/>
            </a:pPr>
            <a:r>
              <a:rPr lang="en-US" sz="2200" dirty="0">
                <a:solidFill>
                  <a:srgbClr val="172E43"/>
                </a:solidFill>
                <a:latin typeface="Arial" pitchFamily="34" charset="0"/>
                <a:ea typeface="Arial" pitchFamily="34" charset="-122"/>
                <a:cs typeface="Arial" pitchFamily="34" charset="-120"/>
              </a:rPr>
              <a:t>U07 and DMG 84861 selected</a:t>
            </a:r>
            <a:endParaRPr lang="en-US" sz="2200" dirty="0"/>
          </a:p>
        </p:txBody>
      </p:sp>
      <p:sp>
        <p:nvSpPr>
          <p:cNvPr id="22" name="Text 20"/>
          <p:cNvSpPr/>
          <p:nvPr/>
        </p:nvSpPr>
        <p:spPr>
          <a:xfrm>
            <a:off x="7735824" y="4416552"/>
            <a:ext cx="5989320" cy="347472"/>
          </a:xfrm>
          <a:prstGeom prst="rect">
            <a:avLst/>
          </a:prstGeom>
          <a:noFill/>
          <a:ln/>
        </p:spPr>
        <p:txBody>
          <a:bodyPr wrap="square" lIns="0" tIns="0" rIns="0" bIns="0" rtlCol="0" anchor="ctr"/>
          <a:lstStyle/>
          <a:p>
            <a:pPr indent="0" marL="0">
              <a:buNone/>
            </a:pPr>
            <a:r>
              <a:rPr lang="en-US" sz="2200" dirty="0">
                <a:solidFill>
                  <a:srgbClr val="172E43"/>
                </a:solidFill>
                <a:latin typeface="Arial" pitchFamily="34" charset="0"/>
                <a:ea typeface="Arial" pitchFamily="34" charset="-122"/>
                <a:cs typeface="Arial" pitchFamily="34" charset="-120"/>
              </a:rPr>
              <a:t>DMG 84001 fallback inspected</a:t>
            </a:r>
            <a:endParaRPr lang="en-US" sz="2200" dirty="0"/>
          </a:p>
        </p:txBody>
      </p:sp>
      <p:sp>
        <p:nvSpPr>
          <p:cNvPr id="23" name="Shape 21"/>
          <p:cNvSpPr/>
          <p:nvPr/>
        </p:nvSpPr>
        <p:spPr>
          <a:xfrm>
            <a:off x="658368" y="5056632"/>
            <a:ext cx="6455664" cy="603504"/>
          </a:xfrm>
          <a:prstGeom prst="rect">
            <a:avLst>
              <a:gd name="adj" fmla="val 18182"/>
            </a:avLst>
          </a:prstGeom>
          <a:solidFill>
            <a:srgbClr val="EDF3F7"/>
          </a:solidFill>
          <a:ln w="12700">
            <a:solidFill>
              <a:srgbClr val="EDF3F7"/>
            </a:solidFill>
            <a:prstDash val="solid"/>
          </a:ln>
        </p:spPr>
      </p:sp>
      <p:sp>
        <p:nvSpPr>
          <p:cNvPr id="24" name="Shape 22"/>
          <p:cNvSpPr/>
          <p:nvPr/>
        </p:nvSpPr>
        <p:spPr>
          <a:xfrm>
            <a:off x="7507224" y="5056632"/>
            <a:ext cx="6455664" cy="603504"/>
          </a:xfrm>
          <a:prstGeom prst="rect">
            <a:avLst>
              <a:gd name="adj" fmla="val 18182"/>
            </a:avLst>
          </a:prstGeom>
          <a:solidFill>
            <a:srgbClr val="EDF3F7"/>
          </a:solidFill>
          <a:ln w="12700">
            <a:solidFill>
              <a:srgbClr val="EDF3F7"/>
            </a:solidFill>
            <a:prstDash val="solid"/>
          </a:ln>
        </p:spPr>
      </p:sp>
      <p:sp>
        <p:nvSpPr>
          <p:cNvPr id="25" name="Text 23"/>
          <p:cNvSpPr/>
          <p:nvPr/>
        </p:nvSpPr>
        <p:spPr>
          <a:xfrm>
            <a:off x="886968" y="5193792"/>
            <a:ext cx="5998464" cy="347472"/>
          </a:xfrm>
          <a:prstGeom prst="rect">
            <a:avLst/>
          </a:prstGeom>
          <a:noFill/>
          <a:ln/>
        </p:spPr>
        <p:txBody>
          <a:bodyPr wrap="square" lIns="0" tIns="0" rIns="0" bIns="0" rtlCol="0" anchor="ctr"/>
          <a:lstStyle/>
          <a:p>
            <a:pPr indent="0" marL="0">
              <a:buNone/>
            </a:pPr>
            <a:r>
              <a:rPr lang="en-US" sz="2200" dirty="0">
                <a:solidFill>
                  <a:srgbClr val="966410"/>
                </a:solidFill>
                <a:latin typeface="Arial" pitchFamily="34" charset="0"/>
                <a:ea typeface="Arial" pitchFamily="34" charset="-122"/>
                <a:cs typeface="Arial" pitchFamily="34" charset="-120"/>
              </a:rPr>
              <a:t>Insufficient and truncated</a:t>
            </a:r>
            <a:endParaRPr lang="en-US" sz="2200" dirty="0"/>
          </a:p>
        </p:txBody>
      </p:sp>
      <p:sp>
        <p:nvSpPr>
          <p:cNvPr id="26" name="Text 24"/>
          <p:cNvSpPr/>
          <p:nvPr/>
        </p:nvSpPr>
        <p:spPr>
          <a:xfrm>
            <a:off x="7735824" y="5193792"/>
            <a:ext cx="5989320" cy="347472"/>
          </a:xfrm>
          <a:prstGeom prst="rect">
            <a:avLst/>
          </a:prstGeom>
          <a:noFill/>
          <a:ln/>
        </p:spPr>
        <p:txBody>
          <a:bodyPr wrap="square" lIns="0" tIns="0" rIns="0" bIns="0" rtlCol="0" anchor="ctr"/>
          <a:lstStyle/>
          <a:p>
            <a:pPr indent="0" marL="0">
              <a:buNone/>
            </a:pPr>
            <a:r>
              <a:rPr lang="en-US" sz="2200" dirty="0">
                <a:solidFill>
                  <a:srgbClr val="966410"/>
                </a:solidFill>
                <a:latin typeface="Arial" pitchFamily="34" charset="0"/>
                <a:ea typeface="Arial" pitchFamily="34" charset="-122"/>
                <a:cs typeface="Arial" pitchFamily="34" charset="-120"/>
              </a:rPr>
              <a:t>Insufficient and truncated</a:t>
            </a:r>
            <a:endParaRPr lang="en-US" sz="2200" dirty="0"/>
          </a:p>
        </p:txBody>
      </p:sp>
      <p:sp>
        <p:nvSpPr>
          <p:cNvPr id="27" name="Text 25"/>
          <p:cNvSpPr/>
          <p:nvPr/>
        </p:nvSpPr>
        <p:spPr>
          <a:xfrm>
            <a:off x="621792" y="6336792"/>
            <a:ext cx="13350240" cy="768096"/>
          </a:xfrm>
          <a:prstGeom prst="rect">
            <a:avLst/>
          </a:prstGeom>
          <a:noFill/>
          <a:ln/>
        </p:spPr>
        <p:txBody>
          <a:bodyPr wrap="square" lIns="0" tIns="0" rIns="0" bIns="0" rtlCol="0" anchor="ctr"/>
          <a:lstStyle/>
          <a:p>
            <a:pPr indent="0" marL="0">
              <a:buNone/>
            </a:pPr>
            <a:r>
              <a:rPr lang="en-US" sz="2300" b="1" dirty="0">
                <a:solidFill>
                  <a:srgbClr val="102B46"/>
                </a:solidFill>
                <a:latin typeface="Arial" pitchFamily="34" charset="0"/>
                <a:ea typeface="Arial" pitchFamily="34" charset="-122"/>
                <a:cs typeface="Arial" pitchFamily="34" charset="-120"/>
              </a:rPr>
              <a:t>S07 requested: 64 records • 128 relationships • depth 6 • 524,288 bytes.</a:t>
            </a:r>
            <a:endParaRPr lang="en-US" sz="2300" dirty="0"/>
          </a:p>
          <a:p>
            <a:pPr indent="0" marL="0">
              <a:buNone/>
            </a:pPr>
            <a:r>
              <a:rPr lang="en-US" sz="2300" b="1" dirty="0">
                <a:solidFill>
                  <a:srgbClr val="102B46"/>
                </a:solidFill>
                <a:latin typeface="Arial" pitchFamily="34" charset="0"/>
                <a:ea typeface="Arial" pitchFamily="34" charset="-122"/>
                <a:cs typeface="Arial" pitchFamily="34" charset="-120"/>
              </a:rPr>
              <a:t>A 32,768-byte delivery part is not the whole-package budget.</a:t>
            </a:r>
            <a:endParaRPr lang="en-US" sz="2300" dirty="0"/>
          </a:p>
        </p:txBody>
      </p:sp>
      <p:sp>
        <p:nvSpPr>
          <p:cNvPr id="28" name="Text 26"/>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dirty="0">
                <a:solidFill>
                  <a:srgbClr val="536777"/>
                </a:solidFill>
                <a:latin typeface="Arial" pitchFamily="34" charset="0"/>
                <a:ea typeface="Arial" pitchFamily="34" charset="-122"/>
                <a:cs typeface="Arial" pitchFamily="34" charset="-120"/>
              </a:rPr>
              <a:t>Supplied capture pack README, fresh JSON and saved manifest-bound package</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APPENDIX / COVERAGE LIMITS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An extraction gap must remain a visible gap</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Appendix / Coverage limits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27</a:t>
            </a:r>
            <a:endParaRPr lang="en-US" sz="1100" dirty="0"/>
          </a:p>
        </p:txBody>
      </p:sp>
      <p:sp>
        <p:nvSpPr>
          <p:cNvPr id="9" name="Shape 7"/>
          <p:cNvSpPr/>
          <p:nvPr/>
        </p:nvSpPr>
        <p:spPr>
          <a:xfrm>
            <a:off x="667512" y="1874520"/>
            <a:ext cx="8778240" cy="5157216"/>
          </a:xfrm>
          <a:prstGeom prst="rect">
            <a:avLst>
              <a:gd name="adj" fmla="val 2128"/>
            </a:avLst>
          </a:prstGeom>
          <a:solidFill>
            <a:srgbClr val="EDF3F7"/>
          </a:solidFill>
          <a:ln w="12700">
            <a:solidFill>
              <a:srgbClr val="D5E2E9"/>
            </a:solidFill>
            <a:prstDash val="solid"/>
          </a:ln>
        </p:spPr>
      </p:sp>
      <p:pic>
        <p:nvPicPr>
          <p:cNvPr id="10" name="Image 0" descr="S04: No usable extracted text is not proof that the original page is blank.">    </p:cNvPr>
          <p:cNvPicPr>
            <a:picLocks noChangeAspect="1"/>
          </p:cNvPicPr>
          <p:nvPr/>
        </p:nvPicPr>
        <p:blipFill>
          <a:blip r:embed="rId1"/>
          <a:stretch>
            <a:fillRect/>
          </a:stretch>
        </p:blipFill>
        <p:spPr>
          <a:xfrm>
            <a:off x="1343436" y="1874520"/>
            <a:ext cx="7426391" cy="5157216"/>
          </a:xfrm>
          <a:prstGeom prst="rect">
            <a:avLst/>
          </a:prstGeom>
        </p:spPr>
      </p:pic>
      <p:sp>
        <p:nvSpPr>
          <p:cNvPr id="11" name="Shape 8"/>
          <p:cNvSpPr/>
          <p:nvPr/>
        </p:nvSpPr>
        <p:spPr>
          <a:xfrm>
            <a:off x="9829800" y="1883664"/>
            <a:ext cx="4178808" cy="2414016"/>
          </a:xfrm>
          <a:prstGeom prst="roundRect">
            <a:avLst>
              <a:gd name="adj" fmla="val 4545"/>
            </a:avLst>
          </a:prstGeom>
          <a:solidFill>
            <a:srgbClr val="EDF3F7"/>
          </a:solidFill>
          <a:ln w="12700">
            <a:solidFill>
              <a:srgbClr val="EDF3F7"/>
            </a:solidFill>
            <a:prstDash val="solid"/>
          </a:ln>
        </p:spPr>
      </p:sp>
      <p:sp>
        <p:nvSpPr>
          <p:cNvPr id="12" name="Shape 9"/>
          <p:cNvSpPr/>
          <p:nvPr/>
        </p:nvSpPr>
        <p:spPr>
          <a:xfrm>
            <a:off x="9829800" y="1883664"/>
            <a:ext cx="50292" cy="2414016"/>
          </a:xfrm>
          <a:prstGeom prst="rect">
            <a:avLst>
              <a:gd name="adj" fmla="val 218182"/>
            </a:avLst>
          </a:prstGeom>
          <a:solidFill>
            <a:srgbClr val="966410"/>
          </a:solidFill>
          <a:ln w="12700">
            <a:solidFill>
              <a:srgbClr val="966410"/>
            </a:solidFill>
            <a:prstDash val="solid"/>
          </a:ln>
        </p:spPr>
      </p:sp>
      <p:sp>
        <p:nvSpPr>
          <p:cNvPr id="13" name="Text 10"/>
          <p:cNvSpPr/>
          <p:nvPr/>
        </p:nvSpPr>
        <p:spPr>
          <a:xfrm>
            <a:off x="10030968" y="2048256"/>
            <a:ext cx="3785616" cy="457200"/>
          </a:xfrm>
          <a:prstGeom prst="rect">
            <a:avLst/>
          </a:prstGeom>
          <a:noFill/>
          <a:ln/>
        </p:spPr>
        <p:txBody>
          <a:bodyPr wrap="square" lIns="0" tIns="0" rIns="0" bIns="0" rtlCol="0" anchor="ctr"/>
          <a:lstStyle/>
          <a:p>
            <a:pPr indent="0" marL="0">
              <a:buNone/>
            </a:pPr>
            <a:r>
              <a:rPr lang="en-US" sz="2200" b="1" dirty="0">
                <a:solidFill>
                  <a:srgbClr val="966410"/>
                </a:solidFill>
                <a:latin typeface="Arial" pitchFamily="34" charset="0"/>
                <a:ea typeface="Arial" pitchFamily="34" charset="-122"/>
                <a:cs typeface="Arial" pitchFamily="34" charset="-120"/>
              </a:rPr>
              <a:t>ADM A2, page 10</a:t>
            </a:r>
            <a:endParaRPr lang="en-US" sz="2200" dirty="0"/>
          </a:p>
        </p:txBody>
      </p:sp>
      <p:sp>
        <p:nvSpPr>
          <p:cNvPr id="14" name="Text 11"/>
          <p:cNvSpPr/>
          <p:nvPr/>
        </p:nvSpPr>
        <p:spPr>
          <a:xfrm>
            <a:off x="10030968" y="2651760"/>
            <a:ext cx="3785616" cy="1517904"/>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No usable extracted text is not proof that the PDF page is blank.</a:t>
            </a:r>
            <a:endParaRPr lang="en-US" sz="2000" dirty="0"/>
          </a:p>
        </p:txBody>
      </p:sp>
      <p:sp>
        <p:nvSpPr>
          <p:cNvPr id="15" name="Text 12"/>
          <p:cNvSpPr/>
          <p:nvPr/>
        </p:nvSpPr>
        <p:spPr>
          <a:xfrm>
            <a:off x="9976104" y="4901184"/>
            <a:ext cx="3794760" cy="1261872"/>
          </a:xfrm>
          <a:prstGeom prst="rect">
            <a:avLst/>
          </a:prstGeom>
          <a:noFill/>
          <a:ln/>
        </p:spPr>
        <p:txBody>
          <a:bodyPr wrap="square" lIns="0" tIns="0" rIns="0" bIns="0" rtlCol="0" anchor="ctr"/>
          <a:lstStyle/>
          <a:p>
            <a:pPr indent="0" marL="0">
              <a:buNone/>
            </a:pPr>
            <a:r>
              <a:rPr lang="en-US" sz="2600" b="1" dirty="0">
                <a:solidFill>
                  <a:srgbClr val="102B46"/>
                </a:solidFill>
                <a:latin typeface="Arial" pitchFamily="34" charset="0"/>
                <a:ea typeface="Arial" pitchFamily="34" charset="-122"/>
                <a:cs typeface="Arial" pitchFamily="34" charset="-120"/>
              </a:rPr>
              <a:t>Processing coverage</a:t>
            </a:r>
            <a:endParaRPr lang="en-US" sz="2600" dirty="0"/>
          </a:p>
          <a:p>
            <a:pPr indent="0" marL="0">
              <a:buNone/>
            </a:pPr>
            <a:r>
              <a:rPr lang="en-US" sz="2600" b="1" dirty="0">
                <a:solidFill>
                  <a:srgbClr val="102B46"/>
                </a:solidFill>
                <a:latin typeface="Arial" pitchFamily="34" charset="0"/>
                <a:ea typeface="Arial" pitchFamily="34" charset="-122"/>
                <a:cs typeface="Arial" pitchFamily="34" charset="-120"/>
              </a:rPr>
              <a:t>is not complete</a:t>
            </a:r>
            <a:endParaRPr lang="en-US" sz="2600" dirty="0"/>
          </a:p>
          <a:p>
            <a:pPr indent="0" marL="0">
              <a:buNone/>
            </a:pPr>
            <a:r>
              <a:rPr lang="en-US" sz="2600" b="1" dirty="0">
                <a:solidFill>
                  <a:srgbClr val="102B46"/>
                </a:solidFill>
                <a:latin typeface="Arial" pitchFamily="34" charset="0"/>
                <a:ea typeface="Arial" pitchFamily="34" charset="-122"/>
                <a:cs typeface="Arial" pitchFamily="34" charset="-120"/>
              </a:rPr>
              <a:t>explanation or review.</a:t>
            </a:r>
            <a:endParaRPr lang="en-US" sz="2600" dirty="0"/>
          </a:p>
        </p:txBody>
      </p:sp>
      <p:sp>
        <p:nvSpPr>
          <p:cNvPr id="16" name="Text 13">
            <a:hlinkClick r:id="rId2"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S04 • actual recorded extraction gap • 893 such pages in the adopted corpus ledger</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APPENDIX / GENUINE NEGATIVE EVIDENCE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The sidebar boundary: preserve the failed transition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Appendix / Genuine negative evidence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28</a:t>
            </a:r>
            <a:endParaRPr lang="en-US" sz="1100" dirty="0"/>
          </a:p>
        </p:txBody>
      </p:sp>
      <p:sp>
        <p:nvSpPr>
          <p:cNvPr id="9" name="Shape 7"/>
          <p:cNvSpPr/>
          <p:nvPr/>
        </p:nvSpPr>
        <p:spPr>
          <a:xfrm>
            <a:off x="621792" y="1490472"/>
            <a:ext cx="11612880" cy="301752"/>
          </a:xfrm>
          <a:prstGeom prst="roundRect">
            <a:avLst>
              <a:gd name="adj" fmla="val 36364"/>
            </a:avLst>
          </a:prstGeom>
          <a:solidFill>
            <a:srgbClr val="FFF3D9"/>
          </a:solidFill>
          <a:ln w="12700">
            <a:solidFill>
              <a:srgbClr val="FFF3D9"/>
            </a:solidFill>
            <a:prstDash val="solid"/>
          </a:ln>
        </p:spPr>
      </p:sp>
      <p:sp>
        <p:nvSpPr>
          <p:cNvPr id="10" name="Text 8"/>
          <p:cNvSpPr/>
          <p:nvPr/>
        </p:nvSpPr>
        <p:spPr>
          <a:xfrm>
            <a:off x="713232" y="1531620"/>
            <a:ext cx="11430000" cy="219456"/>
          </a:xfrm>
          <a:prstGeom prst="rect">
            <a:avLst/>
          </a:prstGeom>
          <a:noFill/>
          <a:ln/>
        </p:spPr>
        <p:txBody>
          <a:bodyPr wrap="square" lIns="0" tIns="0" rIns="0" bIns="0" rtlCol="0" anchor="ctr"/>
          <a:lstStyle/>
          <a:p>
            <a:pPr indent="0" marL="0">
              <a:buNone/>
            </a:pPr>
            <a:r>
              <a:rPr lang="en-US" sz="1250" b="1" dirty="0">
                <a:solidFill>
                  <a:srgbClr val="966410"/>
                </a:solidFill>
                <a:latin typeface="Arial" pitchFamily="34" charset="0"/>
                <a:ea typeface="Arial" pitchFamily="34" charset="-122"/>
                <a:cs typeface="Arial" pitchFamily="34" charset="-120"/>
              </a:rPr>
              <a:t>REQUESTED STAFF-016 → STAFF-039 TRANSITION NOT ESTABLISHED</a:t>
            </a:r>
            <a:endParaRPr lang="en-US" sz="1250" dirty="0"/>
          </a:p>
        </p:txBody>
      </p:sp>
      <p:sp>
        <p:nvSpPr>
          <p:cNvPr id="11" name="Shape 9"/>
          <p:cNvSpPr/>
          <p:nvPr/>
        </p:nvSpPr>
        <p:spPr>
          <a:xfrm>
            <a:off x="658368" y="2011680"/>
            <a:ext cx="7808976" cy="4846320"/>
          </a:xfrm>
          <a:prstGeom prst="rect">
            <a:avLst>
              <a:gd name="adj" fmla="val 2264"/>
            </a:avLst>
          </a:prstGeom>
          <a:solidFill>
            <a:srgbClr val="EDF3F7"/>
          </a:solidFill>
          <a:ln w="12700">
            <a:solidFill>
              <a:srgbClr val="D5E2E9"/>
            </a:solidFill>
            <a:prstDash val="solid"/>
          </a:ln>
        </p:spPr>
      </p:sp>
      <p:pic>
        <p:nvPicPr>
          <p:cNvPr id="12" name="Image 0" descr="S12-failure-2: Real sidebar excerpt: requested transition unverified, no returned Interactions entries, no award calculated.">    </p:cNvPr>
          <p:cNvPicPr>
            <a:picLocks noChangeAspect="1"/>
          </p:cNvPicPr>
          <p:nvPr/>
        </p:nvPicPr>
        <p:blipFill>
          <a:blip r:embed="rId1"/>
          <a:stretch>
            <a:fillRect/>
          </a:stretch>
        </p:blipFill>
        <p:spPr>
          <a:xfrm>
            <a:off x="658368" y="2102629"/>
            <a:ext cx="7808976" cy="4664422"/>
          </a:xfrm>
          <a:prstGeom prst="rect">
            <a:avLst/>
          </a:prstGeom>
        </p:spPr>
      </p:pic>
      <p:sp>
        <p:nvSpPr>
          <p:cNvPr id="13" name="Shape 10"/>
          <p:cNvSpPr/>
          <p:nvPr/>
        </p:nvSpPr>
        <p:spPr>
          <a:xfrm>
            <a:off x="8887968" y="2011680"/>
            <a:ext cx="5120640" cy="2596896"/>
          </a:xfrm>
          <a:prstGeom prst="roundRect">
            <a:avLst>
              <a:gd name="adj" fmla="val 4225"/>
            </a:avLst>
          </a:prstGeom>
          <a:solidFill>
            <a:srgbClr val="EDF3F7"/>
          </a:solidFill>
          <a:ln w="12700">
            <a:solidFill>
              <a:srgbClr val="EDF3F7"/>
            </a:solidFill>
            <a:prstDash val="solid"/>
          </a:ln>
        </p:spPr>
      </p:sp>
      <p:sp>
        <p:nvSpPr>
          <p:cNvPr id="14" name="Shape 11"/>
          <p:cNvSpPr/>
          <p:nvPr/>
        </p:nvSpPr>
        <p:spPr>
          <a:xfrm>
            <a:off x="8887968" y="2011680"/>
            <a:ext cx="50292" cy="2596896"/>
          </a:xfrm>
          <a:prstGeom prst="rect">
            <a:avLst>
              <a:gd name="adj" fmla="val 218182"/>
            </a:avLst>
          </a:prstGeom>
          <a:solidFill>
            <a:srgbClr val="966410"/>
          </a:solidFill>
          <a:ln w="12700">
            <a:solidFill>
              <a:srgbClr val="966410"/>
            </a:solidFill>
            <a:prstDash val="solid"/>
          </a:ln>
        </p:spPr>
      </p:sp>
      <p:sp>
        <p:nvSpPr>
          <p:cNvPr id="15" name="Text 12"/>
          <p:cNvSpPr/>
          <p:nvPr/>
        </p:nvSpPr>
        <p:spPr>
          <a:xfrm>
            <a:off x="9089136" y="2176272"/>
            <a:ext cx="4727448" cy="457200"/>
          </a:xfrm>
          <a:prstGeom prst="rect">
            <a:avLst/>
          </a:prstGeom>
          <a:noFill/>
          <a:ln/>
        </p:spPr>
        <p:txBody>
          <a:bodyPr wrap="square" lIns="0" tIns="0" rIns="0" bIns="0" rtlCol="0" anchor="ctr"/>
          <a:lstStyle/>
          <a:p>
            <a:pPr indent="0" marL="0">
              <a:buNone/>
            </a:pPr>
            <a:r>
              <a:rPr lang="en-US" sz="2200" b="1" dirty="0">
                <a:solidFill>
                  <a:srgbClr val="966410"/>
                </a:solidFill>
                <a:latin typeface="Arial" pitchFamily="34" charset="0"/>
                <a:ea typeface="Arial" pitchFamily="34" charset="-122"/>
                <a:cs typeface="Arial" pitchFamily="34" charset="-120"/>
              </a:rPr>
              <a:t>What was observed</a:t>
            </a:r>
            <a:endParaRPr lang="en-US" sz="2200" dirty="0"/>
          </a:p>
        </p:txBody>
      </p:sp>
      <p:sp>
        <p:nvSpPr>
          <p:cNvPr id="16" name="Text 13"/>
          <p:cNvSpPr/>
          <p:nvPr/>
        </p:nvSpPr>
        <p:spPr>
          <a:xfrm>
            <a:off x="9089136" y="2779776"/>
            <a:ext cx="4727448" cy="1700784"/>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Two follow-ups failed to attach. No returned staff-039 rows; Requirements stayed displayed.</a:t>
            </a:r>
            <a:endParaRPr lang="en-US" sz="2000" dirty="0"/>
          </a:p>
        </p:txBody>
      </p:sp>
      <p:sp>
        <p:nvSpPr>
          <p:cNvPr id="17" name="Text 14"/>
          <p:cNvSpPr/>
          <p:nvPr/>
        </p:nvSpPr>
        <p:spPr>
          <a:xfrm>
            <a:off x="9061704" y="5020056"/>
            <a:ext cx="4736592" cy="1636776"/>
          </a:xfrm>
          <a:prstGeom prst="rect">
            <a:avLst/>
          </a:prstGeom>
          <a:noFill/>
          <a:ln/>
        </p:spPr>
        <p:txBody>
          <a:bodyPr wrap="square" lIns="0" tIns="0" rIns="0" bIns="0" rtlCol="0" anchor="t"/>
          <a:lstStyle/>
          <a:p>
            <a:pPr indent="0" marL="0">
              <a:buNone/>
            </a:pPr>
            <a:r>
              <a:rPr lang="en-US" sz="2200" dirty="0">
                <a:solidFill>
                  <a:srgbClr val="172E43"/>
                </a:solidFill>
                <a:latin typeface="Arial" pitchFamily="34" charset="0"/>
                <a:ea typeface="Arial" pitchFamily="34" charset="-122"/>
                <a:cs typeface="Arial" pitchFamily="34" charset="-120"/>
              </a:rPr>
              <a:t>Earlier tool use was reported,</a:t>
            </a:r>
            <a:endParaRPr lang="en-US" sz="2200" dirty="0"/>
          </a:p>
          <a:p>
            <a:pPr indent="0" marL="0">
              <a:buNone/>
            </a:pPr>
            <a:r>
              <a:rPr lang="en-US" sz="2200" dirty="0">
                <a:solidFill>
                  <a:srgbClr val="172E43"/>
                </a:solidFill>
                <a:latin typeface="Arial" pitchFamily="34" charset="0"/>
                <a:ea typeface="Arial" pitchFamily="34" charset="-122"/>
                <a:cs typeface="Arial" pitchFamily="34" charset="-120"/>
              </a:rPr>
              <a:t>not retained as a raw transcript.</a:t>
            </a:r>
            <a:endParaRPr lang="en-US" sz="2200" dirty="0"/>
          </a:p>
          <a:p>
            <a:pPr indent="0" marL="0">
              <a:buNone/>
            </a:pPr>
            <a:endParaRPr lang="en-US" sz="2200" dirty="0"/>
          </a:p>
          <a:p>
            <a:pPr indent="0" marL="0">
              <a:buNone/>
            </a:pPr>
            <a:r>
              <a:rPr lang="en-US" sz="2200" dirty="0">
                <a:solidFill>
                  <a:srgbClr val="172E43"/>
                </a:solidFill>
                <a:latin typeface="Arial" pitchFamily="34" charset="0"/>
                <a:ea typeface="Arial" pitchFamily="34" charset="-122"/>
                <a:cs typeface="Arial" pitchFamily="34" charset="-120"/>
              </a:rPr>
              <a:t>Manual inspection is separate.</a:t>
            </a:r>
            <a:endParaRPr lang="en-US" sz="2200" dirty="0"/>
          </a:p>
          <a:p>
            <a:pPr indent="0" marL="0">
              <a:buNone/>
            </a:pPr>
            <a:r>
              <a:rPr lang="en-US" sz="2200" dirty="0">
                <a:solidFill>
                  <a:srgbClr val="172E43"/>
                </a:solidFill>
                <a:latin typeface="Arial" pitchFamily="34" charset="0"/>
                <a:ea typeface="Arial" pitchFamily="34" charset="-122"/>
                <a:cs typeface="Arial" pitchFamily="34" charset="-120"/>
              </a:rPr>
              <a:t>Voice was not tested.</a:t>
            </a:r>
            <a:endParaRPr lang="en-US" sz="2200" dirty="0"/>
          </a:p>
        </p:txBody>
      </p:sp>
      <p:sp>
        <p:nvSpPr>
          <p:cNvPr id="18" name="Text 15"/>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dirty="0">
                <a:solidFill>
                  <a:srgbClr val="536777"/>
                </a:solidFill>
                <a:latin typeface="Arial" pitchFamily="34" charset="0"/>
                <a:ea typeface="Arial" pitchFamily="34" charset="-122"/>
                <a:cs typeface="Arial" pitchFamily="34" charset="-120"/>
              </a:rPr>
              <a:t>S12 • real native-window capture, privacy-redacted • no successful interaction was fabricated</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APPENDIX / REVIEW AND FEEDBACK</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A local review proposal is not specialist acceptance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Appendix / Review and feedback</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29</a:t>
            </a:r>
            <a:endParaRPr lang="en-US" sz="1100" dirty="0"/>
          </a:p>
        </p:txBody>
      </p:sp>
      <p:sp>
        <p:nvSpPr>
          <p:cNvPr id="9" name="Shape 7"/>
          <p:cNvSpPr/>
          <p:nvPr/>
        </p:nvSpPr>
        <p:spPr>
          <a:xfrm>
            <a:off x="658368" y="1883664"/>
            <a:ext cx="8851392" cy="5102352"/>
          </a:xfrm>
          <a:prstGeom prst="rect">
            <a:avLst>
              <a:gd name="adj" fmla="val 2151"/>
            </a:avLst>
          </a:prstGeom>
          <a:solidFill>
            <a:srgbClr val="EDF3F7"/>
          </a:solidFill>
          <a:ln w="12700">
            <a:solidFill>
              <a:srgbClr val="D5E2E9"/>
            </a:solidFill>
            <a:prstDash val="solid"/>
          </a:ln>
        </p:spPr>
      </p:sp>
      <p:pic>
        <p:nvPicPr>
          <p:cNvPr id="10" name="Image 0" descr="S13-r1: A rehearsal proposal was exported locally. Nothing was adopted or published.">    </p:cNvPr>
          <p:cNvPicPr>
            <a:picLocks noChangeAspect="1"/>
          </p:cNvPicPr>
          <p:nvPr/>
        </p:nvPicPr>
        <p:blipFill>
          <a:blip r:embed="rId1"/>
          <a:stretch>
            <a:fillRect/>
          </a:stretch>
        </p:blipFill>
        <p:spPr>
          <a:xfrm>
            <a:off x="970375" y="1883664"/>
            <a:ext cx="8227379" cy="5102352"/>
          </a:xfrm>
          <a:prstGeom prst="rect">
            <a:avLst/>
          </a:prstGeom>
        </p:spPr>
      </p:pic>
      <p:sp>
        <p:nvSpPr>
          <p:cNvPr id="11" name="Shape 8"/>
          <p:cNvSpPr/>
          <p:nvPr/>
        </p:nvSpPr>
        <p:spPr>
          <a:xfrm>
            <a:off x="9848088" y="1883664"/>
            <a:ext cx="4160520" cy="2212848"/>
          </a:xfrm>
          <a:prstGeom prst="roundRect">
            <a:avLst>
              <a:gd name="adj" fmla="val 4959"/>
            </a:avLst>
          </a:prstGeom>
          <a:solidFill>
            <a:srgbClr val="EDF3F7"/>
          </a:solidFill>
          <a:ln w="12700">
            <a:solidFill>
              <a:srgbClr val="EDF3F7"/>
            </a:solidFill>
            <a:prstDash val="solid"/>
          </a:ln>
        </p:spPr>
      </p:sp>
      <p:sp>
        <p:nvSpPr>
          <p:cNvPr id="12" name="Shape 9"/>
          <p:cNvSpPr/>
          <p:nvPr/>
        </p:nvSpPr>
        <p:spPr>
          <a:xfrm>
            <a:off x="9848088" y="1883664"/>
            <a:ext cx="50292" cy="2212848"/>
          </a:xfrm>
          <a:prstGeom prst="rect">
            <a:avLst>
              <a:gd name="adj" fmla="val 218182"/>
            </a:avLst>
          </a:prstGeom>
          <a:solidFill>
            <a:srgbClr val="087E87"/>
          </a:solidFill>
          <a:ln w="12700">
            <a:solidFill>
              <a:srgbClr val="087E87"/>
            </a:solidFill>
            <a:prstDash val="solid"/>
          </a:ln>
        </p:spPr>
      </p:sp>
      <p:sp>
        <p:nvSpPr>
          <p:cNvPr id="13" name="Text 10"/>
          <p:cNvSpPr/>
          <p:nvPr/>
        </p:nvSpPr>
        <p:spPr>
          <a:xfrm>
            <a:off x="10049256" y="2048256"/>
            <a:ext cx="3767328" cy="457200"/>
          </a:xfrm>
          <a:prstGeom prst="rect">
            <a:avLst/>
          </a:prstGeom>
          <a:noFill/>
          <a:ln/>
        </p:spPr>
        <p:txBody>
          <a:bodyPr wrap="square" lIns="0" tIns="0" rIns="0" bIns="0" rtlCol="0" anchor="ctr"/>
          <a:lstStyle/>
          <a:p>
            <a:pPr indent="0" marL="0">
              <a:buNone/>
            </a:pPr>
            <a:r>
              <a:rPr lang="en-US" sz="2200" b="1" dirty="0">
                <a:solidFill>
                  <a:srgbClr val="087E87"/>
                </a:solidFill>
                <a:latin typeface="Arial" pitchFamily="34" charset="0"/>
                <a:ea typeface="Arial" pitchFamily="34" charset="-122"/>
                <a:cs typeface="Arial" pitchFamily="34" charset="-120"/>
              </a:rPr>
              <a:t>Actually exported</a:t>
            </a:r>
            <a:endParaRPr lang="en-US" sz="2200" dirty="0"/>
          </a:p>
        </p:txBody>
      </p:sp>
      <p:sp>
        <p:nvSpPr>
          <p:cNvPr id="14" name="Text 11"/>
          <p:cNvSpPr/>
          <p:nvPr/>
        </p:nvSpPr>
        <p:spPr>
          <a:xfrm>
            <a:off x="10049256" y="2651760"/>
            <a:ext cx="3767328" cy="1316736"/>
          </a:xfrm>
          <a:prstGeom prst="rect">
            <a:avLst/>
          </a:prstGeom>
          <a:noFill/>
          <a:ln/>
        </p:spPr>
        <p:txBody>
          <a:bodyPr wrap="square" lIns="0" tIns="0" rIns="0" bIns="0" rtlCol="0" anchor="t"/>
          <a:lstStyle/>
          <a:p>
            <a:pPr indent="0" marL="0">
              <a:buNone/>
            </a:pPr>
            <a:r>
              <a:rPr lang="en-US" sz="2000" dirty="0">
                <a:solidFill>
                  <a:srgbClr val="172E43"/>
                </a:solidFill>
                <a:latin typeface="Arial" pitchFamily="34" charset="0"/>
                <a:ea typeface="Arial" pitchFamily="34" charset="-122"/>
                <a:cs typeface="Arial" pitchFamily="34" charset="-120"/>
              </a:rPr>
              <a:t>A local, non-specialist rehearsal proposal was downloaded.</a:t>
            </a:r>
            <a:endParaRPr lang="en-US" sz="2000" dirty="0"/>
          </a:p>
        </p:txBody>
      </p:sp>
      <p:sp>
        <p:nvSpPr>
          <p:cNvPr id="15" name="Text 12"/>
          <p:cNvSpPr/>
          <p:nvPr/>
        </p:nvSpPr>
        <p:spPr>
          <a:xfrm>
            <a:off x="10040112" y="4599432"/>
            <a:ext cx="3657600" cy="1737360"/>
          </a:xfrm>
          <a:prstGeom prst="rect">
            <a:avLst/>
          </a:prstGeom>
          <a:noFill/>
          <a:ln/>
        </p:spPr>
        <p:txBody>
          <a:bodyPr wrap="square" lIns="0" tIns="0" rIns="0" bIns="0" rtlCol="0" anchor="ctr"/>
          <a:lstStyle/>
          <a:p>
            <a:pPr indent="0" marL="0">
              <a:buNone/>
            </a:pPr>
            <a:r>
              <a:rPr lang="en-US" sz="3100" b="1" dirty="0">
                <a:solidFill>
                  <a:srgbClr val="102B46"/>
                </a:solidFill>
                <a:latin typeface="Arial" pitchFamily="34" charset="0"/>
                <a:ea typeface="Arial" pitchFamily="34" charset="-122"/>
                <a:cs typeface="Arial" pitchFamily="34" charset="-120"/>
              </a:rPr>
              <a:t>Unreviewed.</a:t>
            </a:r>
            <a:endParaRPr lang="en-US" sz="3100" dirty="0"/>
          </a:p>
          <a:p>
            <a:pPr indent="0" marL="0">
              <a:buNone/>
            </a:pPr>
            <a:r>
              <a:rPr lang="en-US" sz="3100" b="1" dirty="0">
                <a:solidFill>
                  <a:srgbClr val="102B46"/>
                </a:solidFill>
                <a:latin typeface="Arial" pitchFamily="34" charset="0"/>
                <a:ea typeface="Arial" pitchFamily="34" charset="-122"/>
                <a:cs typeface="Arial" pitchFamily="34" charset="-120"/>
              </a:rPr>
              <a:t>Not adopted.</a:t>
            </a:r>
            <a:endParaRPr lang="en-US" sz="3100" dirty="0"/>
          </a:p>
          <a:p>
            <a:pPr indent="0" marL="0">
              <a:buNone/>
            </a:pPr>
            <a:r>
              <a:rPr lang="en-US" sz="3100" b="1" dirty="0">
                <a:solidFill>
                  <a:srgbClr val="102B46"/>
                </a:solidFill>
                <a:latin typeface="Arial" pitchFamily="34" charset="0"/>
                <a:ea typeface="Arial" pitchFamily="34" charset="-122"/>
                <a:cs typeface="Arial" pitchFamily="34" charset="-120"/>
              </a:rPr>
              <a:t>Not published.</a:t>
            </a:r>
            <a:endParaRPr lang="en-US" sz="3100" dirty="0"/>
          </a:p>
        </p:txBody>
      </p:sp>
      <p:sp>
        <p:nvSpPr>
          <p:cNvPr id="16" name="Text 13">
            <a:hlinkClick r:id="rId2"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S13 • review-exports/ contains the actual JSON • no repository publication or entitlement decision</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APPENDIX / EVALUATION SCOPE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The reported checks measure technical properties</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Appendix / Evaluation scope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30</a:t>
            </a:r>
            <a:endParaRPr lang="en-US" sz="1100" dirty="0"/>
          </a:p>
        </p:txBody>
      </p:sp>
      <p:sp>
        <p:nvSpPr>
          <p:cNvPr id="9" name="Text 7"/>
          <p:cNvSpPr/>
          <p:nvPr/>
        </p:nvSpPr>
        <p:spPr>
          <a:xfrm>
            <a:off x="694944" y="1901952"/>
            <a:ext cx="4023360" cy="694944"/>
          </a:xfrm>
          <a:prstGeom prst="rect">
            <a:avLst/>
          </a:prstGeom>
          <a:noFill/>
          <a:ln/>
        </p:spPr>
        <p:txBody>
          <a:bodyPr wrap="square" lIns="0" tIns="0" rIns="0" bIns="0" rtlCol="0" anchor="ctr"/>
          <a:lstStyle/>
          <a:p>
            <a:pPr indent="0" marL="0">
              <a:buNone/>
            </a:pPr>
            <a:r>
              <a:rPr lang="en-US" sz="4700" b="1" dirty="0">
                <a:solidFill>
                  <a:srgbClr val="145F96"/>
                </a:solidFill>
                <a:latin typeface="Arial" pitchFamily="34" charset="0"/>
                <a:ea typeface="Arial" pitchFamily="34" charset="-122"/>
                <a:cs typeface="Arial" pitchFamily="34" charset="-120"/>
              </a:rPr>
              <a:t>16</a:t>
            </a:r>
            <a:endParaRPr lang="en-US" sz="4700" dirty="0"/>
          </a:p>
        </p:txBody>
      </p:sp>
      <p:sp>
        <p:nvSpPr>
          <p:cNvPr id="10" name="Text 8"/>
          <p:cNvSpPr/>
          <p:nvPr/>
        </p:nvSpPr>
        <p:spPr>
          <a:xfrm>
            <a:off x="694944" y="2752344"/>
            <a:ext cx="4023360" cy="576072"/>
          </a:xfrm>
          <a:prstGeom prst="rect">
            <a:avLst/>
          </a:prstGeom>
          <a:noFill/>
          <a:ln/>
        </p:spPr>
        <p:txBody>
          <a:bodyPr wrap="square" lIns="0" tIns="0" rIns="0" bIns="0" rtlCol="0" anchor="t"/>
          <a:lstStyle/>
          <a:p>
            <a:pPr indent="0" marL="0">
              <a:buNone/>
            </a:pPr>
            <a:r>
              <a:rPr lang="en-US" sz="1900" dirty="0">
                <a:solidFill>
                  <a:srgbClr val="172E43"/>
                </a:solidFill>
                <a:latin typeface="Arial" pitchFamily="34" charset="0"/>
                <a:ea typeface="Arial" pitchFamily="34" charset="-122"/>
                <a:cs typeface="Arial" pitchFamily="34" charset="-120"/>
              </a:rPr>
              <a:t>recorded public</a:t>
            </a:r>
            <a:endParaRPr lang="en-US" sz="1900" dirty="0"/>
          </a:p>
          <a:p>
            <a:pPr indent="0" marL="0">
              <a:buNone/>
            </a:pPr>
            <a:r>
              <a:rPr lang="en-US" sz="1900" dirty="0">
                <a:solidFill>
                  <a:srgbClr val="172E43"/>
                </a:solidFill>
                <a:latin typeface="Arial" pitchFamily="34" charset="0"/>
                <a:ea typeface="Arial" pitchFamily="34" charset="-122"/>
                <a:cs typeface="Arial" pitchFamily="34" charset="-120"/>
              </a:rPr>
              <a:t>browser checks</a:t>
            </a:r>
            <a:endParaRPr lang="en-US" sz="1900" dirty="0"/>
          </a:p>
        </p:txBody>
      </p:sp>
      <p:sp>
        <p:nvSpPr>
          <p:cNvPr id="11" name="Text 9"/>
          <p:cNvSpPr/>
          <p:nvPr/>
        </p:nvSpPr>
        <p:spPr>
          <a:xfrm>
            <a:off x="5303520" y="1901952"/>
            <a:ext cx="4251960" cy="694944"/>
          </a:xfrm>
          <a:prstGeom prst="rect">
            <a:avLst/>
          </a:prstGeom>
          <a:noFill/>
          <a:ln/>
        </p:spPr>
        <p:txBody>
          <a:bodyPr wrap="square" lIns="0" tIns="0" rIns="0" bIns="0" rtlCol="0" anchor="ctr"/>
          <a:lstStyle/>
          <a:p>
            <a:pPr indent="0" marL="0">
              <a:buNone/>
            </a:pPr>
            <a:r>
              <a:rPr lang="en-US" sz="4700" b="1" dirty="0">
                <a:solidFill>
                  <a:srgbClr val="087E87"/>
                </a:solidFill>
                <a:latin typeface="Arial" pitchFamily="34" charset="0"/>
                <a:ea typeface="Arial" pitchFamily="34" charset="-122"/>
                <a:cs typeface="Arial" pitchFamily="34" charset="-120"/>
              </a:rPr>
              <a:t>40 / 40</a:t>
            </a:r>
            <a:endParaRPr lang="en-US" sz="4700" dirty="0"/>
          </a:p>
        </p:txBody>
      </p:sp>
      <p:sp>
        <p:nvSpPr>
          <p:cNvPr id="12" name="Text 10"/>
          <p:cNvSpPr/>
          <p:nvPr/>
        </p:nvSpPr>
        <p:spPr>
          <a:xfrm>
            <a:off x="5303520" y="2752344"/>
            <a:ext cx="4251960" cy="576072"/>
          </a:xfrm>
          <a:prstGeom prst="rect">
            <a:avLst/>
          </a:prstGeom>
          <a:noFill/>
          <a:ln/>
        </p:spPr>
        <p:txBody>
          <a:bodyPr wrap="square" lIns="0" tIns="0" rIns="0" bIns="0" rtlCol="0" anchor="t"/>
          <a:lstStyle/>
          <a:p>
            <a:pPr indent="0" marL="0">
              <a:buNone/>
            </a:pPr>
            <a:r>
              <a:rPr lang="en-US" sz="1900" dirty="0">
                <a:solidFill>
                  <a:srgbClr val="172E43"/>
                </a:solidFill>
                <a:latin typeface="Arial" pitchFamily="34" charset="0"/>
                <a:ea typeface="Arial" pitchFamily="34" charset="-122"/>
                <a:cs typeface="Arial" pitchFamily="34" charset="-120"/>
              </a:rPr>
              <a:t>unchanged retained</a:t>
            </a:r>
            <a:endParaRPr lang="en-US" sz="1900" dirty="0"/>
          </a:p>
          <a:p>
            <a:pPr indent="0" marL="0">
              <a:buNone/>
            </a:pPr>
            <a:r>
              <a:rPr lang="en-US" sz="1900" dirty="0">
                <a:solidFill>
                  <a:srgbClr val="172E43"/>
                </a:solidFill>
                <a:latin typeface="Arial" pitchFamily="34" charset="0"/>
                <a:ea typeface="Arial" pitchFamily="34" charset="-122"/>
                <a:cs typeface="Arial" pitchFamily="34" charset="-120"/>
              </a:rPr>
              <a:t>package replays</a:t>
            </a:r>
            <a:endParaRPr lang="en-US" sz="1900" dirty="0"/>
          </a:p>
        </p:txBody>
      </p:sp>
      <p:sp>
        <p:nvSpPr>
          <p:cNvPr id="13" name="Text 11"/>
          <p:cNvSpPr/>
          <p:nvPr/>
        </p:nvSpPr>
        <p:spPr>
          <a:xfrm>
            <a:off x="9930384" y="1901952"/>
            <a:ext cx="3977640" cy="694944"/>
          </a:xfrm>
          <a:prstGeom prst="rect">
            <a:avLst/>
          </a:prstGeom>
          <a:noFill/>
          <a:ln/>
        </p:spPr>
        <p:txBody>
          <a:bodyPr wrap="square" lIns="0" tIns="0" rIns="0" bIns="0" rtlCol="0" anchor="ctr"/>
          <a:lstStyle/>
          <a:p>
            <a:pPr indent="0" marL="0">
              <a:buNone/>
            </a:pPr>
            <a:r>
              <a:rPr lang="en-US" sz="4700" b="1" dirty="0">
                <a:solidFill>
                  <a:srgbClr val="966410"/>
                </a:solidFill>
                <a:latin typeface="Arial" pitchFamily="34" charset="0"/>
                <a:ea typeface="Arial" pitchFamily="34" charset="-122"/>
                <a:cs typeface="Arial" pitchFamily="34" charset="-120"/>
              </a:rPr>
              <a:t>40</a:t>
            </a:r>
            <a:endParaRPr lang="en-US" sz="4700" dirty="0"/>
          </a:p>
        </p:txBody>
      </p:sp>
      <p:sp>
        <p:nvSpPr>
          <p:cNvPr id="14" name="Text 12"/>
          <p:cNvSpPr/>
          <p:nvPr/>
        </p:nvSpPr>
        <p:spPr>
          <a:xfrm>
            <a:off x="9930384" y="2752344"/>
            <a:ext cx="3977640" cy="576072"/>
          </a:xfrm>
          <a:prstGeom prst="rect">
            <a:avLst/>
          </a:prstGeom>
          <a:noFill/>
          <a:ln/>
        </p:spPr>
        <p:txBody>
          <a:bodyPr wrap="square" lIns="0" tIns="0" rIns="0" bIns="0" rtlCol="0" anchor="t"/>
          <a:lstStyle/>
          <a:p>
            <a:pPr indent="0" marL="0">
              <a:buNone/>
            </a:pPr>
            <a:r>
              <a:rPr lang="en-US" sz="1900" dirty="0">
                <a:solidFill>
                  <a:srgbClr val="172E43"/>
                </a:solidFill>
                <a:latin typeface="Arial" pitchFamily="34" charset="0"/>
                <a:ea typeface="Arial" pitchFamily="34" charset="-122"/>
                <a:cs typeface="Arial" pitchFamily="34" charset="-120"/>
              </a:rPr>
              <a:t>packages still</a:t>
            </a:r>
            <a:endParaRPr lang="en-US" sz="1900" dirty="0"/>
          </a:p>
          <a:p>
            <a:pPr indent="0" marL="0">
              <a:buNone/>
            </a:pPr>
            <a:r>
              <a:rPr lang="en-US" sz="1900" dirty="0">
                <a:solidFill>
                  <a:srgbClr val="172E43"/>
                </a:solidFill>
                <a:latin typeface="Arial" pitchFamily="34" charset="0"/>
                <a:ea typeface="Arial" pitchFamily="34" charset="-122"/>
                <a:cs typeface="Arial" pitchFamily="34" charset="-120"/>
              </a:rPr>
              <a:t>insufficient</a:t>
            </a:r>
            <a:endParaRPr lang="en-US" sz="1900" dirty="0"/>
          </a:p>
        </p:txBody>
      </p:sp>
      <p:sp>
        <p:nvSpPr>
          <p:cNvPr id="15" name="Shape 13"/>
          <p:cNvSpPr/>
          <p:nvPr/>
        </p:nvSpPr>
        <p:spPr>
          <a:xfrm>
            <a:off x="658368" y="4270248"/>
            <a:ext cx="13341096" cy="2011680"/>
          </a:xfrm>
          <a:prstGeom prst="rect">
            <a:avLst>
              <a:gd name="adj" fmla="val 5455"/>
            </a:avLst>
          </a:prstGeom>
          <a:solidFill>
            <a:srgbClr val="EDF3F7"/>
          </a:solidFill>
          <a:ln w="12700">
            <a:solidFill>
              <a:srgbClr val="EDF3F7"/>
            </a:solidFill>
            <a:prstDash val="solid"/>
          </a:ln>
        </p:spPr>
      </p:sp>
      <p:sp>
        <p:nvSpPr>
          <p:cNvPr id="16" name="Text 14"/>
          <p:cNvSpPr/>
          <p:nvPr/>
        </p:nvSpPr>
        <p:spPr>
          <a:xfrm>
            <a:off x="914400" y="4535424"/>
            <a:ext cx="12774168" cy="576072"/>
          </a:xfrm>
          <a:prstGeom prst="rect">
            <a:avLst/>
          </a:prstGeom>
          <a:noFill/>
          <a:ln/>
        </p:spPr>
        <p:txBody>
          <a:bodyPr wrap="square" lIns="0" tIns="0" rIns="0" bIns="0" rtlCol="0" anchor="ctr"/>
          <a:lstStyle/>
          <a:p>
            <a:pPr indent="0" marL="0">
              <a:buNone/>
            </a:pPr>
            <a:r>
              <a:rPr lang="en-US" sz="3100" b="1" dirty="0">
                <a:solidFill>
                  <a:srgbClr val="102B46"/>
                </a:solidFill>
                <a:latin typeface="Arial" pitchFamily="34" charset="0"/>
                <a:ea typeface="Arial" pitchFamily="34" charset="-122"/>
                <a:cs typeface="Arial" pitchFamily="34" charset="-120"/>
              </a:rPr>
              <a:t>Delivery identity, navigation and non-regression</a:t>
            </a:r>
            <a:endParaRPr lang="en-US" sz="3100" dirty="0"/>
          </a:p>
        </p:txBody>
      </p:sp>
      <p:sp>
        <p:nvSpPr>
          <p:cNvPr id="17" name="Text 15"/>
          <p:cNvSpPr/>
          <p:nvPr/>
        </p:nvSpPr>
        <p:spPr>
          <a:xfrm>
            <a:off x="914400" y="5358384"/>
            <a:ext cx="12783312" cy="594360"/>
          </a:xfrm>
          <a:prstGeom prst="rect">
            <a:avLst/>
          </a:prstGeom>
          <a:noFill/>
          <a:ln/>
        </p:spPr>
        <p:txBody>
          <a:bodyPr wrap="square" lIns="0" tIns="0" rIns="0" bIns="0" rtlCol="0" anchor="ctr"/>
          <a:lstStyle/>
          <a:p>
            <a:pPr indent="0" marL="0">
              <a:buNone/>
            </a:pPr>
            <a:r>
              <a:rPr lang="en-US" sz="2400" dirty="0">
                <a:solidFill>
                  <a:srgbClr val="172E43"/>
                </a:solidFill>
                <a:latin typeface="Arial" pitchFamily="34" charset="0"/>
                <a:ea typeface="Arial" pitchFamily="34" charset="-122"/>
                <a:cs typeface="Arial" pitchFamily="34" charset="-120"/>
              </a:rPr>
              <a:t>Not a new measurement of legal correctness, answer accuracy or improved decisions.</a:t>
            </a:r>
            <a:endParaRPr lang="en-US" sz="2400" dirty="0"/>
          </a:p>
        </p:txBody>
      </p:sp>
      <p:sp>
        <p:nvSpPr>
          <p:cNvPr id="18" name="Text 16"/>
          <p:cNvSpPr/>
          <p:nvPr/>
        </p:nvSpPr>
        <p:spPr>
          <a:xfrm>
            <a:off x="621792" y="6711696"/>
            <a:ext cx="13304520" cy="566928"/>
          </a:xfrm>
          <a:prstGeom prst="rect">
            <a:avLst/>
          </a:prstGeom>
          <a:noFill/>
          <a:ln/>
        </p:spPr>
        <p:txBody>
          <a:bodyPr wrap="square" lIns="0" tIns="0" rIns="0" bIns="0" rtlCol="0" anchor="ctr"/>
          <a:lstStyle/>
          <a:p>
            <a:pPr indent="0" marL="0">
              <a:buNone/>
            </a:pPr>
            <a:r>
              <a:rPr lang="en-US" sz="2100" dirty="0">
                <a:solidFill>
                  <a:srgbClr val="536777"/>
                </a:solidFill>
                <a:latin typeface="Arial" pitchFamily="34" charset="0"/>
                <a:ea typeface="Arial" pitchFamily="34" charset="-122"/>
                <a:cs typeface="Arial" pitchFamily="34" charset="-120"/>
              </a:rPr>
              <a:t>The capture shows the historical 27 September report; those checks were not rerun for the slide.</a:t>
            </a:r>
            <a:endParaRPr lang="en-US" sz="2100" dirty="0"/>
          </a:p>
        </p:txBody>
      </p:sp>
      <p:sp>
        <p:nvSpPr>
          <p:cNvPr id="19" name="Text 17">
            <a:hlinkClick r:id="rId1"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S15 / frozen release record • separate technical and specialist-review gates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APPENDIX / RETAINED ADM A4</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A4352: the ordinary rule contains an exception pointer</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Appendix / Retained ADM A4</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31</a:t>
            </a:r>
            <a:endParaRPr lang="en-US" sz="1100" dirty="0"/>
          </a:p>
        </p:txBody>
      </p:sp>
      <p:sp>
        <p:nvSpPr>
          <p:cNvPr id="9" name="Shape 7"/>
          <p:cNvSpPr/>
          <p:nvPr/>
        </p:nvSpPr>
        <p:spPr>
          <a:xfrm>
            <a:off x="658368" y="1792224"/>
            <a:ext cx="13322808" cy="5440680"/>
          </a:xfrm>
          <a:prstGeom prst="rect">
            <a:avLst>
              <a:gd name="adj" fmla="val 2017"/>
            </a:avLst>
          </a:prstGeom>
          <a:solidFill>
            <a:srgbClr val="EDF3F7"/>
          </a:solidFill>
          <a:ln w="12700">
            <a:solidFill>
              <a:srgbClr val="D5E2E9"/>
            </a:solidFill>
            <a:prstDash val="solid"/>
          </a:ln>
        </p:spPr>
      </p:sp>
      <p:pic>
        <p:nvPicPr>
          <p:cNvPr id="10" name="Image 0" descr="S06-A4352: Retained ADM A4 page 34, including “but see A4360 - A4361”. No assessment-period dates are invented.">    </p:cNvPr>
          <p:cNvPicPr>
            <a:picLocks noChangeAspect="1"/>
          </p:cNvPicPr>
          <p:nvPr/>
        </p:nvPicPr>
        <p:blipFill>
          <a:blip r:embed="rId1"/>
          <a:stretch>
            <a:fillRect/>
          </a:stretch>
        </p:blipFill>
        <p:spPr>
          <a:xfrm>
            <a:off x="937584" y="1792224"/>
            <a:ext cx="12764375" cy="5440680"/>
          </a:xfrm>
          <a:prstGeom prst="rect">
            <a:avLst/>
          </a:prstGeom>
        </p:spPr>
      </p:pic>
      <p:sp>
        <p:nvSpPr>
          <p:cNvPr id="11" name="Text 8">
            <a:hlinkClick r:id="rId2" tooltip=""/>
          </p:cNvPr>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u="sng" dirty="0">
                <a:solidFill>
                  <a:srgbClr val="5367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S06 • retained ADM A4, PDF page 34 • read with A4361 on slide 15; not an applicability decision</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gd name="adj" fmla="val 171429"/>
            </a:avLst>
          </a:prstGeom>
          <a:solidFill>
            <a:srgbClr val="087E87"/>
          </a:solidFill>
          <a:ln w="12700">
            <a:solidFill>
              <a:srgbClr val="087E87"/>
            </a:solidFill>
            <a:prstDash val="solid"/>
          </a:ln>
        </p:spPr>
      </p:sp>
      <p:sp>
        <p:nvSpPr>
          <p:cNvPr id="3" name="Text 1"/>
          <p:cNvSpPr/>
          <p:nvPr/>
        </p:nvSpPr>
        <p:spPr>
          <a:xfrm>
            <a:off x="621792" y="338328"/>
            <a:ext cx="13167360" cy="219456"/>
          </a:xfrm>
          <a:prstGeom prst="rect">
            <a:avLst/>
          </a:prstGeom>
          <a:noFill/>
          <a:ln/>
        </p:spPr>
        <p:txBody>
          <a:bodyPr wrap="square" lIns="0" tIns="0" rIns="0" bIns="0" rtlCol="0" anchor="ctr"/>
          <a:lstStyle/>
          <a:p>
            <a:pPr indent="0" marL="0">
              <a:buNone/>
            </a:pPr>
            <a:r>
              <a:rPr lang="en-US" sz="1150" b="1" spc="150" kern="0" dirty="0">
                <a:solidFill>
                  <a:srgbClr val="087E87"/>
                </a:solidFill>
                <a:latin typeface="Arial" pitchFamily="34" charset="0"/>
                <a:ea typeface="Arial" pitchFamily="34" charset="-122"/>
                <a:cs typeface="Arial" pitchFamily="34" charset="-120"/>
              </a:rPr>
              <a:t>APPENDIX / CLICKABLE REFERENCES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indent="0" marL="0">
              <a:buNone/>
            </a:pPr>
            <a:r>
              <a:rPr lang="en-US" sz="3600" b="1" dirty="0">
                <a:solidFill>
                  <a:srgbClr val="102B46"/>
                </a:solidFill>
                <a:latin typeface="Arial" pitchFamily="34" charset="0"/>
                <a:ea typeface="Arial" pitchFamily="34" charset="-122"/>
                <a:cs typeface="Arial" pitchFamily="34" charset="-120"/>
              </a:rPr>
              <a:t>Source map and routes for further inspection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sp>
      <p:sp>
        <p:nvSpPr>
          <p:cNvPr id="6" name="Text 4"/>
          <p:cNvSpPr/>
          <p:nvPr/>
        </p:nvSpPr>
        <p:spPr>
          <a:xfrm>
            <a:off x="640080" y="7918704"/>
            <a:ext cx="8046720" cy="155448"/>
          </a:xfrm>
          <a:prstGeom prst="rect">
            <a:avLst/>
          </a:prstGeom>
          <a:noFill/>
          <a:ln/>
        </p:spPr>
        <p:txBody>
          <a:bodyPr wrap="square" lIns="0" tIns="0" rIns="0" bIns="0" rtlCol="0" anchor="ctr"/>
          <a:lstStyle/>
          <a:p>
            <a:pPr indent="0" marL="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algn="r" indent="0" marL="0">
              <a:buNone/>
            </a:pPr>
            <a:r>
              <a:rPr lang="en-US" sz="980" dirty="0">
                <a:solidFill>
                  <a:srgbClr val="536777"/>
                </a:solidFill>
                <a:latin typeface="Arial" pitchFamily="34" charset="0"/>
                <a:ea typeface="Arial" pitchFamily="34" charset="-122"/>
                <a:cs typeface="Arial" pitchFamily="34" charset="-120"/>
              </a:rPr>
              <a:t>Appendix / Clickable references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algn="r" indent="0" marL="0">
              <a:buNone/>
            </a:pPr>
            <a:r>
              <a:rPr lang="en-US" sz="1100" b="1" dirty="0">
                <a:solidFill>
                  <a:srgbClr val="102B46"/>
                </a:solidFill>
                <a:latin typeface="Arial" pitchFamily="34" charset="0"/>
                <a:ea typeface="Arial" pitchFamily="34" charset="-122"/>
                <a:cs typeface="Arial" pitchFamily="34" charset="-120"/>
              </a:rPr>
              <a:t>32</a:t>
            </a:r>
            <a:endParaRPr lang="en-US" sz="1100" dirty="0"/>
          </a:p>
        </p:txBody>
      </p:sp>
      <p:sp>
        <p:nvSpPr>
          <p:cNvPr id="9" name="Text 7"/>
          <p:cNvSpPr/>
          <p:nvPr/>
        </p:nvSpPr>
        <p:spPr>
          <a:xfrm>
            <a:off x="713232" y="1783080"/>
            <a:ext cx="6400800" cy="420624"/>
          </a:xfrm>
          <a:prstGeom prst="rect">
            <a:avLst/>
          </a:prstGeom>
          <a:noFill/>
          <a:ln/>
        </p:spPr>
        <p:txBody>
          <a:bodyPr wrap="square" lIns="0" tIns="0" rIns="0" bIns="0" rtlCol="0" anchor="ctr"/>
          <a:lstStyle/>
          <a:p>
            <a:pPr indent="0" marL="0">
              <a:buNone/>
            </a:pPr>
            <a:r>
              <a:rPr lang="en-US" sz="2600" b="1" dirty="0">
                <a:solidFill>
                  <a:srgbClr val="102B46"/>
                </a:solidFill>
                <a:latin typeface="Arial" pitchFamily="34" charset="0"/>
                <a:ea typeface="Arial" pitchFamily="34" charset="-122"/>
                <a:cs typeface="Arial" pitchFamily="34" charset="-120"/>
              </a:rPr>
              <a:t>Benchmarks and workflow</a:t>
            </a:r>
            <a:endParaRPr lang="en-US" sz="2600" dirty="0"/>
          </a:p>
        </p:txBody>
      </p:sp>
      <p:sp>
        <p:nvSpPr>
          <p:cNvPr id="10" name="Shape 8"/>
          <p:cNvSpPr/>
          <p:nvPr/>
        </p:nvSpPr>
        <p:spPr>
          <a:xfrm>
            <a:off x="713232" y="2523744"/>
            <a:ext cx="6364224" cy="484632"/>
          </a:xfrm>
          <a:prstGeom prst="rect">
            <a:avLst>
              <a:gd name="adj" fmla="val 22642"/>
            </a:avLst>
          </a:prstGeom>
          <a:solidFill>
            <a:srgbClr val="EDF3F7"/>
          </a:solidFill>
          <a:ln w="12700">
            <a:solidFill>
              <a:srgbClr val="EDF3F7"/>
            </a:solidFill>
            <a:prstDash val="solid"/>
          </a:ln>
        </p:spPr>
      </p:sp>
      <p:sp>
        <p:nvSpPr>
          <p:cNvPr id="11" name="Text 9">
            <a:hlinkClick r:id="rId1" tooltip=""/>
          </p:cNvPr>
          <p:cNvSpPr/>
          <p:nvPr/>
        </p:nvSpPr>
        <p:spPr>
          <a:xfrm>
            <a:off x="841248" y="2610612"/>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François Chollet, On the Measure of Intelligence (2019)</a:t>
            </a:r>
            <a:endParaRPr lang="en-US" sz="1450" dirty="0"/>
          </a:p>
        </p:txBody>
      </p:sp>
      <p:sp>
        <p:nvSpPr>
          <p:cNvPr id="12" name="Shape 10"/>
          <p:cNvSpPr/>
          <p:nvPr/>
        </p:nvSpPr>
        <p:spPr>
          <a:xfrm>
            <a:off x="713232" y="3154680"/>
            <a:ext cx="6364224" cy="484632"/>
          </a:xfrm>
          <a:prstGeom prst="rect">
            <a:avLst>
              <a:gd name="adj" fmla="val 22642"/>
            </a:avLst>
          </a:prstGeom>
          <a:solidFill>
            <a:srgbClr val="FFFFFF"/>
          </a:solidFill>
          <a:ln w="12700">
            <a:solidFill>
              <a:srgbClr val="FFFFFF"/>
            </a:solidFill>
            <a:prstDash val="solid"/>
          </a:ln>
        </p:spPr>
      </p:sp>
      <p:sp>
        <p:nvSpPr>
          <p:cNvPr id="13" name="Text 11">
            <a:hlinkClick r:id="rId2" tooltip=""/>
          </p:cNvPr>
          <p:cNvSpPr/>
          <p:nvPr/>
        </p:nvSpPr>
        <p:spPr>
          <a:xfrm>
            <a:off x="841248" y="3241548"/>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ARC Prize: o3-preview, 20 December 2024; costs repriced 10 December 2025</a:t>
            </a:r>
            <a:endParaRPr lang="en-US" sz="1450" dirty="0"/>
          </a:p>
        </p:txBody>
      </p:sp>
      <p:sp>
        <p:nvSpPr>
          <p:cNvPr id="14" name="Shape 12"/>
          <p:cNvSpPr/>
          <p:nvPr/>
        </p:nvSpPr>
        <p:spPr>
          <a:xfrm>
            <a:off x="713232" y="3785616"/>
            <a:ext cx="6364224" cy="484632"/>
          </a:xfrm>
          <a:prstGeom prst="rect">
            <a:avLst>
              <a:gd name="adj" fmla="val 22642"/>
            </a:avLst>
          </a:prstGeom>
          <a:solidFill>
            <a:srgbClr val="EDF3F7"/>
          </a:solidFill>
          <a:ln w="12700">
            <a:solidFill>
              <a:srgbClr val="EDF3F7"/>
            </a:solidFill>
            <a:prstDash val="solid"/>
          </a:ln>
        </p:spPr>
      </p:sp>
      <p:sp>
        <p:nvSpPr>
          <p:cNvPr id="15" name="Text 13">
            <a:hlinkClick r:id="rId3" tooltip=""/>
          </p:cNvPr>
          <p:cNvSpPr/>
          <p:nvPr/>
        </p:nvSpPr>
        <p:spPr>
          <a:xfrm>
            <a:off x="841248" y="3872484"/>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ARC Prize: ARC-AGI-2 launch, 24 March 2025</a:t>
            </a:r>
            <a:endParaRPr lang="en-US" sz="1450" dirty="0"/>
          </a:p>
        </p:txBody>
      </p:sp>
      <p:sp>
        <p:nvSpPr>
          <p:cNvPr id="16" name="Shape 14"/>
          <p:cNvSpPr/>
          <p:nvPr/>
        </p:nvSpPr>
        <p:spPr>
          <a:xfrm>
            <a:off x="713232" y="4416552"/>
            <a:ext cx="6364224" cy="484632"/>
          </a:xfrm>
          <a:prstGeom prst="rect">
            <a:avLst>
              <a:gd name="adj" fmla="val 22642"/>
            </a:avLst>
          </a:prstGeom>
          <a:solidFill>
            <a:srgbClr val="FFFFFF"/>
          </a:solidFill>
          <a:ln w="12700">
            <a:solidFill>
              <a:srgbClr val="FFFFFF"/>
            </a:solidFill>
            <a:prstDash val="solid"/>
          </a:ln>
        </p:spPr>
      </p:sp>
      <p:sp>
        <p:nvSpPr>
          <p:cNvPr id="17" name="Text 15">
            <a:hlinkClick r:id="rId4" tooltip=""/>
          </p:cNvPr>
          <p:cNvSpPr/>
          <p:nvPr/>
        </p:nvSpPr>
        <p:spPr>
          <a:xfrm>
            <a:off x="841248" y="4503420"/>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ARC Prize: ARC-AGI-3 launch, 25 March 2026</a:t>
            </a:r>
            <a:endParaRPr lang="en-US" sz="1450" dirty="0"/>
          </a:p>
        </p:txBody>
      </p:sp>
      <p:sp>
        <p:nvSpPr>
          <p:cNvPr id="18" name="Shape 16"/>
          <p:cNvSpPr/>
          <p:nvPr/>
        </p:nvSpPr>
        <p:spPr>
          <a:xfrm>
            <a:off x="713232" y="5047488"/>
            <a:ext cx="6364224" cy="484632"/>
          </a:xfrm>
          <a:prstGeom prst="rect">
            <a:avLst>
              <a:gd name="adj" fmla="val 22642"/>
            </a:avLst>
          </a:prstGeom>
          <a:solidFill>
            <a:srgbClr val="EDF3F7"/>
          </a:solidFill>
          <a:ln w="12700">
            <a:solidFill>
              <a:srgbClr val="EDF3F7"/>
            </a:solidFill>
            <a:prstDash val="solid"/>
          </a:ln>
        </p:spPr>
      </p:sp>
      <p:sp>
        <p:nvSpPr>
          <p:cNvPr id="19" name="Text 17">
            <a:hlinkClick r:id="rId5" tooltip=""/>
          </p:cNvPr>
          <p:cNvSpPr/>
          <p:nvPr/>
        </p:nvSpPr>
        <p:spPr>
          <a:xfrm>
            <a:off x="841248" y="5134356"/>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ARC Prize: GPT-6 Astra on ARC-AGI-3, 3 September 2026</a:t>
            </a:r>
            <a:endParaRPr lang="en-US" sz="1450" dirty="0"/>
          </a:p>
        </p:txBody>
      </p:sp>
      <p:sp>
        <p:nvSpPr>
          <p:cNvPr id="20" name="Shape 18"/>
          <p:cNvSpPr/>
          <p:nvPr/>
        </p:nvSpPr>
        <p:spPr>
          <a:xfrm>
            <a:off x="713232" y="5678424"/>
            <a:ext cx="6364224" cy="484632"/>
          </a:xfrm>
          <a:prstGeom prst="rect">
            <a:avLst>
              <a:gd name="adj" fmla="val 22642"/>
            </a:avLst>
          </a:prstGeom>
          <a:solidFill>
            <a:srgbClr val="FFFFFF"/>
          </a:solidFill>
          <a:ln w="12700">
            <a:solidFill>
              <a:srgbClr val="FFFFFF"/>
            </a:solidFill>
            <a:prstDash val="solid"/>
          </a:ln>
        </p:spPr>
      </p:sp>
      <p:sp>
        <p:nvSpPr>
          <p:cNvPr id="21" name="Text 19">
            <a:hlinkClick r:id="rId6" tooltip=""/>
          </p:cNvPr>
          <p:cNvSpPr/>
          <p:nvPr/>
        </p:nvSpPr>
        <p:spPr>
          <a:xfrm>
            <a:off x="841248" y="5765292"/>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François Chollet: post text supplied by Chris; X retrieval unavailable</a:t>
            </a:r>
            <a:endParaRPr lang="en-US" sz="1450" dirty="0"/>
          </a:p>
        </p:txBody>
      </p:sp>
      <p:sp>
        <p:nvSpPr>
          <p:cNvPr id="22" name="Text 20"/>
          <p:cNvSpPr/>
          <p:nvPr/>
        </p:nvSpPr>
        <p:spPr>
          <a:xfrm>
            <a:off x="7525512" y="1783080"/>
            <a:ext cx="6400800" cy="420624"/>
          </a:xfrm>
          <a:prstGeom prst="rect">
            <a:avLst/>
          </a:prstGeom>
          <a:noFill/>
          <a:ln/>
        </p:spPr>
        <p:txBody>
          <a:bodyPr wrap="square" lIns="0" tIns="0" rIns="0" bIns="0" rtlCol="0" anchor="ctr"/>
          <a:lstStyle/>
          <a:p>
            <a:pPr indent="0" marL="0">
              <a:buNone/>
            </a:pPr>
            <a:r>
              <a:rPr lang="en-US" sz="2600" b="1" dirty="0">
                <a:solidFill>
                  <a:srgbClr val="102B46"/>
                </a:solidFill>
                <a:latin typeface="Arial" pitchFamily="34" charset="0"/>
                <a:ea typeface="Arial" pitchFamily="34" charset="-122"/>
                <a:cs typeface="Arial" pitchFamily="34" charset="-120"/>
              </a:rPr>
              <a:t>Architecture and DWP evidence</a:t>
            </a:r>
            <a:endParaRPr lang="en-US" sz="2600" dirty="0"/>
          </a:p>
        </p:txBody>
      </p:sp>
      <p:sp>
        <p:nvSpPr>
          <p:cNvPr id="23" name="Shape 21"/>
          <p:cNvSpPr/>
          <p:nvPr/>
        </p:nvSpPr>
        <p:spPr>
          <a:xfrm>
            <a:off x="7525512" y="2523744"/>
            <a:ext cx="6364224" cy="484632"/>
          </a:xfrm>
          <a:prstGeom prst="rect">
            <a:avLst>
              <a:gd name="adj" fmla="val 22642"/>
            </a:avLst>
          </a:prstGeom>
          <a:solidFill>
            <a:srgbClr val="EDF3F7"/>
          </a:solidFill>
          <a:ln w="12700">
            <a:solidFill>
              <a:srgbClr val="EDF3F7"/>
            </a:solidFill>
            <a:prstDash val="solid"/>
          </a:ln>
        </p:spPr>
      </p:sp>
      <p:sp>
        <p:nvSpPr>
          <p:cNvPr id="24" name="Text 22">
            <a:hlinkClick r:id="rId7" tooltip=""/>
          </p:cNvPr>
          <p:cNvSpPr/>
          <p:nvPr/>
        </p:nvSpPr>
        <p:spPr>
          <a:xfrm>
            <a:off x="7653528" y="2610612"/>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Open Knowledge Format: official project README and v0.2 specification</a:t>
            </a:r>
            <a:endParaRPr lang="en-US" sz="1450" dirty="0"/>
          </a:p>
        </p:txBody>
      </p:sp>
      <p:sp>
        <p:nvSpPr>
          <p:cNvPr id="25" name="Shape 23"/>
          <p:cNvSpPr/>
          <p:nvPr/>
        </p:nvSpPr>
        <p:spPr>
          <a:xfrm>
            <a:off x="7525512" y="3154680"/>
            <a:ext cx="6364224" cy="484632"/>
          </a:xfrm>
          <a:prstGeom prst="rect">
            <a:avLst>
              <a:gd name="adj" fmla="val 22642"/>
            </a:avLst>
          </a:prstGeom>
          <a:solidFill>
            <a:srgbClr val="FFFFFF"/>
          </a:solidFill>
          <a:ln w="12700">
            <a:solidFill>
              <a:srgbClr val="FFFFFF"/>
            </a:solidFill>
            <a:prstDash val="solid"/>
          </a:ln>
        </p:spPr>
      </p:sp>
      <p:sp>
        <p:nvSpPr>
          <p:cNvPr id="26" name="Text 24">
            <a:hlinkClick r:id="rId8" tooltip=""/>
          </p:cNvPr>
          <p:cNvSpPr/>
          <p:nvPr/>
        </p:nvSpPr>
        <p:spPr>
          <a:xfrm>
            <a:off x="7653528" y="3241548"/>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MCP architecture overview, version 2026-07-28</a:t>
            </a:r>
            <a:endParaRPr lang="en-US" sz="1450" dirty="0"/>
          </a:p>
        </p:txBody>
      </p:sp>
      <p:sp>
        <p:nvSpPr>
          <p:cNvPr id="27" name="Shape 25"/>
          <p:cNvSpPr/>
          <p:nvPr/>
        </p:nvSpPr>
        <p:spPr>
          <a:xfrm>
            <a:off x="7525512" y="3785616"/>
            <a:ext cx="6364224" cy="484632"/>
          </a:xfrm>
          <a:prstGeom prst="rect">
            <a:avLst>
              <a:gd name="adj" fmla="val 22642"/>
            </a:avLst>
          </a:prstGeom>
          <a:solidFill>
            <a:srgbClr val="EDF3F7"/>
          </a:solidFill>
          <a:ln w="12700">
            <a:solidFill>
              <a:srgbClr val="EDF3F7"/>
            </a:solidFill>
            <a:prstDash val="solid"/>
          </a:ln>
        </p:spPr>
      </p:sp>
      <p:sp>
        <p:nvSpPr>
          <p:cNvPr id="28" name="Text 26">
            <a:hlinkClick r:id="rId9" tooltip=""/>
          </p:cNvPr>
          <p:cNvSpPr/>
          <p:nvPr/>
        </p:nvSpPr>
        <p:spPr>
          <a:xfrm>
            <a:off x="7653528" y="3872484"/>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WebMCP: Draft Community Group Report, 28 September 2026</a:t>
            </a:r>
            <a:endParaRPr lang="en-US" sz="1450" dirty="0"/>
          </a:p>
        </p:txBody>
      </p:sp>
      <p:sp>
        <p:nvSpPr>
          <p:cNvPr id="29" name="Shape 27"/>
          <p:cNvSpPr/>
          <p:nvPr/>
        </p:nvSpPr>
        <p:spPr>
          <a:xfrm>
            <a:off x="7525512" y="4416552"/>
            <a:ext cx="6364224" cy="484632"/>
          </a:xfrm>
          <a:prstGeom prst="rect">
            <a:avLst>
              <a:gd name="adj" fmla="val 22642"/>
            </a:avLst>
          </a:prstGeom>
          <a:solidFill>
            <a:srgbClr val="FFFFFF"/>
          </a:solidFill>
          <a:ln w="12700">
            <a:solidFill>
              <a:srgbClr val="FFFFFF"/>
            </a:solidFill>
            <a:prstDash val="solid"/>
          </a:ln>
        </p:spPr>
      </p:sp>
      <p:sp>
        <p:nvSpPr>
          <p:cNvPr id="30" name="Text 28">
            <a:hlinkClick r:id="rId10" tooltip=""/>
          </p:cNvPr>
          <p:cNvSpPr/>
          <p:nvPr/>
        </p:nvSpPr>
        <p:spPr>
          <a:xfrm>
            <a:off x="7653528" y="4503420"/>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Frozen DWP reading-help release record, 27 September 2026</a:t>
            </a:r>
            <a:endParaRPr lang="en-US" sz="1450" dirty="0"/>
          </a:p>
        </p:txBody>
      </p:sp>
      <p:sp>
        <p:nvSpPr>
          <p:cNvPr id="31" name="Shape 29"/>
          <p:cNvSpPr/>
          <p:nvPr/>
        </p:nvSpPr>
        <p:spPr>
          <a:xfrm>
            <a:off x="7525512" y="5047488"/>
            <a:ext cx="6364224" cy="484632"/>
          </a:xfrm>
          <a:prstGeom prst="rect">
            <a:avLst>
              <a:gd name="adj" fmla="val 22642"/>
            </a:avLst>
          </a:prstGeom>
          <a:solidFill>
            <a:srgbClr val="EDF3F7"/>
          </a:solidFill>
          <a:ln w="12700">
            <a:solidFill>
              <a:srgbClr val="EDF3F7"/>
            </a:solidFill>
            <a:prstDash val="solid"/>
          </a:ln>
        </p:spPr>
      </p:sp>
      <p:sp>
        <p:nvSpPr>
          <p:cNvPr id="32" name="Text 30">
            <a:hlinkClick r:id="rId11" tooltip=""/>
          </p:cNvPr>
          <p:cNvSpPr/>
          <p:nvPr/>
        </p:nvSpPr>
        <p:spPr>
          <a:xfrm>
            <a:off x="7653528" y="5134356"/>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Frozen UC out-of-sample follow-up and retained diagnostic</a:t>
            </a:r>
            <a:endParaRPr lang="en-US" sz="1450" dirty="0"/>
          </a:p>
        </p:txBody>
      </p:sp>
      <p:sp>
        <p:nvSpPr>
          <p:cNvPr id="33" name="Shape 31"/>
          <p:cNvSpPr/>
          <p:nvPr/>
        </p:nvSpPr>
        <p:spPr>
          <a:xfrm>
            <a:off x="7525512" y="5678424"/>
            <a:ext cx="6364224" cy="484632"/>
          </a:xfrm>
          <a:prstGeom prst="rect">
            <a:avLst>
              <a:gd name="adj" fmla="val 22642"/>
            </a:avLst>
          </a:prstGeom>
          <a:solidFill>
            <a:srgbClr val="FFFFFF"/>
          </a:solidFill>
          <a:ln w="12700">
            <a:solidFill>
              <a:srgbClr val="FFFFFF"/>
            </a:solidFill>
            <a:prstDash val="solid"/>
          </a:ln>
        </p:spPr>
      </p:sp>
      <p:sp>
        <p:nvSpPr>
          <p:cNvPr id="34" name="Text 32">
            <a:hlinkClick r:id="rId12" tooltip=""/>
          </p:cNvPr>
          <p:cNvSpPr/>
          <p:nvPr/>
        </p:nvSpPr>
        <p:spPr>
          <a:xfrm>
            <a:off x="7653528" y="5765292"/>
            <a:ext cx="6080760" cy="329184"/>
          </a:xfrm>
          <a:prstGeom prst="rect">
            <a:avLst/>
          </a:prstGeom>
          <a:noFill/>
          <a:ln/>
        </p:spPr>
        <p:txBody>
          <a:bodyPr wrap="square" lIns="0" tIns="0" rIns="0" bIns="0" rtlCol="0" anchor="ctr"/>
          <a:lstStyle/>
          <a:p>
            <a:pPr indent="0" marL="0">
              <a:buNone/>
            </a:pPr>
            <a:r>
              <a:rPr lang="en-US" sz="1450" u="sng" dirty="0">
                <a:solidFill>
                  <a:srgbClr val="145F96"/>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Frozen workbench handover, 24 September 2026</a:t>
            </a:r>
            <a:endParaRPr lang="en-US" sz="1450" dirty="0"/>
          </a:p>
        </p:txBody>
      </p:sp>
      <p:sp>
        <p:nvSpPr>
          <p:cNvPr id="35" name="Text 33"/>
          <p:cNvSpPr/>
          <p:nvPr/>
        </p:nvSpPr>
        <p:spPr>
          <a:xfrm>
            <a:off x="731520" y="6620256"/>
            <a:ext cx="13194792" cy="630936"/>
          </a:xfrm>
          <a:prstGeom prst="rect">
            <a:avLst/>
          </a:prstGeom>
          <a:noFill/>
          <a:ln/>
        </p:spPr>
        <p:txBody>
          <a:bodyPr wrap="square" lIns="0" tIns="0" rIns="0" bIns="0" rtlCol="0" anchor="ctr"/>
          <a:lstStyle/>
          <a:p>
            <a:pPr indent="0" marL="0">
              <a:buNone/>
            </a:pPr>
            <a:r>
              <a:rPr lang="en-US" sz="1800" dirty="0">
                <a:solidFill>
                  <a:srgbClr val="536777"/>
                </a:solidFill>
                <a:latin typeface="Arial" pitchFamily="34" charset="0"/>
                <a:ea typeface="Arial" pitchFamily="34" charset="-122"/>
                <a:cs typeface="Arial" pitchFamily="34" charset="-120"/>
              </a:rPr>
              <a:t>Deck sources: supplied screenshots and receipts; supplied architecture notes; targeted primary-source checks.</a:t>
            </a:r>
            <a:endParaRPr lang="en-US" sz="1800" dirty="0"/>
          </a:p>
          <a:p>
            <a:pPr indent="0" marL="0">
              <a:buNone/>
            </a:pPr>
            <a:r>
              <a:rPr lang="en-US" sz="1800" dirty="0">
                <a:solidFill>
                  <a:srgbClr val="536777"/>
                </a:solidFill>
                <a:latin typeface="Arial" pitchFamily="34" charset="0"/>
                <a:ea typeface="Arial" pitchFamily="34" charset="-122"/>
                <a:cs typeface="Arial" pitchFamily="34" charset="-120"/>
              </a:rPr>
              <a:t>Presenter details: explicitly supplied. Benchmark and specification checks: 29 September 2026.</a:t>
            </a:r>
            <a:endParaRPr lang="en-US" sz="1800" dirty="0"/>
          </a:p>
        </p:txBody>
      </p:sp>
      <p:sp>
        <p:nvSpPr>
          <p:cNvPr id="36" name="Text 34"/>
          <p:cNvSpPr/>
          <p:nvPr/>
        </p:nvSpPr>
        <p:spPr>
          <a:xfrm>
            <a:off x="640080" y="7443216"/>
            <a:ext cx="13304520" cy="228600"/>
          </a:xfrm>
          <a:prstGeom prst="rect">
            <a:avLst/>
          </a:prstGeom>
          <a:noFill/>
          <a:ln/>
        </p:spPr>
        <p:txBody>
          <a:bodyPr wrap="square" lIns="0" tIns="0" rIns="0" bIns="0" rtlCol="0" anchor="ctr"/>
          <a:lstStyle/>
          <a:p>
            <a:pPr indent="0" marL="0">
              <a:buNone/>
            </a:pPr>
            <a:r>
              <a:rPr lang="en-US" sz="1050" dirty="0">
                <a:solidFill>
                  <a:srgbClr val="536777"/>
                </a:solidFill>
                <a:latin typeface="Arial" pitchFamily="34" charset="0"/>
                <a:ea typeface="Arial" pitchFamily="34" charset="-122"/>
                <a:cs typeface="Arial" pitchFamily="34" charset="-120"/>
              </a:rPr>
              <a:t>The full source/capture references, limitations and narration are also in PowerPoint speaker notes.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Independent experimental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Horizon Scanning to Horizon Walking</dc:title>
  <dc:subject>Public-source DWP knowledge and inspectable AI demonstrations</dc:subject>
  <dc:creator>Nick Briggs and Chris Page</dc:creator>
  <cp:lastModifiedBy>Nick Briggs and Chris Page</cp:lastModifiedBy>
  <cp:revision>1</cp:revision>
  <dcterms:created xsi:type="dcterms:W3CDTF">2026-09-29T08:36:29Z</dcterms:created>
  <dcterms:modified xsi:type="dcterms:W3CDTF">2026-09-29T08:36:29Z</dcterms:modified>
</cp:coreProperties>
</file>